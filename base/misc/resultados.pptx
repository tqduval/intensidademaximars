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3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340124" d="6488165"/>
          <a:sy n="0" d="6750318"/>
        </p:scale>
        <p:origin x="6029381" y="3342387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 /><Relationship Id="rId35" Type="http://schemas.openxmlformats.org/officeDocument/2006/relationships/tableStyles" Target="tableStyles.xml" /><Relationship Id="rId3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828507" name="PlaceHolder 1"/>
          <p:cNvSpPr>
            <a:spLocks noGrp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  <a:defRPr/>
            </a:pPr>
            <a:r>
              <a:rPr lang="pt-BR" sz="6000" b="0" u="none" strike="noStrike">
                <a:solidFill>
                  <a:schemeClr val="dk1"/>
                </a:solidFill>
                <a:latin typeface="Arial"/>
              </a:rPr>
              <a:t>Clique para mover o slide</a:t>
            </a:r>
            <a:endParaRPr lang="pt-BR" sz="6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65693597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r>
              <a:rPr lang="pt-BR" sz="2000" b="0" u="none" strike="noStrike">
                <a:solidFill>
                  <a:srgbClr val="000000"/>
                </a:solidFill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2141407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766273" name="PlaceHolder 4"/>
          <p:cNvSpPr>
            <a:spLocks noGrp="1"/>
          </p:cNvSpPr>
          <p:nvPr>
            <p:ph type="dt" idx="34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3913558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516416" name="PlaceHolder 6"/>
          <p:cNvSpPr>
            <a:spLocks noGrp="1"/>
          </p:cNvSpPr>
          <p:nvPr>
            <p:ph type="sldNum" idx="36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004777B0-DAC2-411D-ADFD-808D198D1209}" type="slidenum"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340772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53477410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7666459" name="PlaceHolder 3"/>
          <p:cNvSpPr>
            <a:spLocks noGrp="1"/>
          </p:cNvSpPr>
          <p:nvPr>
            <p:ph type="sldNum" idx="37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CAC8895-A497-4113-AA15-4A3EE2E537AD}" type="slidenum">
              <a:rPr lang="pt-BR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595967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33499437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560242" name="PlaceHolder 3"/>
          <p:cNvSpPr>
            <a:spLocks noGrp="1"/>
          </p:cNvSpPr>
          <p:nvPr>
            <p:ph type="sldNum" idx="3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  <a:defRPr/>
            </a:pPr>
            <a:endParaRPr lang="pt-BR" sz="1200" b="0" u="none" strike="noStrike">
              <a:solidFill>
                <a:schemeClr val="dk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992689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33084117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66330" name="PlaceHolder 3"/>
          <p:cNvSpPr>
            <a:spLocks noGrp="1"/>
          </p:cNvSpPr>
          <p:nvPr>
            <p:ph type="sldNum" idx="39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  <a:defRPr/>
            </a:pPr>
            <a:endParaRPr lang="pt-BR" sz="1200" b="0" u="none" strike="noStrike">
              <a:solidFill>
                <a:schemeClr val="dk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667877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38037416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566320" name="PlaceHolder 3"/>
          <p:cNvSpPr>
            <a:spLocks noGrp="1"/>
          </p:cNvSpPr>
          <p:nvPr>
            <p:ph type="sldNum" idx="40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  <a:defRPr/>
            </a:pPr>
            <a:endParaRPr lang="pt-BR" sz="1200" b="0" u="none" strike="noStrike">
              <a:solidFill>
                <a:schemeClr val="dk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101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255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2406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7F03B5-DAF6-903B-ED1F-8FAA077F3E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9229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47433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90914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821983-05AB-F7C6-EF69-69EFE3F9CF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1458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0176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3033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18051D-DC67-F740-534A-27A3C64BF1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864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47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1300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2A5A16-74AB-7808-36CA-922CADF165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097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4297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2607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2411F9-A4A4-FC81-673B-AA4CD8679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5354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830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7187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5B7E21-7D7D-DF90-DBA7-73257D5450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767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6749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964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B35431-DB28-6382-7A44-7A2D7C523D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6043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6627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883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34738E-1728-D436-A257-8C78F7D225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76537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77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688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8543F0-E80D-CF50-8DD8-4594DC4F0C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4775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727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3406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D9171-18E3-9597-6761-CD17260A05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8306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83069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6298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B492FB-7BD6-7466-6903-CD9B020B3F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5234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85303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317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31363-2D82-92D4-6F2F-5F272EF4BB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8033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12091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122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53960D-ACA6-7C91-0E24-3DD3B74950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8557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04610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736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2C0126-AB3E-7592-621A-F5F0454FBB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4120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232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138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FF8A8E-0608-8A47-CF11-6D21ABD607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1508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0848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0974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352293-2CBB-1AB7-7BD1-421F5D1095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6305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2077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682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C14268-5834-893B-EEAD-4A6A8F1C6F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901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14767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882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5C6A7-AEE4-C883-DEA2-3985C4FA823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0645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2297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434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28A1A-06DE-D90A-6AB7-A7F4A988CF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128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0756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205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1412C6-3AAC-34CF-202E-B672962C36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871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70556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1892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63647-9644-0FAC-9977-382BB8E305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9218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4095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5203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1EFB8-B963-84AB-4FA5-0016C421E1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378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38466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1577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C57FE-D631-F44B-B512-9D8E480972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3220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43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951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D8B812-CF72-AF19-5617-510E4861DC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3928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94093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639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B5D03B-D9AF-6643-933A-C65E7C228A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o de títul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163890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defRPr/>
            </a:pPr>
            <a:r>
              <a:rPr lang="pt-BR" sz="60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 estilo</a:t>
            </a:r>
            <a:endParaRPr lang="pt-BR" sz="6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55050423" name="PlaceHolder 2"/>
          <p:cNvSpPr>
            <a:spLocks noGrp="1"/>
          </p:cNvSpPr>
          <p:nvPr>
            <p:ph type="dt" idx="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430516" name="PlaceHolder 3"/>
          <p:cNvSpPr>
            <a:spLocks noGrp="1"/>
          </p:cNvSpPr>
          <p:nvPr>
            <p:ph type="ftr" idx="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2773881" name="PlaceHolder 4"/>
          <p:cNvSpPr>
            <a:spLocks noGrp="1"/>
          </p:cNvSpPr>
          <p:nvPr>
            <p:ph type="sldNum" idx="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52D9B73-794C-4426-A138-B5AB627A546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9072193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2400" b="0" u="none" strike="noStrike">
                <a:solidFill>
                  <a:schemeClr val="dk1"/>
                </a:solidFill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000" b="0" u="none" strike="noStrike">
                <a:solidFill>
                  <a:schemeClr val="dk1"/>
                </a:solidFill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1800" b="0" u="none" strike="noStrike">
                <a:solidFill>
                  <a:schemeClr val="dk1"/>
                </a:solidFill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1800" b="0" u="none" strike="noStrike">
                <a:solidFill>
                  <a:schemeClr val="dk1"/>
                </a:solidFill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000" b="0" u="none" strike="noStrike">
                <a:solidFill>
                  <a:schemeClr val="dk1"/>
                </a:solidFill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000" b="0" u="none" strike="noStrike">
                <a:solidFill>
                  <a:schemeClr val="dk1"/>
                </a:solidFill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Arial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</a:rPr>
              <a:t>4.º nível de tópicos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</a:rPr>
              <a:t>5.º nível de tópicos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e texto vertical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887296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 estilo</a:t>
            </a:r>
            <a:endParaRPr lang="pt-BR" sz="4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82957679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latin typeface="Arial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2800" b="0" u="none" strike="noStrike">
              <a:solidFill>
                <a:schemeClr val="dk1"/>
              </a:solidFill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Arial"/>
                <a:ea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  <a:ea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80587878" name="PlaceHolder 3"/>
          <p:cNvSpPr>
            <a:spLocks noGrp="1"/>
          </p:cNvSpPr>
          <p:nvPr>
            <p:ph type="dt" idx="4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3387211" name="PlaceHolder 4"/>
          <p:cNvSpPr>
            <a:spLocks noGrp="1"/>
          </p:cNvSpPr>
          <p:nvPr>
            <p:ph type="ftr" idx="5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9803048" name="PlaceHolder 5"/>
          <p:cNvSpPr>
            <a:spLocks noGrp="1"/>
          </p:cNvSpPr>
          <p:nvPr>
            <p:ph type="sldNum" idx="6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4A6E6AD-6A23-4A00-9862-7005AF7FFA8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ítulo vertical e text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726924" name="PlaceHolder 1"/>
          <p:cNvSpPr>
            <a:spLocks noGrp="1"/>
          </p:cNvSpPr>
          <p:nvPr>
            <p:ph type="title"/>
          </p:nvPr>
        </p:nvSpPr>
        <p:spPr bwMode="auto"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 estilo</a:t>
            </a:r>
            <a:endParaRPr lang="pt-BR" sz="4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1851730" name="PlaceHolder 2"/>
          <p:cNvSpPr>
            <a:spLocks noGrp="1"/>
          </p:cNvSpPr>
          <p:nvPr>
            <p:ph type="body"/>
          </p:nvPr>
        </p:nvSpPr>
        <p:spPr bwMode="auto"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latin typeface="Arial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2800" b="0" u="none" strike="noStrike">
              <a:solidFill>
                <a:schemeClr val="dk1"/>
              </a:solidFill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Arial"/>
                <a:ea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  <a:ea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39304510" name="PlaceHolder 3"/>
          <p:cNvSpPr>
            <a:spLocks noGrp="1"/>
          </p:cNvSpPr>
          <p:nvPr>
            <p:ph type="dt" idx="7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7060412" name="PlaceHolder 4"/>
          <p:cNvSpPr>
            <a:spLocks noGrp="1"/>
          </p:cNvSpPr>
          <p:nvPr>
            <p:ph type="ftr" idx="8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434526" name="PlaceHolder 5"/>
          <p:cNvSpPr>
            <a:spLocks noGrp="1"/>
          </p:cNvSpPr>
          <p:nvPr>
            <p:ph type="sldNum" idx="9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F0776A56-DD25-490D-9483-2C3F2B59FA2D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e object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138450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Arial"/>
                <a:ea typeface="Arial"/>
              </a:rPr>
              <a:t>Cliqasdasdue para editar o estilo</a:t>
            </a:r>
            <a:endParaRPr lang="pt-BR" sz="4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40045755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latin typeface="Arial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2800" b="0" u="none" strike="noStrike">
              <a:solidFill>
                <a:schemeClr val="dk1"/>
              </a:solidFill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Arial"/>
                <a:ea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  <a:ea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34752891" name="PlaceHolder 3"/>
          <p:cNvSpPr>
            <a:spLocks noGrp="1"/>
          </p:cNvSpPr>
          <p:nvPr>
            <p:ph type="dt" idx="10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5048689" name="PlaceHolder 4"/>
          <p:cNvSpPr>
            <a:spLocks noGrp="1"/>
          </p:cNvSpPr>
          <p:nvPr>
            <p:ph type="ftr" idx="11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6773007" name="PlaceHolder 5"/>
          <p:cNvSpPr>
            <a:spLocks noGrp="1"/>
          </p:cNvSpPr>
          <p:nvPr>
            <p:ph type="sldNum" idx="12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E901782-9E46-4ABF-B691-3FAB25E6530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abeçalho da Secçã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359045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defRPr/>
            </a:pPr>
            <a:r>
              <a:rPr lang="pt-BR" sz="60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 estilo</a:t>
            </a:r>
            <a:endParaRPr lang="pt-BR" sz="6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7465643" name="PlaceHolder 2"/>
          <p:cNvSpPr>
            <a:spLocks noGrp="1"/>
          </p:cNvSpPr>
          <p:nvPr>
            <p:ph type="body"/>
          </p:nvPr>
        </p:nvSpPr>
        <p:spPr bwMode="auto">
          <a:xfrm>
            <a:off x="831960" y="4589640"/>
            <a:ext cx="10515240" cy="149975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24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Clique para editar os estilos</a:t>
            </a:r>
            <a:endParaRPr lang="pt-BR" sz="2400" b="0" u="none" strike="noStrike">
              <a:solidFill>
                <a:schemeClr val="dk1">
                  <a:tint val="75000"/>
                </a:schemeClr>
              </a:solidFill>
              <a:latin typeface="Arial"/>
            </a:endParaRPr>
          </a:p>
        </p:txBody>
      </p:sp>
      <p:sp>
        <p:nvSpPr>
          <p:cNvPr id="1866999254" name="PlaceHolder 3"/>
          <p:cNvSpPr>
            <a:spLocks noGrp="1"/>
          </p:cNvSpPr>
          <p:nvPr>
            <p:ph type="dt" idx="13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2338395" name="PlaceHolder 4"/>
          <p:cNvSpPr>
            <a:spLocks noGrp="1"/>
          </p:cNvSpPr>
          <p:nvPr>
            <p:ph type="ftr" idx="14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426783" name="PlaceHolder 5"/>
          <p:cNvSpPr>
            <a:spLocks noGrp="1"/>
          </p:cNvSpPr>
          <p:nvPr>
            <p:ph type="sldNum" idx="15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07638DD0-3A94-4F33-BC1D-A0D228190074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Conteúdo Dupl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31239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 estilo</a:t>
            </a:r>
            <a:endParaRPr lang="pt-BR" sz="4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60430302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latin typeface="Arial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2800" b="0" u="none" strike="noStrike">
              <a:solidFill>
                <a:schemeClr val="dk1"/>
              </a:solidFill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Arial"/>
                <a:ea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  <a:ea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98098334" name="PlaceHolder 3"/>
          <p:cNvSpPr>
            <a:spLocks noGrp="1"/>
          </p:cNvSpPr>
          <p:nvPr>
            <p:ph type="body"/>
          </p:nvPr>
        </p:nvSpPr>
        <p:spPr bwMode="auto"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latin typeface="Arial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2800" b="0" u="none" strike="noStrike">
              <a:solidFill>
                <a:schemeClr val="dk1"/>
              </a:solidFill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Arial"/>
                <a:ea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  <a:ea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56880809" name="PlaceHolder 4"/>
          <p:cNvSpPr>
            <a:spLocks noGrp="1"/>
          </p:cNvSpPr>
          <p:nvPr>
            <p:ph type="dt" idx="16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0742696" name="PlaceHolder 5"/>
          <p:cNvSpPr>
            <a:spLocks noGrp="1"/>
          </p:cNvSpPr>
          <p:nvPr>
            <p:ph type="ftr" idx="17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465390" name="PlaceHolder 6"/>
          <p:cNvSpPr>
            <a:spLocks noGrp="1"/>
          </p:cNvSpPr>
          <p:nvPr>
            <p:ph type="sldNum" idx="18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E7F597EC-3617-438D-B5DB-3A111EB6203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mparaçã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302758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 estilo</a:t>
            </a:r>
            <a:endParaRPr lang="pt-BR" sz="4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83668404" name="PlaceHolder 2"/>
          <p:cNvSpPr>
            <a:spLocks noGrp="1"/>
          </p:cNvSpPr>
          <p:nvPr>
            <p:ph type="body"/>
          </p:nvPr>
        </p:nvSpPr>
        <p:spPr bwMode="auto">
          <a:xfrm>
            <a:off x="839879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2400" b="1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39670380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latin typeface="Arial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2800" b="0" u="none" strike="noStrike">
              <a:solidFill>
                <a:schemeClr val="dk1"/>
              </a:solidFill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Arial"/>
                <a:ea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  <a:ea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54703051" name="PlaceHolder 4"/>
          <p:cNvSpPr>
            <a:spLocks noGrp="1"/>
          </p:cNvSpPr>
          <p:nvPr>
            <p:ph type="body"/>
          </p:nvPr>
        </p:nvSpPr>
        <p:spPr bwMode="auto"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2400" b="1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4779082" name="PlaceHolder 5"/>
          <p:cNvSpPr>
            <a:spLocks noGrp="1"/>
          </p:cNvSpPr>
          <p:nvPr>
            <p:ph type="body"/>
          </p:nvPr>
        </p:nvSpPr>
        <p:spPr bwMode="auto"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latin typeface="Arial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2800" b="0" u="none" strike="noStrike">
              <a:solidFill>
                <a:schemeClr val="dk1"/>
              </a:solidFill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Arial"/>
                <a:ea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  <a:ea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98082479" name="PlaceHolder 6"/>
          <p:cNvSpPr>
            <a:spLocks noGrp="1"/>
          </p:cNvSpPr>
          <p:nvPr>
            <p:ph type="dt" idx="19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297352" name="PlaceHolder 7"/>
          <p:cNvSpPr>
            <a:spLocks noGrp="1"/>
          </p:cNvSpPr>
          <p:nvPr>
            <p:ph type="ftr" idx="20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3452456" name="PlaceHolder 8"/>
          <p:cNvSpPr>
            <a:spLocks noGrp="1"/>
          </p:cNvSpPr>
          <p:nvPr>
            <p:ph type="sldNum" idx="21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1A7DDD8-99CC-494B-89CD-657EB54FAB46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ó títul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07831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 estilo</a:t>
            </a:r>
            <a:endParaRPr lang="pt-BR" sz="4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6996334" name="PlaceHolder 2"/>
          <p:cNvSpPr>
            <a:spLocks noGrp="1"/>
          </p:cNvSpPr>
          <p:nvPr>
            <p:ph type="dt" idx="22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334209" name="PlaceHolder 3"/>
          <p:cNvSpPr>
            <a:spLocks noGrp="1"/>
          </p:cNvSpPr>
          <p:nvPr>
            <p:ph type="ftr" idx="23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2102354" name="PlaceHolder 4"/>
          <p:cNvSpPr>
            <a:spLocks noGrp="1"/>
          </p:cNvSpPr>
          <p:nvPr>
            <p:ph type="sldNum" idx="24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5BBE4307-3055-4912-9177-EA7E3C69B32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m branc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59207" name="PlaceHolder 1"/>
          <p:cNvSpPr>
            <a:spLocks noGrp="1"/>
          </p:cNvSpPr>
          <p:nvPr>
            <p:ph type="dt" idx="25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2408999" name="PlaceHolder 2"/>
          <p:cNvSpPr>
            <a:spLocks noGrp="1"/>
          </p:cNvSpPr>
          <p:nvPr>
            <p:ph type="ftr" idx="26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740777" name="PlaceHolder 3"/>
          <p:cNvSpPr>
            <a:spLocks noGrp="1"/>
          </p:cNvSpPr>
          <p:nvPr>
            <p:ph type="sldNum" idx="27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F9646893-D917-4210-8256-4E51AB9AF3A8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nteúdo com Legenda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690518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76956934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latin typeface="Arial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latin typeface="Arial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latin typeface="Arial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3200" b="0" u="none" strike="noStrike">
              <a:solidFill>
                <a:schemeClr val="dk1"/>
              </a:solidFill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Arial"/>
                <a:ea typeface="Arial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Arial"/>
                <a:ea typeface="Arial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  <a:ea typeface="Arial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  <a:ea typeface="Arial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98624130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16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16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11422586" name="PlaceHolder 4"/>
          <p:cNvSpPr>
            <a:spLocks noGrp="1"/>
          </p:cNvSpPr>
          <p:nvPr>
            <p:ph type="dt" idx="28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6220758" name="PlaceHolder 5"/>
          <p:cNvSpPr>
            <a:spLocks noGrp="1"/>
          </p:cNvSpPr>
          <p:nvPr>
            <p:ph type="ftr" idx="29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9659404" name="PlaceHolder 6"/>
          <p:cNvSpPr>
            <a:spLocks noGrp="1"/>
          </p:cNvSpPr>
          <p:nvPr>
            <p:ph type="sldNum" idx="30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D246CB51-DBFB-4016-9ABF-976A861A7A24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Imagem com Legenda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3525711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 estilo</a:t>
            </a:r>
            <a:endParaRPr lang="pt-BR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71410694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Arial"/>
                <a:ea typeface="Arial"/>
              </a:rPr>
              <a:t>Clique no ícone para adicionar imagem</a:t>
            </a:r>
            <a:endParaRPr lang="pt-BR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67622300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16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16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28934000" name="PlaceHolder 4"/>
          <p:cNvSpPr>
            <a:spLocks noGrp="1"/>
          </p:cNvSpPr>
          <p:nvPr>
            <p:ph type="dt" idx="3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7889364" name="PlaceHolder 5"/>
          <p:cNvSpPr>
            <a:spLocks noGrp="1"/>
          </p:cNvSpPr>
          <p:nvPr>
            <p:ph type="ftr" idx="3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9649814" name="PlaceHolder 6"/>
          <p:cNvSpPr>
            <a:spLocks noGrp="1"/>
          </p:cNvSpPr>
          <p:nvPr>
            <p:ph type="sldNum" idx="3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ABC76D8-5264-4616-BFC1-67054919A427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6.png"/><Relationship Id="rId4" Type="http://schemas.openxmlformats.org/officeDocument/2006/relationships/image" Target="../media/image67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2867951" name=""/>
          <p:cNvPicPr/>
          <p:nvPr/>
        </p:nvPicPr>
        <p:blipFill rotWithShape="1">
          <a:blip r:embed="rId3"/>
          <a:stretch/>
        </p:blipFill>
        <p:spPr bwMode="auto">
          <a:xfrm>
            <a:off x="14760" y="0"/>
            <a:ext cx="46746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1932800" name=""/>
          <p:cNvSpPr/>
          <p:nvPr/>
        </p:nvSpPr>
        <p:spPr bwMode="auto">
          <a:xfrm>
            <a:off x="3559320" y="52560"/>
            <a:ext cx="1111680" cy="7016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060706" name=""/>
          <p:cNvSpPr/>
          <p:nvPr/>
        </p:nvSpPr>
        <p:spPr bwMode="auto">
          <a:xfrm>
            <a:off x="3559320" y="754560"/>
            <a:ext cx="1111680" cy="7016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48776" name=""/>
          <p:cNvSpPr/>
          <p:nvPr/>
        </p:nvSpPr>
        <p:spPr bwMode="auto">
          <a:xfrm>
            <a:off x="2446920" y="754560"/>
            <a:ext cx="1111680" cy="7016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741190" name=""/>
          <p:cNvSpPr/>
          <p:nvPr/>
        </p:nvSpPr>
        <p:spPr bwMode="auto">
          <a:xfrm>
            <a:off x="3559320" y="2175120"/>
            <a:ext cx="1111680" cy="7016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506794" name=""/>
          <p:cNvSpPr/>
          <p:nvPr/>
        </p:nvSpPr>
        <p:spPr bwMode="auto">
          <a:xfrm>
            <a:off x="3559320" y="2877120"/>
            <a:ext cx="1111680" cy="7016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1866186" name=""/>
          <p:cNvSpPr/>
          <p:nvPr/>
        </p:nvSpPr>
        <p:spPr bwMode="auto">
          <a:xfrm>
            <a:off x="1334880" y="4287960"/>
            <a:ext cx="1111680" cy="7016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6453473" name=""/>
          <p:cNvSpPr/>
          <p:nvPr/>
        </p:nvSpPr>
        <p:spPr bwMode="auto">
          <a:xfrm>
            <a:off x="5081760" y="259560"/>
            <a:ext cx="6864480" cy="13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pt-BR" sz="1400" b="1" u="none" strike="noStrike">
                <a:solidFill>
                  <a:schemeClr val="dk1"/>
                </a:solidFill>
                <a:latin typeface="Consolas"/>
                <a:ea typeface="Consolas"/>
              </a:rPr>
              <a:t>d-GEV</a:t>
            </a:r>
            <a:r>
              <a:rPr lang="pt-BR" sz="1400" b="0" u="none" strike="noStrike">
                <a:solidFill>
                  <a:schemeClr val="dk1"/>
                </a:solidFill>
                <a:latin typeface="Consolas"/>
                <a:ea typeface="Consolas"/>
              </a:rPr>
              <a:t> (Koutsoyiannis et al. 1998 + Ulrich et al. 2020):</a:t>
            </a:r>
            <a:endParaRPr lang="pt-BR" sz="1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pt-BR" sz="1400" b="0" u="none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pt-BR" sz="1400" b="1" u="none" strike="noStrike">
                <a:solidFill>
                  <a:schemeClr val="dk1"/>
                </a:solidFill>
                <a:latin typeface="Consolas"/>
                <a:ea typeface="Consolas"/>
              </a:rPr>
              <a:t>Posição </a:t>
            </a:r>
            <a:r>
              <a:rPr lang="pt-BR" sz="1400" b="0" u="none" strike="noStrike">
                <a:solidFill>
                  <a:schemeClr val="dk1"/>
                </a:solidFill>
                <a:latin typeface="Consolas"/>
                <a:ea typeface="Consolas"/>
              </a:rPr>
              <a:t>e </a:t>
            </a:r>
            <a:r>
              <a:rPr lang="pt-BR" sz="1400" b="1" u="none" strike="noStrike">
                <a:solidFill>
                  <a:schemeClr val="dk1"/>
                </a:solidFill>
                <a:latin typeface="Consolas"/>
                <a:ea typeface="Consolas"/>
              </a:rPr>
              <a:t>escala</a:t>
            </a:r>
            <a:r>
              <a:rPr lang="pt-BR" sz="1400" b="0" u="none" strike="noStrike">
                <a:solidFill>
                  <a:schemeClr val="dk1"/>
                </a:solidFill>
                <a:latin typeface="Consolas"/>
                <a:ea typeface="Consolas"/>
              </a:rPr>
              <a:t>: invariância de escala simples</a:t>
            </a:r>
            <a:endParaRPr lang="pt-BR" sz="1400" b="0" u="none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pt-BR" sz="1400" b="1" u="none" strike="noStrike">
                <a:solidFill>
                  <a:schemeClr val="dk1"/>
                </a:solidFill>
                <a:latin typeface="Consolas"/>
                <a:ea typeface="Consolas"/>
              </a:rPr>
              <a:t>Forma</a:t>
            </a:r>
            <a:r>
              <a:rPr lang="pt-BR" sz="1400" b="0" u="none" strike="noStrike">
                <a:solidFill>
                  <a:schemeClr val="dk1"/>
                </a:solidFill>
                <a:latin typeface="Consolas"/>
                <a:ea typeface="Consolas"/>
              </a:rPr>
              <a:t>: constante ao longo das durações (1—24 h, mais informação)</a:t>
            </a:r>
            <a:endParaRPr lang="pt-BR" sz="1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pt-BR" sz="1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pt-BR" sz="1400" b="0" u="none" strike="noStrike">
                <a:solidFill>
                  <a:schemeClr val="dk1"/>
                </a:solidFill>
                <a:latin typeface="Consolas"/>
                <a:ea typeface="Consolas"/>
              </a:rPr>
              <a:t>Alguns postos: extremos não capturados pela cauda ajustada (1 h).</a:t>
            </a:r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801151" name=""/>
          <p:cNvSpPr/>
          <p:nvPr/>
        </p:nvSpPr>
        <p:spPr bwMode="auto">
          <a:xfrm>
            <a:off x="5081760" y="6182640"/>
            <a:ext cx="68565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pt-BR" sz="1400" b="0" u="none" strike="noStrike">
                <a:solidFill>
                  <a:schemeClr val="dk1"/>
                </a:solidFill>
                <a:latin typeface="Consolas"/>
                <a:ea typeface="Consolas"/>
              </a:rPr>
              <a:t>κ</a:t>
            </a:r>
            <a:r>
              <a:rPr lang="pt-BR" sz="1400" b="0" u="none" strike="noStrike" baseline="-25000">
                <a:solidFill>
                  <a:schemeClr val="dk1"/>
                </a:solidFill>
                <a:latin typeface="Consolas"/>
                <a:ea typeface="Consolas"/>
              </a:rPr>
              <a:t>d</a:t>
            </a:r>
            <a:r>
              <a:rPr lang="pt-BR" sz="1400" b="0" u="none" strike="noStrike">
                <a:solidFill>
                  <a:schemeClr val="dk1"/>
                </a:solidFill>
                <a:latin typeface="Consolas"/>
                <a:ea typeface="Consolas"/>
              </a:rPr>
              <a:t> = κ é razoável?</a:t>
            </a:r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8230364" name=""/>
          <p:cNvPicPr/>
          <p:nvPr/>
        </p:nvPicPr>
        <p:blipFill rotWithShape="1">
          <a:blip r:embed="rId3"/>
          <a:stretch/>
        </p:blipFill>
        <p:spPr bwMode="auto">
          <a:xfrm>
            <a:off x="5092920" y="677520"/>
            <a:ext cx="6506640" cy="5205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2266953" name=""/>
          <p:cNvPicPr/>
          <p:nvPr/>
        </p:nvPicPr>
        <p:blipFill rotWithShape="1">
          <a:blip r:embed="rId3"/>
          <a:stretch/>
        </p:blipFill>
        <p:spPr bwMode="auto">
          <a:xfrm>
            <a:off x="781920" y="1641240"/>
            <a:ext cx="5476680" cy="421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8458650" name=""/>
          <p:cNvSpPr/>
          <p:nvPr/>
        </p:nvSpPr>
        <p:spPr bwMode="auto">
          <a:xfrm>
            <a:off x="1112760" y="1190520"/>
            <a:ext cx="409356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wrap="none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pt-BR" sz="1600" b="0" u="none" strike="noStrike">
                <a:solidFill>
                  <a:schemeClr val="dk1"/>
                </a:solidFill>
                <a:latin typeface="Consolas"/>
                <a:ea typeface="Consolas"/>
              </a:rPr>
              <a:t>A812; d = 20 h; 12 anos; sem priori</a:t>
            </a:r>
            <a:endParaRPr lang="pt-BR" sz="16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171776" name=""/>
          <p:cNvPicPr/>
          <p:nvPr/>
        </p:nvPicPr>
        <p:blipFill rotWithShape="1">
          <a:blip r:embed="rId4"/>
          <a:stretch/>
        </p:blipFill>
        <p:spPr bwMode="auto">
          <a:xfrm>
            <a:off x="6258600" y="1641240"/>
            <a:ext cx="5475240" cy="421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8651870" name=""/>
          <p:cNvSpPr/>
          <p:nvPr/>
        </p:nvSpPr>
        <p:spPr bwMode="auto">
          <a:xfrm>
            <a:off x="6609600" y="1190520"/>
            <a:ext cx="409356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wrap="none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pt-BR" sz="1600" b="0" u="none" strike="noStrike">
                <a:solidFill>
                  <a:schemeClr val="dk1"/>
                </a:solidFill>
                <a:latin typeface="Consolas"/>
                <a:ea typeface="Consolas"/>
              </a:rPr>
              <a:t>A801; d = 20 h; 18 anos; sem priori</a:t>
            </a:r>
            <a:endParaRPr lang="pt-BR" sz="1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0596634" name=""/>
          <p:cNvSpPr/>
          <p:nvPr/>
        </p:nvSpPr>
        <p:spPr bwMode="auto">
          <a:xfrm>
            <a:off x="1112760" y="824400"/>
            <a:ext cx="655128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wrap="none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pt-BR" sz="1600" b="0" u="none" strike="noStrike">
                <a:solidFill>
                  <a:schemeClr val="dk1"/>
                </a:solidFill>
                <a:latin typeface="Consolas"/>
                <a:ea typeface="Consolas"/>
              </a:rPr>
              <a:t>Instabilidades em durações maiores (pouca variabilidade?)</a:t>
            </a:r>
            <a:endParaRPr lang="pt-BR" sz="16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1729598" name=""/>
          <p:cNvPicPr/>
          <p:nvPr/>
        </p:nvPicPr>
        <p:blipFill rotWithShape="1">
          <a:blip r:embed="rId3"/>
          <a:stretch/>
        </p:blipFill>
        <p:spPr bwMode="auto">
          <a:xfrm>
            <a:off x="6226560" y="1830240"/>
            <a:ext cx="5270400" cy="356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9169984" name=""/>
          <p:cNvPicPr/>
          <p:nvPr/>
        </p:nvPicPr>
        <p:blipFill rotWithShape="1">
          <a:blip r:embed="rId4"/>
          <a:stretch/>
        </p:blipFill>
        <p:spPr bwMode="auto">
          <a:xfrm>
            <a:off x="336960" y="1830240"/>
            <a:ext cx="5270400" cy="3563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911570" name=""/>
          <p:cNvSpPr txBox="1"/>
          <p:nvPr/>
        </p:nvSpPr>
        <p:spPr bwMode="auto">
          <a:xfrm>
            <a:off x="135360" y="121680"/>
            <a:ext cx="5012640" cy="6022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pPr>
              <a:defRPr/>
            </a:pPr>
            <a:r>
              <a:rPr lang="pt-BR" sz="1800" b="0" u="none" strike="noStrike">
                <a:solidFill>
                  <a:srgbClr val="000000"/>
                </a:solidFill>
                <a:latin typeface="Arial"/>
              </a:rPr>
              <a:t>Testes com ‘perfil de verossimilhança’ p/ d-GEV</a:t>
            </a:r>
            <a:br>
              <a:rPr sz="1800"/>
            </a:br>
            <a:r>
              <a:rPr lang="pt-BR" sz="1800" b="0" u="none" strike="noStrike">
                <a:solidFill>
                  <a:srgbClr val="000000"/>
                </a:solidFill>
                <a:latin typeface="Arial"/>
              </a:rPr>
              <a:t>Estação ‘430060402A’ sem informação </a:t>
            </a:r>
            <a:r>
              <a:rPr lang="pt-BR" sz="1800" b="0" i="1" u="none" strike="noStrike">
                <a:solidFill>
                  <a:srgbClr val="000000"/>
                </a:solidFill>
                <a:latin typeface="Arial"/>
              </a:rPr>
              <a:t>a priori</a:t>
            </a: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3783718" name=""/>
          <p:cNvPicPr/>
          <p:nvPr/>
        </p:nvPicPr>
        <p:blipFill rotWithShape="1">
          <a:blip r:embed="rId3"/>
          <a:stretch/>
        </p:blipFill>
        <p:spPr bwMode="auto">
          <a:xfrm>
            <a:off x="180000" y="878040"/>
            <a:ext cx="3817440" cy="236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4172724" name=""/>
          <p:cNvPicPr/>
          <p:nvPr/>
        </p:nvPicPr>
        <p:blipFill rotWithShape="1">
          <a:blip r:embed="rId4"/>
          <a:stretch/>
        </p:blipFill>
        <p:spPr bwMode="auto">
          <a:xfrm>
            <a:off x="3960000" y="878040"/>
            <a:ext cx="3817440" cy="236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3941205" name=""/>
          <p:cNvPicPr/>
          <p:nvPr/>
        </p:nvPicPr>
        <p:blipFill rotWithShape="1">
          <a:blip r:embed="rId5"/>
          <a:stretch/>
        </p:blipFill>
        <p:spPr bwMode="auto">
          <a:xfrm>
            <a:off x="7702560" y="878040"/>
            <a:ext cx="3817440" cy="236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660012" name=""/>
          <p:cNvPicPr/>
          <p:nvPr/>
        </p:nvPicPr>
        <p:blipFill rotWithShape="1">
          <a:blip r:embed="rId6"/>
          <a:stretch/>
        </p:blipFill>
        <p:spPr bwMode="auto">
          <a:xfrm>
            <a:off x="212760" y="3240000"/>
            <a:ext cx="3784680" cy="23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7327340" name=""/>
          <p:cNvPicPr/>
          <p:nvPr/>
        </p:nvPicPr>
        <p:blipFill rotWithShape="1">
          <a:blip r:embed="rId7"/>
          <a:stretch/>
        </p:blipFill>
        <p:spPr bwMode="auto">
          <a:xfrm>
            <a:off x="3955320" y="3240000"/>
            <a:ext cx="3784680" cy="2340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801487" name=""/>
          <p:cNvSpPr txBox="1"/>
          <p:nvPr/>
        </p:nvSpPr>
        <p:spPr bwMode="auto">
          <a:xfrm rot="0" flipH="0" flipV="0">
            <a:off x="451144" y="423332"/>
            <a:ext cx="4912596" cy="2103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i="0"/>
              <a:t>Perfis de verossimilhança da d-GEV com e sem distribuição a priori estão com picos que ocorrem quando a maximização da função de log-verossimilhança encontra um máximo com k = 0</a:t>
            </a:r>
            <a:endParaRPr lang="pt-BR" sz="1200" i="0"/>
          </a:p>
          <a:p>
            <a:pPr algn="just">
              <a:defRPr/>
            </a:pPr>
            <a:endParaRPr sz="1200" i="0"/>
          </a:p>
          <a:p>
            <a:pPr algn="just">
              <a:defRPr/>
            </a:pPr>
            <a:r>
              <a:rPr lang="pt-BR" sz="1200" i="0"/>
              <a:t>Essas estimativas são entre 10^-16 e 10^-17. Valores com essa precisão o R (e o próprio computador) entendem como sendo iguais a zero. No momento da maximização de l_p para criação do perfil, o algoritmo cria um </a:t>
            </a:r>
            <a:r>
              <a:rPr lang="pt-BR" sz="1200" b="1" i="0"/>
              <a:t>pico</a:t>
            </a:r>
            <a:r>
              <a:rPr lang="pt-BR" sz="1200" b="0" i="0"/>
              <a:t> exatamente nesse ponto, que logo normaliza.</a:t>
            </a:r>
            <a:endParaRPr lang="pt-BR" sz="1200" b="0" i="0"/>
          </a:p>
          <a:p>
            <a:pPr algn="just">
              <a:defRPr/>
            </a:pPr>
            <a:endParaRPr sz="1200" b="0" i="0"/>
          </a:p>
          <a:p>
            <a:pPr algn="just">
              <a:defRPr/>
            </a:pPr>
            <a:r>
              <a:rPr lang="pt-BR" sz="1200" b="0" i="0"/>
              <a:t>Todas as estações abaixo com a estimativa original exatamente em 0 sofrem com esse problema:</a:t>
            </a:r>
            <a:endParaRPr sz="1200" b="0" i="0"/>
          </a:p>
        </p:txBody>
      </p:sp>
      <p:pic>
        <p:nvPicPr>
          <p:cNvPr id="100996444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15299" y="2706803"/>
            <a:ext cx="5384282" cy="30748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57664" name=""/>
          <p:cNvSpPr txBox="1"/>
          <p:nvPr/>
        </p:nvSpPr>
        <p:spPr bwMode="auto">
          <a:xfrm rot="0" flipH="0" flipV="0">
            <a:off x="451144" y="423332"/>
            <a:ext cx="4912596" cy="2103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i="0"/>
              <a:t>Perfis de verossimilhança da d-GEV com e sem distribuição a priori estão com picos que ocorrem quando a maximização da função de log-verossimilhança encontra um máximo com k = 0</a:t>
            </a:r>
            <a:endParaRPr lang="pt-BR" sz="1200" i="0"/>
          </a:p>
          <a:p>
            <a:pPr algn="just">
              <a:defRPr/>
            </a:pPr>
            <a:endParaRPr sz="1200" i="0"/>
          </a:p>
          <a:p>
            <a:pPr algn="just">
              <a:defRPr/>
            </a:pPr>
            <a:r>
              <a:rPr lang="pt-BR" sz="1200" i="0"/>
              <a:t>Essas estimativas são entre 10^-16 e 10^-17. Valores com essa precisão o R (e o próprio computador) entendem como sendo iguais a zero. No momento da maximização de l_p para criação do perfil, o algoritmo cria um </a:t>
            </a:r>
            <a:r>
              <a:rPr lang="pt-BR" sz="1200" b="1" i="0"/>
              <a:t>pico</a:t>
            </a:r>
            <a:r>
              <a:rPr lang="pt-BR" sz="1200" b="0" i="0"/>
              <a:t> exatamente nesse ponto, que logo normaliza.</a:t>
            </a:r>
            <a:endParaRPr lang="pt-BR" sz="1200" b="0" i="0"/>
          </a:p>
          <a:p>
            <a:pPr algn="just">
              <a:defRPr/>
            </a:pPr>
            <a:endParaRPr sz="1200" b="0" i="0"/>
          </a:p>
          <a:p>
            <a:pPr algn="just">
              <a:defRPr/>
            </a:pPr>
            <a:r>
              <a:rPr lang="pt-BR" sz="1200" b="0" i="0"/>
              <a:t>Todas as estações abaixo com a estimativa original exatamente em 0 sofrem com esse problema:</a:t>
            </a:r>
            <a:endParaRPr sz="1200" b="0" i="0"/>
          </a:p>
        </p:txBody>
      </p:sp>
      <p:pic>
        <p:nvPicPr>
          <p:cNvPr id="145465626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15299" y="2706803"/>
            <a:ext cx="5384282" cy="3074871"/>
          </a:xfrm>
          <a:prstGeom prst="rect">
            <a:avLst/>
          </a:prstGeom>
        </p:spPr>
      </p:pic>
      <p:sp>
        <p:nvSpPr>
          <p:cNvPr id="30703677" name=""/>
          <p:cNvSpPr txBox="1"/>
          <p:nvPr/>
        </p:nvSpPr>
        <p:spPr bwMode="auto">
          <a:xfrm rot="0" flipH="0" flipV="0">
            <a:off x="6537618" y="423333"/>
            <a:ext cx="4947514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 sz="1200"/>
              <a:t>A estação abaixo </a:t>
            </a:r>
            <a:r>
              <a:rPr lang="pt-BR" sz="1200"/>
              <a:t>é um exemplo. O perfil de verossimilhança resultante é o seguinte:</a:t>
            </a:r>
            <a:endParaRPr sz="1200"/>
          </a:p>
        </p:txBody>
      </p:sp>
      <p:pic>
        <p:nvPicPr>
          <p:cNvPr id="122549284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197646" y="880893"/>
            <a:ext cx="3493180" cy="2161185"/>
          </a:xfrm>
          <a:prstGeom prst="rect">
            <a:avLst/>
          </a:prstGeom>
        </p:spPr>
      </p:pic>
      <p:sp>
        <p:nvSpPr>
          <p:cNvPr id="2032354109" name=""/>
          <p:cNvSpPr txBox="1"/>
          <p:nvPr/>
        </p:nvSpPr>
        <p:spPr bwMode="auto">
          <a:xfrm rot="0" flipH="0" flipV="0">
            <a:off x="6403339" y="2925900"/>
            <a:ext cx="5081794" cy="10062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 sz="1200"/>
              <a:t>A estimativa original de k é da ordem de 10^-17 (0, para o computador), mas o valor `max_ll` encontrado pela função `nll.dgev()` é -430. Na otimização do perfil, porém, um novo máximo é encontrado (mostrado acima), igual a -172, muito acima dos demais. Se removermos este valor, o perfil aparenta ser “normalizado”:</a:t>
            </a:r>
            <a:endParaRPr sz="1200"/>
          </a:p>
        </p:txBody>
      </p:sp>
      <p:pic>
        <p:nvPicPr>
          <p:cNvPr id="79390159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197646" y="4029075"/>
            <a:ext cx="3493180" cy="2161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546257" name=""/>
          <p:cNvSpPr txBox="1"/>
          <p:nvPr/>
        </p:nvSpPr>
        <p:spPr bwMode="auto">
          <a:xfrm rot="0" flipH="0" flipV="0">
            <a:off x="451144" y="423332"/>
            <a:ext cx="5136876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b="0" i="0"/>
              <a:t>Precisamos analisar se no perfil dos demais parâmetros este pico também está presente e por que o otimizador encontra um máximo tão próximo a zero, sendo que o restante do perfil (olhando para o perfil de verossimilhança) não indica que seria Gumbel?</a:t>
            </a:r>
            <a:endParaRPr lang="pt-BR" sz="1200" b="0" i="0"/>
          </a:p>
          <a:p>
            <a:pPr algn="just">
              <a:defRPr/>
            </a:pPr>
            <a:endParaRPr sz="1200" b="0" i="0"/>
          </a:p>
          <a:p>
            <a:pPr algn="just">
              <a:defRPr/>
            </a:pPr>
            <a:r>
              <a:rPr lang="pt-BR" sz="1200" b="0" i="0"/>
              <a:t>Analisando o perfil dos outros parâmetros, este pico não está presente e todos os demais aparentam. Todos apresentam um pico em volta de -433, que seria o pico do perfil problem</a:t>
            </a:r>
            <a:r>
              <a:rPr lang="pt-BR" sz="1200" b="0" i="0"/>
              <a:t>a.</a:t>
            </a:r>
            <a:endParaRPr sz="1200" b="0" i="0"/>
          </a:p>
        </p:txBody>
      </p:sp>
      <p:pic>
        <p:nvPicPr>
          <p:cNvPr id="203335848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53424" y="2041037"/>
            <a:ext cx="3382667" cy="2092811"/>
          </a:xfrm>
          <a:prstGeom prst="rect">
            <a:avLst/>
          </a:prstGeom>
        </p:spPr>
      </p:pic>
      <p:pic>
        <p:nvPicPr>
          <p:cNvPr id="155860398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53424" y="4155427"/>
            <a:ext cx="3382667" cy="2092811"/>
          </a:xfrm>
          <a:prstGeom prst="rect">
            <a:avLst/>
          </a:prstGeom>
        </p:spPr>
      </p:pic>
      <p:pic>
        <p:nvPicPr>
          <p:cNvPr id="185372643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201749" y="88214"/>
            <a:ext cx="3343275" cy="2068440"/>
          </a:xfrm>
          <a:prstGeom prst="rect">
            <a:avLst/>
          </a:prstGeom>
        </p:spPr>
      </p:pic>
      <p:pic>
        <p:nvPicPr>
          <p:cNvPr id="2030479735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201749" y="2204279"/>
            <a:ext cx="3343275" cy="2068440"/>
          </a:xfrm>
          <a:prstGeom prst="rect">
            <a:avLst/>
          </a:prstGeom>
        </p:spPr>
      </p:pic>
      <p:pic>
        <p:nvPicPr>
          <p:cNvPr id="778730219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6201749" y="4552949"/>
            <a:ext cx="3387012" cy="209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0586367" name=""/>
          <p:cNvSpPr txBox="1"/>
          <p:nvPr/>
        </p:nvSpPr>
        <p:spPr bwMode="auto">
          <a:xfrm rot="0" flipH="0" flipV="0">
            <a:off x="451144" y="423332"/>
            <a:ext cx="516819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b="0" i="0"/>
              <a:t>Olhando p/ data.frame resultante, percebe-se que `message == 1` p/ kappa:</a:t>
            </a:r>
            <a:endParaRPr sz="1200" b="0" i="0"/>
          </a:p>
        </p:txBody>
      </p:sp>
      <p:pic>
        <p:nvPicPr>
          <p:cNvPr id="155921158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3543" y="930447"/>
            <a:ext cx="5076574" cy="1055345"/>
          </a:xfrm>
          <a:prstGeom prst="rect">
            <a:avLst/>
          </a:prstGeom>
        </p:spPr>
      </p:pic>
      <p:sp>
        <p:nvSpPr>
          <p:cNvPr id="455313647" name=""/>
          <p:cNvSpPr txBox="1"/>
          <p:nvPr/>
        </p:nvSpPr>
        <p:spPr bwMode="auto">
          <a:xfrm rot="0" flipH="0" flipV="0">
            <a:off x="451144" y="2118781"/>
            <a:ext cx="523839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b="0" i="0"/>
              <a:t>Quando isso ocorre, é um indicativo de que a função `ciprof.par()` internamente caiu no seguinte if:</a:t>
            </a:r>
            <a:endParaRPr sz="1200" b="0" i="0"/>
          </a:p>
        </p:txBody>
      </p:sp>
      <p:pic>
        <p:nvPicPr>
          <p:cNvPr id="179574611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51144" y="2632262"/>
            <a:ext cx="5473087" cy="3225612"/>
          </a:xfrm>
          <a:prstGeom prst="rect">
            <a:avLst/>
          </a:prstGeom>
        </p:spPr>
      </p:pic>
      <p:sp>
        <p:nvSpPr>
          <p:cNvPr id="1706787486" name=""/>
          <p:cNvSpPr txBox="1"/>
          <p:nvPr/>
        </p:nvSpPr>
        <p:spPr bwMode="auto">
          <a:xfrm rot="0" flipH="0" flipV="0">
            <a:off x="6095998" y="423331"/>
            <a:ext cx="5727994" cy="4480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b="0" i="0"/>
              <a:t>Ou seja, a função `roots.proflik()`, durante a otimização de par[-kappa] parâmetros (ou seja, a criação do perfil p/ kappa) testou um step em que kappa = 10^-17 (???) que resultou no pico observado com `loglik` == -172.</a:t>
            </a:r>
            <a:br>
              <a:rPr lang="pt-BR" sz="1200" b="0" i="0"/>
            </a:br>
            <a:br>
              <a:rPr lang="pt-BR" sz="1200" b="0" i="0"/>
            </a:br>
            <a:r>
              <a:rPr lang="pt-BR" sz="1200" b="0" i="0"/>
              <a:t>Isso pode ser visto tanto com `message == 1` como `max` == -172 (indicando que o máximo utilizado foi -172 e que o parâmetro que causou o novo máximo foi kappa, pois é o único com `message` == 1).</a:t>
            </a:r>
            <a:endParaRPr lang="pt-BR" sz="1200" b="0" i="0"/>
          </a:p>
          <a:p>
            <a:pPr algn="just">
              <a:defRPr/>
            </a:pPr>
            <a:endParaRPr sz="1200" b="0" i="0"/>
          </a:p>
          <a:p>
            <a:pPr algn="just">
              <a:defRPr/>
            </a:pPr>
            <a:r>
              <a:rPr lang="pt-BR" sz="1200" b="1" i="0"/>
              <a:t>Possíveis aterações em fitprof.dgev()</a:t>
            </a:r>
            <a:endParaRPr lang="pt-BR" sz="1200" b="1" i="0"/>
          </a:p>
          <a:p>
            <a:pPr marL="217793" indent="-217793" algn="just">
              <a:buAutoNum type="arabicPeriod"/>
              <a:defRPr/>
            </a:pPr>
            <a:r>
              <a:rPr lang="pt-BR" sz="1200" b="0" i="0"/>
              <a:t>Remover todas as observações associadas à `slopes` muito elevados dentro da função roots.proflik() após o `while` terminar de rodar;</a:t>
            </a:r>
            <a:endParaRPr lang="pt-BR" sz="1200" b="0" i="0"/>
          </a:p>
          <a:p>
            <a:pPr marL="217793" indent="-217793" algn="just">
              <a:buAutoNum type="arabicPeriod"/>
              <a:defRPr/>
            </a:pPr>
            <a:r>
              <a:rPr lang="pt-BR" sz="1200" b="0" i="0"/>
              <a:t>Avaliar cada valor de `val.i`. Se `i == 3`, val.i &gt; step</a:t>
            </a:r>
            <a:endParaRPr lang="pt-BR" sz="1200" b="0" i="0"/>
          </a:p>
          <a:p>
            <a:pPr marL="217793" indent="-217793" algn="just">
              <a:buAutoNum type="arabicPeriod"/>
              <a:defRPr/>
            </a:pPr>
            <a:endParaRPr sz="1200" b="0" i="0"/>
          </a:p>
          <a:p>
            <a:pPr algn="just">
              <a:defRPr/>
            </a:pPr>
            <a:r>
              <a:rPr lang="pt-BR" sz="1200" b="1" i="0"/>
              <a:t>Avaliar ainda se</a:t>
            </a:r>
            <a:endParaRPr lang="pt-BR" sz="1200" b="0" i="0"/>
          </a:p>
          <a:p>
            <a:pPr marL="217793" indent="-217793" algn="just">
              <a:buFont typeface="Arial"/>
              <a:buChar char="•"/>
              <a:defRPr/>
            </a:pPr>
            <a:r>
              <a:rPr lang="pt-BR" sz="1200" b="0" i="0"/>
              <a:t>Esse comportamento com o `message` se repete para todas as outras estações com este mesmo problema? </a:t>
            </a:r>
            <a:r>
              <a:rPr lang="pt-BR" sz="1200" b="0" i="1"/>
              <a:t>Algumas estações `message` em kappa é 0, mas found_max é diferente de max_ll, indicando que a avaliação de outro perfil que gerou o pico</a:t>
            </a:r>
            <a:r>
              <a:rPr lang="pt-BR" sz="1200" b="0" i="0"/>
              <a:t>.</a:t>
            </a:r>
            <a:endParaRPr sz="1200" b="0" i="0"/>
          </a:p>
          <a:p>
            <a:pPr algn="just">
              <a:defRPr/>
            </a:pPr>
            <a:endParaRPr lang="pt-BR" sz="1200" b="0" i="0"/>
          </a:p>
          <a:p>
            <a:pPr algn="just">
              <a:defRPr/>
            </a:pPr>
            <a:endParaRPr lang="pt-BR" sz="1200" b="0" i="0"/>
          </a:p>
          <a:p>
            <a:pPr algn="just">
              <a:defRPr/>
            </a:pPr>
            <a:endParaRPr lang="pt-BR" sz="1200" b="0" i="0"/>
          </a:p>
          <a:p>
            <a:pPr marL="217792" indent="-217792" algn="just">
              <a:buAutoNum type="arabicPeriod"/>
              <a:defRPr/>
            </a:pPr>
            <a:endParaRPr lang="pt-BR" sz="1200" b="0" i="0"/>
          </a:p>
          <a:p>
            <a:pPr marL="217793" indent="-217793" algn="just">
              <a:buFont typeface="Arial"/>
              <a:buChar char="•"/>
              <a:defRPr/>
            </a:pPr>
            <a:r>
              <a:rPr lang="pt-BR" sz="1200" b="0" i="0"/>
              <a:t>Ao rodar a função fdgev() para a série, construir um vetor de `val.i` usando o step calculado na função roots.proflik(), o valor de val.i = 10^-17 aparece?</a:t>
            </a:r>
            <a:endParaRPr lang="pt-BR" sz="1200" b="0" i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05060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0892" y="36553"/>
            <a:ext cx="4149939" cy="2556362"/>
          </a:xfrm>
          <a:prstGeom prst="rect">
            <a:avLst/>
          </a:prstGeom>
        </p:spPr>
      </p:pic>
      <p:pic>
        <p:nvPicPr>
          <p:cNvPr id="139337119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-16021" y="2557605"/>
            <a:ext cx="4656960" cy="871394"/>
          </a:xfrm>
          <a:prstGeom prst="rect">
            <a:avLst/>
          </a:prstGeom>
        </p:spPr>
      </p:pic>
      <p:pic>
        <p:nvPicPr>
          <p:cNvPr id="191482653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-13949" y="3429000"/>
            <a:ext cx="4259624" cy="2623928"/>
          </a:xfrm>
          <a:prstGeom prst="rect">
            <a:avLst/>
          </a:prstGeom>
        </p:spPr>
      </p:pic>
      <p:pic>
        <p:nvPicPr>
          <p:cNvPr id="1976211906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-13949" y="6052928"/>
            <a:ext cx="4656960" cy="823923"/>
          </a:xfrm>
          <a:prstGeom prst="rect">
            <a:avLst/>
          </a:prstGeom>
        </p:spPr>
      </p:pic>
      <p:sp>
        <p:nvSpPr>
          <p:cNvPr id="68205864" name=""/>
          <p:cNvSpPr txBox="1"/>
          <p:nvPr/>
        </p:nvSpPr>
        <p:spPr bwMode="auto">
          <a:xfrm rot="0" flipH="0" flipV="0">
            <a:off x="4843227" y="6236110"/>
            <a:ext cx="521859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b="0" i="0"/>
              <a:t>No caso de 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430700502A</a:t>
            </a:r>
            <a:r>
              <a:rPr lang="pt-BR" sz="1200" b="0" i="0"/>
              <a:t>, não foi kappa que resultou na substituição dos parâmetros, mas o único destoante e com pico é kappa.</a:t>
            </a:r>
            <a:endParaRPr sz="1200" b="0" i="0"/>
          </a:p>
        </p:txBody>
      </p:sp>
      <p:sp>
        <p:nvSpPr>
          <p:cNvPr id="1290639973" name=""/>
          <p:cNvSpPr txBox="1"/>
          <p:nvPr/>
        </p:nvSpPr>
        <p:spPr bwMode="auto">
          <a:xfrm rot="0" flipH="0" flipV="0">
            <a:off x="4995626" y="223718"/>
            <a:ext cx="5272234" cy="10062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b="0" i="0"/>
              <a:t>Valores de `slope` dos perfis das estações com k aprox 0:</a:t>
            </a:r>
            <a:endParaRPr lang="pt-BR" sz="1200" b="0" i="0"/>
          </a:p>
          <a:p>
            <a:pPr marL="217793" indent="-217793" algn="just">
              <a:buFont typeface="Arial"/>
              <a:buChar char="–"/>
              <a:defRPr/>
            </a:pP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430060402A</a:t>
            </a:r>
            <a:r>
              <a:rPr lang="pt-BR" sz="1200" b="0" i="0"/>
              <a:t>: max(slope) = 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637361.2;</a:t>
            </a:r>
            <a:endParaRPr lang="pt-BR" sz="12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17793" indent="-217793" algn="just">
              <a:buFont typeface="Arial"/>
              <a:buChar char="–"/>
              <a:defRPr/>
            </a:pP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430350901A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max(slope) = 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5623123;</a:t>
            </a:r>
            <a:endParaRPr lang="pt-BR" sz="12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17793" indent="-217793" algn="just">
              <a:buFont typeface="Arial"/>
              <a:buChar char="–"/>
              <a:defRPr/>
            </a:pP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430700502A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max(slope) = 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121316.4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</a:t>
            </a:r>
            <a:endParaRPr lang="pt-BR" sz="12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17793" indent="-217793" algn="just">
              <a:buFont typeface="Arial"/>
              <a:buChar char="–"/>
              <a:defRPr/>
            </a:pPr>
            <a:endParaRPr sz="1200" b="0" i="0"/>
          </a:p>
        </p:txBody>
      </p:sp>
      <p:pic>
        <p:nvPicPr>
          <p:cNvPr id="743064188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438774" y="2793277"/>
            <a:ext cx="3933824" cy="400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762907" name=""/>
          <p:cNvSpPr txBox="1"/>
          <p:nvPr/>
        </p:nvSpPr>
        <p:spPr bwMode="auto">
          <a:xfrm rot="0" flipH="0" flipV="0">
            <a:off x="233127" y="223718"/>
            <a:ext cx="5308234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 sz="1200"/>
              <a:t>Analisando a série da estação 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430060402A</a:t>
            </a:r>
            <a:r>
              <a:rPr lang="pt-BR" sz="1200"/>
              <a:t>, a estimativa original com a função `fdgev()` retorna estimativas aparentemente razoáveis:</a:t>
            </a:r>
            <a:endParaRPr sz="1200"/>
          </a:p>
        </p:txBody>
      </p:sp>
      <p:pic>
        <p:nvPicPr>
          <p:cNvPr id="160524360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7024" y="681278"/>
            <a:ext cx="5267324" cy="5924549"/>
          </a:xfrm>
          <a:prstGeom prst="rect">
            <a:avLst/>
          </a:prstGeom>
        </p:spPr>
      </p:pic>
      <p:sp>
        <p:nvSpPr>
          <p:cNvPr id="122616280" name=""/>
          <p:cNvSpPr txBox="1"/>
          <p:nvPr/>
        </p:nvSpPr>
        <p:spPr bwMode="auto">
          <a:xfrm rot="0" flipH="0" flipV="0">
            <a:off x="5888860" y="223718"/>
            <a:ext cx="5525313" cy="2438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 sz="1200"/>
              <a:t>O problema aparentemente ocorre em razão do próprio `while` em combinação com o step ajustado.</a:t>
            </a:r>
            <a:endParaRPr lang="pt-BR" sz="1200"/>
          </a:p>
          <a:p>
            <a:pPr>
              <a:defRPr/>
            </a:pPr>
            <a:r>
              <a:rPr lang="pt-BR" sz="1200"/>
              <a:t>Atualmente, o quando val.i != 0, step é recalculado como step*abs(val.i).</a:t>
            </a:r>
            <a:endParaRPr lang="pt-BR" sz="1200"/>
          </a:p>
          <a:p>
            <a:pPr>
              <a:defRPr/>
            </a:pPr>
            <a:r>
              <a:rPr lang="pt-BR" sz="1200"/>
              <a:t>Para esse caso em que kappa = 0.082 e step = </a:t>
            </a:r>
            <a:r>
              <a:rPr lang="pt-BR" sz="1200"/>
              <a:t>0.005, o step resultante é igual a 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0.0004125329</a:t>
            </a:r>
            <a:r>
              <a:rPr lang="pt-BR" sz="1200"/>
              <a:t>.</a:t>
            </a:r>
            <a:br>
              <a:rPr lang="pt-BR" sz="1200"/>
            </a:br>
            <a:r>
              <a:rPr lang="pt-BR" sz="1200"/>
              <a:t>Avaliando uma sequencia que o while avaliaria:</a:t>
            </a:r>
            <a:endParaRPr lang="pt-BR" sz="1200"/>
          </a:p>
          <a:p>
            <a:pPr>
              <a:defRPr/>
            </a:pPr>
            <a:r>
              <a:rPr lang="pt-BR" sz="1200"/>
              <a:t>val.i &lt;- 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seq(fit$par[[3]], -1, -step.adjusted)</a:t>
            </a:r>
            <a:br>
              <a:rPr lang="pt-BR" sz="1200"/>
            </a:br>
            <a:r>
              <a:rPr lang="pt-BR" sz="1200"/>
              <a:t>Em determinado momento, a seguinte sequência ocorre:</a:t>
            </a:r>
            <a:endParaRPr lang="pt-BR" sz="1200"/>
          </a:p>
          <a:p>
            <a:pPr>
              <a:defRPr/>
            </a:pPr>
            <a:endParaRPr sz="1200"/>
          </a:p>
          <a:p>
            <a:pPr>
              <a:defRPr/>
            </a:pPr>
            <a:endParaRPr lang="pt-BR" sz="1200"/>
          </a:p>
          <a:p>
            <a:pPr>
              <a:defRPr/>
            </a:pPr>
            <a:r>
              <a:rPr lang="pt-BR" sz="1200"/>
              <a:t>Nesse momento, ocorre o kappa = 10^-17 que retorna o erro.</a:t>
            </a:r>
            <a:endParaRPr lang="pt-BR" sz="1200"/>
          </a:p>
          <a:p>
            <a:pPr>
              <a:defRPr/>
            </a:pPr>
            <a:endParaRPr/>
          </a:p>
          <a:p>
            <a:pPr>
              <a:defRPr/>
            </a:pPr>
            <a:r>
              <a:rPr lang="pt-BR" sz="1200"/>
              <a:t>Isso também foi conferido com a estação 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430920901A</a:t>
            </a:r>
            <a:r>
              <a:rPr lang="pt-BR" sz="1200"/>
              <a:t>:</a:t>
            </a:r>
            <a:endParaRPr/>
          </a:p>
        </p:txBody>
      </p:sp>
      <p:pic>
        <p:nvPicPr>
          <p:cNvPr id="60690029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888860" y="1714423"/>
            <a:ext cx="3971925" cy="352424"/>
          </a:xfrm>
          <a:prstGeom prst="rect">
            <a:avLst/>
          </a:prstGeom>
        </p:spPr>
      </p:pic>
      <p:pic>
        <p:nvPicPr>
          <p:cNvPr id="106248179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888860" y="2662478"/>
            <a:ext cx="3800819" cy="3943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130260" name=""/>
          <p:cNvSpPr/>
          <p:nvPr/>
        </p:nvSpPr>
        <p:spPr bwMode="auto">
          <a:xfrm flipH="0" flipV="0">
            <a:off x="258913" y="251565"/>
            <a:ext cx="4932687" cy="1036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pt-BR" sz="1200"/>
              <a:t>A solução que está sendo testada é simplesmente adaptar o passo de busca, adicionando um `jitter` de 1e-7 no passo, para que ele nunca teste um valor múltiplo do proprio parâmetro.</a:t>
            </a:r>
            <a:br>
              <a:rPr lang="pt-BR" sz="1200"/>
            </a:br>
            <a:br>
              <a:rPr sz="1400"/>
            </a:br>
            <a:r>
              <a:rPr sz="12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step.i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&lt;-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7AA2F7"/>
                </a:solidFill>
                <a:latin typeface="RobotoMono Nerd Font"/>
                <a:ea typeface="RobotoMono Nerd Font"/>
                <a:cs typeface="RobotoMono Nerd Font"/>
              </a:rPr>
              <a:t>max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(</a:t>
            </a:r>
            <a:r>
              <a:rPr sz="1200" b="0" i="0" u="none">
                <a:solidFill>
                  <a:srgbClr val="7AA2F7"/>
                </a:solidFill>
                <a:latin typeface="RobotoMono Nerd Font"/>
                <a:ea typeface="RobotoMono Nerd Font"/>
                <a:cs typeface="RobotoMono Nerd Font"/>
              </a:rPr>
              <a:t>abs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(</a:t>
            </a:r>
            <a:r>
              <a:rPr sz="12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step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*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par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[[</a:t>
            </a:r>
            <a:r>
              <a:rPr sz="12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i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]])</a:t>
            </a:r>
            <a:r>
              <a:rPr sz="12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,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step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) </a:t>
            </a:r>
            <a:r>
              <a:rPr sz="12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+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FF9E64"/>
                </a:solidFill>
                <a:latin typeface="RobotoMono Nerd Font"/>
                <a:ea typeface="RobotoMono Nerd Font"/>
                <a:cs typeface="RobotoMono Nerd Font"/>
              </a:rPr>
              <a:t>1e-7</a:t>
            </a:r>
            <a:endParaRPr sz="1400"/>
          </a:p>
        </p:txBody>
      </p:sp>
      <p:pic>
        <p:nvPicPr>
          <p:cNvPr id="184377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29099" y="1419753"/>
            <a:ext cx="4762499" cy="2933699"/>
          </a:xfrm>
          <a:prstGeom prst="rect">
            <a:avLst/>
          </a:prstGeom>
        </p:spPr>
      </p:pic>
      <p:pic>
        <p:nvPicPr>
          <p:cNvPr id="27008501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540374" y="1419753"/>
            <a:ext cx="4762499" cy="2933699"/>
          </a:xfrm>
          <a:prstGeom prst="rect">
            <a:avLst/>
          </a:prstGeom>
        </p:spPr>
      </p:pic>
      <p:sp>
        <p:nvSpPr>
          <p:cNvPr id="534528003" name=""/>
          <p:cNvSpPr txBox="1"/>
          <p:nvPr/>
        </p:nvSpPr>
        <p:spPr bwMode="auto">
          <a:xfrm rot="0" flipH="0" flipV="0">
            <a:off x="5818187" y="495224"/>
            <a:ext cx="5032435" cy="10062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pt-BR" sz="1200"/>
              <a:t>Porra é essa vei</a:t>
            </a:r>
            <a:br>
              <a:rPr lang="pt-BR" sz="1200"/>
            </a:br>
            <a:br>
              <a:rPr lang="pt-BR" sz="1200"/>
            </a:br>
            <a:r>
              <a:rPr lang="pt-BR" sz="1200"/>
              <a:t>O step definido nunca vai escolher um valor negativo, ele precisa ser definido fora da função `roots.proflik()` senão, se for negativo, vai sempre virar positivo por isso não tem perfil a esquerda. 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469130" name=""/>
          <p:cNvSpPr/>
          <p:nvPr/>
        </p:nvSpPr>
        <p:spPr bwMode="auto">
          <a:xfrm flipH="0" flipV="0">
            <a:off x="258912" y="251564"/>
            <a:ext cx="4932686" cy="1036678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pt-BR" sz="1200"/>
              <a:t>A solução que está sendo testada é simplesmente adaptar o passo de busca, adicionando um `jitter` de 1e-7 no passo, para que ele nunca teste um valor múltiplo do proprio parâmetro.</a:t>
            </a:r>
            <a:br>
              <a:rPr lang="pt-BR" sz="1200"/>
            </a:br>
            <a:br>
              <a:rPr sz="1400"/>
            </a:br>
            <a:r>
              <a:rPr sz="12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step.i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&lt;-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7AA2F7"/>
                </a:solidFill>
                <a:latin typeface="RobotoMono Nerd Font"/>
                <a:ea typeface="RobotoMono Nerd Font"/>
                <a:cs typeface="RobotoMono Nerd Font"/>
              </a:rPr>
              <a:t>max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(</a:t>
            </a:r>
            <a:r>
              <a:rPr sz="1200" b="0" i="0" u="none">
                <a:solidFill>
                  <a:srgbClr val="7AA2F7"/>
                </a:solidFill>
                <a:latin typeface="RobotoMono Nerd Font"/>
                <a:ea typeface="RobotoMono Nerd Font"/>
                <a:cs typeface="RobotoMono Nerd Font"/>
              </a:rPr>
              <a:t>abs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(</a:t>
            </a:r>
            <a:r>
              <a:rPr sz="12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step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*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par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[[</a:t>
            </a:r>
            <a:r>
              <a:rPr sz="12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i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]])</a:t>
            </a:r>
            <a:r>
              <a:rPr sz="12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,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step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) </a:t>
            </a:r>
            <a:r>
              <a:rPr sz="12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+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FF9E64"/>
                </a:solidFill>
                <a:latin typeface="RobotoMono Nerd Font"/>
                <a:ea typeface="RobotoMono Nerd Font"/>
                <a:cs typeface="RobotoMono Nerd Font"/>
              </a:rPr>
              <a:t>1e-7</a:t>
            </a:r>
            <a:endParaRPr sz="1400"/>
          </a:p>
        </p:txBody>
      </p:sp>
      <p:pic>
        <p:nvPicPr>
          <p:cNvPr id="79509009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29098" y="1419752"/>
            <a:ext cx="4762498" cy="2933698"/>
          </a:xfrm>
          <a:prstGeom prst="rect">
            <a:avLst/>
          </a:prstGeom>
        </p:spPr>
      </p:pic>
      <p:pic>
        <p:nvPicPr>
          <p:cNvPr id="43528461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540373" y="611857"/>
            <a:ext cx="4762498" cy="2933698"/>
          </a:xfrm>
          <a:prstGeom prst="rect">
            <a:avLst/>
          </a:prstGeom>
        </p:spPr>
      </p:pic>
      <p:sp>
        <p:nvSpPr>
          <p:cNvPr id="11401396" name=""/>
          <p:cNvSpPr txBox="1"/>
          <p:nvPr/>
        </p:nvSpPr>
        <p:spPr bwMode="auto">
          <a:xfrm rot="0" flipH="0" flipV="0">
            <a:off x="5864878" y="251564"/>
            <a:ext cx="50349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pt-BR" sz="1200"/>
              <a:t>O step definido nunca vai escolher um valor negativo, ele precisa ser definido fora da função `roots.proflik()` senão, se for negativo, vai sempre virar positivo por isso não tem perfil a esquerda. </a:t>
            </a:r>
            <a:endParaRPr sz="1800"/>
          </a:p>
        </p:txBody>
      </p:sp>
      <p:sp>
        <p:nvSpPr>
          <p:cNvPr id="1111601608" name=""/>
          <p:cNvSpPr txBox="1"/>
          <p:nvPr/>
        </p:nvSpPr>
        <p:spPr bwMode="auto">
          <a:xfrm rot="0" flipH="0" flipV="0">
            <a:off x="5864878" y="4033231"/>
            <a:ext cx="503567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 sz="1800"/>
          </a:p>
        </p:txBody>
      </p:sp>
      <p:sp>
        <p:nvSpPr>
          <p:cNvPr id="1166517223" name=""/>
          <p:cNvSpPr/>
          <p:nvPr/>
        </p:nvSpPr>
        <p:spPr bwMode="auto">
          <a:xfrm flipH="0" flipV="0">
            <a:off x="5864878" y="3567111"/>
            <a:ext cx="5126394" cy="808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pt-BR"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A solução foi mover o mesmo ajuste do passo pra fora da função ciprof.par() e passar -step.par ou +step.par na função roots.proflik() a depender de qual lado se deseja procurar a raiz (esquerda ou direita)</a:t>
            </a:r>
            <a:endParaRPr sz="120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sz="11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step.par</a:t>
            </a:r>
            <a:r>
              <a:rPr sz="11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1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&lt;-</a:t>
            </a:r>
            <a:r>
              <a:rPr sz="11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100" b="0" i="0" u="none">
                <a:solidFill>
                  <a:srgbClr val="7AA2F7"/>
                </a:solidFill>
                <a:latin typeface="RobotoMono Nerd Font"/>
                <a:ea typeface="RobotoMono Nerd Font"/>
                <a:cs typeface="RobotoMono Nerd Font"/>
              </a:rPr>
              <a:t>max</a:t>
            </a:r>
            <a:r>
              <a:rPr sz="11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(</a:t>
            </a:r>
            <a:r>
              <a:rPr sz="1100" b="0" i="0" u="none">
                <a:solidFill>
                  <a:srgbClr val="7AA2F7"/>
                </a:solidFill>
                <a:latin typeface="RobotoMono Nerd Font"/>
                <a:ea typeface="RobotoMono Nerd Font"/>
                <a:cs typeface="RobotoMono Nerd Font"/>
              </a:rPr>
              <a:t>abs</a:t>
            </a:r>
            <a:r>
              <a:rPr sz="11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(</a:t>
            </a:r>
            <a:r>
              <a:rPr sz="11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step</a:t>
            </a:r>
            <a:r>
              <a:rPr sz="11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*</a:t>
            </a:r>
            <a:r>
              <a:rPr sz="11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par</a:t>
            </a:r>
            <a:r>
              <a:rPr sz="11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[[</a:t>
            </a:r>
            <a:r>
              <a:rPr sz="11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i</a:t>
            </a:r>
            <a:r>
              <a:rPr sz="11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]])</a:t>
            </a:r>
            <a:r>
              <a:rPr sz="11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,</a:t>
            </a:r>
            <a:r>
              <a:rPr sz="11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1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step</a:t>
            </a:r>
            <a:r>
              <a:rPr sz="11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) </a:t>
            </a:r>
            <a:r>
              <a:rPr sz="11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+</a:t>
            </a:r>
            <a:r>
              <a:rPr sz="11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100" b="0" i="0" u="none">
                <a:solidFill>
                  <a:srgbClr val="FF9E64"/>
                </a:solidFill>
                <a:latin typeface="RobotoMono Nerd Font"/>
                <a:ea typeface="RobotoMono Nerd Font"/>
                <a:cs typeface="RobotoMono Nerd Font"/>
              </a:rPr>
              <a:t>1e-7</a:t>
            </a:r>
            <a:endParaRPr sz="1100" b="0" i="0" u="none">
              <a:solidFill>
                <a:srgbClr val="FF9E64"/>
              </a:solidFill>
              <a:latin typeface="RobotoMono Nerd Font"/>
              <a:ea typeface="RobotoMono Nerd Font"/>
              <a:cs typeface="RobotoMono Nerd Font"/>
            </a:endParaRPr>
          </a:p>
        </p:txBody>
      </p:sp>
      <p:pic>
        <p:nvPicPr>
          <p:cNvPr id="93189502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555232" y="4543279"/>
            <a:ext cx="3159476" cy="1954244"/>
          </a:xfrm>
          <a:prstGeom prst="rect">
            <a:avLst/>
          </a:prstGeom>
        </p:spPr>
      </p:pic>
      <p:pic>
        <p:nvPicPr>
          <p:cNvPr id="166702758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633558" y="4399351"/>
            <a:ext cx="3589035" cy="2219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949436" name=""/>
          <p:cNvSpPr/>
          <p:nvPr/>
        </p:nvSpPr>
        <p:spPr bwMode="auto">
          <a:xfrm flipH="0" flipV="0">
            <a:off x="258912" y="251564"/>
            <a:ext cx="5038166" cy="2594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pt-BR" sz="1100"/>
              <a:t>Avaliar perfis `A801` com e sem priori:</a:t>
            </a:r>
            <a:endParaRPr sz="1100"/>
          </a:p>
        </p:txBody>
      </p:sp>
      <p:pic>
        <p:nvPicPr>
          <p:cNvPr id="118406144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58912" y="820176"/>
            <a:ext cx="4707685" cy="2905777"/>
          </a:xfrm>
          <a:prstGeom prst="rect">
            <a:avLst/>
          </a:prstGeom>
        </p:spPr>
      </p:pic>
      <p:sp>
        <p:nvSpPr>
          <p:cNvPr id="1593136240" name=""/>
          <p:cNvSpPr/>
          <p:nvPr/>
        </p:nvSpPr>
        <p:spPr bwMode="auto">
          <a:xfrm flipH="0" flipV="0">
            <a:off x="258912" y="511003"/>
            <a:ext cx="5042485" cy="2594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pt-BR" sz="1100"/>
              <a:t>Sem priori:</a:t>
            </a:r>
            <a:endParaRPr sz="1100"/>
          </a:p>
        </p:txBody>
      </p:sp>
      <p:pic>
        <p:nvPicPr>
          <p:cNvPr id="180512060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58912" y="3909078"/>
            <a:ext cx="4707685" cy="2905778"/>
          </a:xfrm>
          <a:prstGeom prst="rect">
            <a:avLst/>
          </a:prstGeom>
        </p:spPr>
      </p:pic>
      <p:sp>
        <p:nvSpPr>
          <p:cNvPr id="1856136648" name=""/>
          <p:cNvSpPr/>
          <p:nvPr/>
        </p:nvSpPr>
        <p:spPr bwMode="auto">
          <a:xfrm flipH="0" flipV="0">
            <a:off x="258912" y="3649638"/>
            <a:ext cx="5044284" cy="2594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pt-BR" sz="1100"/>
              <a:t>Com priori:</a:t>
            </a:r>
            <a:endParaRPr sz="1100"/>
          </a:p>
        </p:txBody>
      </p:sp>
      <p:pic>
        <p:nvPicPr>
          <p:cNvPr id="444415051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929779" y="796429"/>
            <a:ext cx="4664615" cy="2879193"/>
          </a:xfrm>
          <a:prstGeom prst="rect">
            <a:avLst/>
          </a:prstGeom>
        </p:spPr>
      </p:pic>
      <p:pic>
        <p:nvPicPr>
          <p:cNvPr id="224179977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929779" y="3683531"/>
            <a:ext cx="4664615" cy="28791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423259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19035" y="122245"/>
            <a:ext cx="4429640" cy="307312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Correlação com covariáveis</a:t>
            </a:r>
            <a:endParaRPr sz="1200" b="1">
              <a:latin typeface="Arial"/>
              <a:cs typeface="Arial"/>
            </a:endParaRPr>
          </a:p>
        </p:txBody>
      </p:sp>
      <p:sp>
        <p:nvSpPr>
          <p:cNvPr id="353225125" name="PlaceHolder 1"/>
          <p:cNvSpPr>
            <a:spLocks noGrp="1"/>
          </p:cNvSpPr>
          <p:nvPr/>
        </p:nvSpPr>
        <p:spPr bwMode="auto">
          <a:xfrm flipH="0" flipV="0">
            <a:off x="119034" y="429556"/>
            <a:ext cx="1712214" cy="38286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sz="1200" b="0">
                <a:latin typeface="Arial"/>
                <a:cs typeface="Arial"/>
              </a:rPr>
              <a:t>Distância da costa</a:t>
            </a:r>
            <a:endParaRPr sz="1200" b="0">
              <a:latin typeface="Arial"/>
              <a:cs typeface="Arial"/>
            </a:endParaRPr>
          </a:p>
        </p:txBody>
      </p:sp>
      <p:pic>
        <p:nvPicPr>
          <p:cNvPr id="197548341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7897" y="812426"/>
            <a:ext cx="2609102" cy="2609102"/>
          </a:xfrm>
          <a:prstGeom prst="rect">
            <a:avLst/>
          </a:prstGeom>
        </p:spPr>
      </p:pic>
      <p:pic>
        <p:nvPicPr>
          <p:cNvPr id="58950594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964278" y="9336"/>
            <a:ext cx="4437206" cy="2217037"/>
          </a:xfrm>
          <a:prstGeom prst="rect">
            <a:avLst/>
          </a:prstGeom>
        </p:spPr>
      </p:pic>
      <p:pic>
        <p:nvPicPr>
          <p:cNvPr id="54180796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401485" y="9336"/>
            <a:ext cx="4437206" cy="2217037"/>
          </a:xfrm>
          <a:prstGeom prst="rect">
            <a:avLst/>
          </a:prstGeom>
        </p:spPr>
      </p:pic>
      <p:pic>
        <p:nvPicPr>
          <p:cNvPr id="1536880276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2955438" y="2226373"/>
            <a:ext cx="4446046" cy="2221454"/>
          </a:xfrm>
          <a:prstGeom prst="rect">
            <a:avLst/>
          </a:prstGeom>
        </p:spPr>
      </p:pic>
      <p:pic>
        <p:nvPicPr>
          <p:cNvPr id="1903477778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7401485" y="2226373"/>
            <a:ext cx="4437206" cy="2217037"/>
          </a:xfrm>
          <a:prstGeom prst="rect">
            <a:avLst/>
          </a:prstGeom>
        </p:spPr>
      </p:pic>
      <p:pic>
        <p:nvPicPr>
          <p:cNvPr id="777439559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2955438" y="4443411"/>
            <a:ext cx="4446046" cy="2221454"/>
          </a:xfrm>
          <a:prstGeom prst="rect">
            <a:avLst/>
          </a:prstGeom>
        </p:spPr>
      </p:pic>
      <p:pic>
        <p:nvPicPr>
          <p:cNvPr id="1212870087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7401485" y="4445620"/>
            <a:ext cx="4437206" cy="22170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99878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19034" y="122244"/>
            <a:ext cx="4429639" cy="307311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Correlação com covariáveis</a:t>
            </a:r>
            <a:endParaRPr sz="1200" b="1">
              <a:latin typeface="Arial"/>
              <a:cs typeface="Arial"/>
            </a:endParaRPr>
          </a:p>
        </p:txBody>
      </p:sp>
      <p:sp>
        <p:nvSpPr>
          <p:cNvPr id="1459888965" name="PlaceHolder 1"/>
          <p:cNvSpPr>
            <a:spLocks noGrp="1"/>
          </p:cNvSpPr>
          <p:nvPr/>
        </p:nvSpPr>
        <p:spPr bwMode="auto">
          <a:xfrm flipH="0" flipV="0">
            <a:off x="119034" y="429555"/>
            <a:ext cx="1712214" cy="38286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sz="1200" b="0">
                <a:latin typeface="Arial"/>
                <a:cs typeface="Arial"/>
              </a:rPr>
              <a:t>Distância da costa</a:t>
            </a:r>
            <a:endParaRPr sz="1200" b="0">
              <a:latin typeface="Arial"/>
              <a:cs typeface="Arial"/>
            </a:endParaRPr>
          </a:p>
        </p:txBody>
      </p:sp>
      <p:pic>
        <p:nvPicPr>
          <p:cNvPr id="2138520708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57897" y="812425"/>
            <a:ext cx="2609101" cy="2609101"/>
          </a:xfrm>
          <a:prstGeom prst="rect">
            <a:avLst/>
          </a:prstGeom>
        </p:spPr>
      </p:pic>
      <p:pic>
        <p:nvPicPr>
          <p:cNvPr id="499349819" name=""/>
          <p:cNvPicPr>
            <a:picLocks noChangeAspect="1"/>
          </p:cNvPicPr>
          <p:nvPr/>
        </p:nvPicPr>
        <p:blipFill rotWithShape="1">
          <a:blip r:embed="rId4"/>
        </p:blipFill>
        <p:spPr bwMode="auto">
          <a:xfrm flipH="0" flipV="0">
            <a:off x="2964277" y="9335"/>
            <a:ext cx="4437205" cy="2217036"/>
          </a:xfrm>
          <a:prstGeom prst="rect">
            <a:avLst/>
          </a:prstGeom>
        </p:spPr>
      </p:pic>
      <p:pic>
        <p:nvPicPr>
          <p:cNvPr id="2068565958" name=""/>
          <p:cNvPicPr>
            <a:picLocks noChangeAspect="1"/>
          </p:cNvPicPr>
          <p:nvPr/>
        </p:nvPicPr>
        <p:blipFill rotWithShape="1">
          <a:blip r:embed="rId5"/>
        </p:blipFill>
        <p:spPr bwMode="auto">
          <a:xfrm flipH="0" flipV="0">
            <a:off x="7401484" y="9335"/>
            <a:ext cx="4437205" cy="2217036"/>
          </a:xfrm>
          <a:prstGeom prst="rect">
            <a:avLst/>
          </a:prstGeom>
        </p:spPr>
      </p:pic>
      <p:pic>
        <p:nvPicPr>
          <p:cNvPr id="1621645142" name=""/>
          <p:cNvPicPr>
            <a:picLocks noChangeAspect="1"/>
          </p:cNvPicPr>
          <p:nvPr/>
        </p:nvPicPr>
        <p:blipFill rotWithShape="1">
          <a:blip r:embed="rId6"/>
        </p:blipFill>
        <p:spPr bwMode="auto">
          <a:xfrm flipH="0" flipV="0">
            <a:off x="2955438" y="2226372"/>
            <a:ext cx="4446045" cy="2221453"/>
          </a:xfrm>
          <a:prstGeom prst="rect">
            <a:avLst/>
          </a:prstGeom>
        </p:spPr>
      </p:pic>
      <p:pic>
        <p:nvPicPr>
          <p:cNvPr id="1531294106" name=""/>
          <p:cNvPicPr>
            <a:picLocks noChangeAspect="1"/>
          </p:cNvPicPr>
          <p:nvPr/>
        </p:nvPicPr>
        <p:blipFill rotWithShape="1">
          <a:blip r:embed="rId7"/>
        </p:blipFill>
        <p:spPr bwMode="auto">
          <a:xfrm flipH="0" flipV="0">
            <a:off x="7401484" y="2226372"/>
            <a:ext cx="4437205" cy="2217036"/>
          </a:xfrm>
          <a:prstGeom prst="rect">
            <a:avLst/>
          </a:prstGeom>
        </p:spPr>
      </p:pic>
      <p:pic>
        <p:nvPicPr>
          <p:cNvPr id="1902655353" name=""/>
          <p:cNvPicPr>
            <a:picLocks noChangeAspect="1"/>
          </p:cNvPicPr>
          <p:nvPr/>
        </p:nvPicPr>
        <p:blipFill rotWithShape="1">
          <a:blip r:embed="rId8"/>
        </p:blipFill>
        <p:spPr bwMode="auto">
          <a:xfrm flipH="0" flipV="0">
            <a:off x="2955438" y="4443410"/>
            <a:ext cx="4446045" cy="2221453"/>
          </a:xfrm>
          <a:prstGeom prst="rect">
            <a:avLst/>
          </a:prstGeom>
        </p:spPr>
      </p:pic>
      <p:pic>
        <p:nvPicPr>
          <p:cNvPr id="1784968817" name=""/>
          <p:cNvPicPr>
            <a:picLocks noChangeAspect="1"/>
          </p:cNvPicPr>
          <p:nvPr/>
        </p:nvPicPr>
        <p:blipFill rotWithShape="1">
          <a:blip r:embed="rId9"/>
        </p:blipFill>
        <p:spPr bwMode="auto">
          <a:xfrm flipH="0" flipV="0">
            <a:off x="7401484" y="4445619"/>
            <a:ext cx="4437205" cy="22170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525609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59868" y="0"/>
            <a:ext cx="3405187" cy="3405187"/>
          </a:xfrm>
          <a:prstGeom prst="rect">
            <a:avLst/>
          </a:prstGeom>
        </p:spPr>
      </p:pic>
      <p:pic>
        <p:nvPicPr>
          <p:cNvPr id="164875284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248701" y="0"/>
            <a:ext cx="3405187" cy="3405187"/>
          </a:xfrm>
          <a:prstGeom prst="rect">
            <a:avLst/>
          </a:prstGeom>
        </p:spPr>
      </p:pic>
      <p:pic>
        <p:nvPicPr>
          <p:cNvPr id="910187421" name=""/>
          <p:cNvPicPr>
            <a:picLocks noChangeAspect="1"/>
          </p:cNvPicPr>
          <p:nvPr/>
        </p:nvPicPr>
        <p:blipFill rotWithShape="1">
          <a:blip r:embed="rId5"/>
        </p:blipFill>
        <p:spPr bwMode="auto">
          <a:xfrm flipH="0" flipV="0">
            <a:off x="7837534" y="0"/>
            <a:ext cx="3405187" cy="3405187"/>
          </a:xfrm>
          <a:prstGeom prst="rect">
            <a:avLst/>
          </a:prstGeom>
        </p:spPr>
      </p:pic>
      <p:pic>
        <p:nvPicPr>
          <p:cNvPr id="123808569" name=""/>
          <p:cNvPicPr>
            <a:picLocks noChangeAspect="1"/>
          </p:cNvPicPr>
          <p:nvPr/>
        </p:nvPicPr>
        <p:blipFill rotWithShape="1">
          <a:blip r:embed="rId6"/>
        </p:blipFill>
        <p:spPr bwMode="auto">
          <a:xfrm flipH="0" flipV="0">
            <a:off x="659868" y="3286125"/>
            <a:ext cx="3405187" cy="3405187"/>
          </a:xfrm>
          <a:prstGeom prst="rect">
            <a:avLst/>
          </a:prstGeom>
        </p:spPr>
      </p:pic>
      <p:pic>
        <p:nvPicPr>
          <p:cNvPr id="838027331" name=""/>
          <p:cNvPicPr>
            <a:picLocks noChangeAspect="1"/>
          </p:cNvPicPr>
          <p:nvPr/>
        </p:nvPicPr>
        <p:blipFill rotWithShape="1">
          <a:blip r:embed="rId7"/>
        </p:blipFill>
        <p:spPr bwMode="auto">
          <a:xfrm flipH="0" flipV="0">
            <a:off x="4245055" y="3286125"/>
            <a:ext cx="3405187" cy="3405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480103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19034" y="122244"/>
            <a:ext cx="4429639" cy="307311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Resultados </a:t>
            </a:r>
            <a:r>
              <a:rPr sz="1200" b="1">
                <a:latin typeface="Arial"/>
                <a:cs typeface="Arial"/>
              </a:rPr>
              <a:t>ajustes por duração (forma)</a:t>
            </a:r>
            <a:endParaRPr sz="1200" b="1">
              <a:latin typeface="Arial"/>
              <a:cs typeface="Arial"/>
            </a:endParaRPr>
          </a:p>
        </p:txBody>
      </p:sp>
      <p:sp>
        <p:nvSpPr>
          <p:cNvPr id="1461450116" name="PlaceHolder 1"/>
          <p:cNvSpPr>
            <a:spLocks noGrp="1"/>
          </p:cNvSpPr>
          <p:nvPr/>
        </p:nvSpPr>
        <p:spPr bwMode="auto">
          <a:xfrm flipH="0" flipV="0">
            <a:off x="119034" y="429556"/>
            <a:ext cx="5372423" cy="45970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sz="1200" b="0">
                <a:latin typeface="Arial"/>
                <a:ea typeface="Arial"/>
                <a:cs typeface="Arial"/>
              </a:rPr>
              <a:t>L-momentos + IC bootstrap percentil</a:t>
            </a:r>
            <a:endParaRPr sz="1200" b="0">
              <a:latin typeface="Arial"/>
              <a:cs typeface="Arial"/>
            </a:endParaRPr>
          </a:p>
        </p:txBody>
      </p:sp>
      <p:pic>
        <p:nvPicPr>
          <p:cNvPr id="160109258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1054736"/>
            <a:ext cx="6916051" cy="2468523"/>
          </a:xfrm>
          <a:prstGeom prst="rect">
            <a:avLst/>
          </a:prstGeom>
        </p:spPr>
      </p:pic>
      <p:pic>
        <p:nvPicPr>
          <p:cNvPr id="75823482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0" y="4070986"/>
            <a:ext cx="6946666" cy="2479451"/>
          </a:xfrm>
          <a:prstGeom prst="rect">
            <a:avLst/>
          </a:prstGeom>
        </p:spPr>
      </p:pic>
      <p:sp>
        <p:nvSpPr>
          <p:cNvPr id="647439425" name="PlaceHolder 1"/>
          <p:cNvSpPr>
            <a:spLocks noGrp="1"/>
          </p:cNvSpPr>
          <p:nvPr/>
        </p:nvSpPr>
        <p:spPr bwMode="auto">
          <a:xfrm flipH="0" flipV="0">
            <a:off x="119034" y="3611277"/>
            <a:ext cx="5372422" cy="45970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sz="1200" b="0">
                <a:latin typeface="Arial"/>
                <a:ea typeface="Arial"/>
                <a:cs typeface="Arial"/>
              </a:rPr>
              <a:t>GMLE c/ Beta(0, 0.122²) + perfil verossimilhança</a:t>
            </a:r>
            <a:endParaRPr sz="1200" b="0">
              <a:latin typeface="Arial"/>
              <a:cs typeface="Arial"/>
            </a:endParaRPr>
          </a:p>
        </p:txBody>
      </p:sp>
      <p:pic>
        <p:nvPicPr>
          <p:cNvPr id="893010261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131874" y="0"/>
            <a:ext cx="498643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320009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19034" y="122244"/>
            <a:ext cx="4429639" cy="307311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Resultados com as funções finalizadas</a:t>
            </a:r>
            <a:endParaRPr sz="1200" b="1">
              <a:latin typeface="Arial"/>
              <a:cs typeface="Arial"/>
            </a:endParaRPr>
          </a:p>
        </p:txBody>
      </p:sp>
      <p:sp>
        <p:nvSpPr>
          <p:cNvPr id="1409596675" name="PlaceHolder 1"/>
          <p:cNvSpPr>
            <a:spLocks noGrp="1"/>
          </p:cNvSpPr>
          <p:nvPr/>
        </p:nvSpPr>
        <p:spPr bwMode="auto">
          <a:xfrm flipH="0" flipV="0">
            <a:off x="119034" y="581955"/>
            <a:ext cx="5232727" cy="30731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sz="1200" b="0">
                <a:latin typeface="Arial"/>
                <a:ea typeface="Arial"/>
                <a:cs typeface="Arial"/>
              </a:rPr>
              <a:t>Resultados de `parname == “kappa”` (posteriormente seria bom plotar a mesma figura pra todos os parâmetros)</a:t>
            </a:r>
            <a:endParaRPr sz="1200" b="0">
              <a:latin typeface="Arial"/>
              <a:cs typeface="Arial"/>
            </a:endParaRPr>
          </a:p>
        </p:txBody>
      </p:sp>
      <p:pic>
        <p:nvPicPr>
          <p:cNvPr id="67408192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9034" y="1101911"/>
            <a:ext cx="5558970" cy="3174632"/>
          </a:xfrm>
          <a:prstGeom prst="rect">
            <a:avLst/>
          </a:prstGeom>
        </p:spPr>
      </p:pic>
      <p:pic>
        <p:nvPicPr>
          <p:cNvPr id="5399888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029914" y="0"/>
            <a:ext cx="498643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885147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66311" y="0"/>
            <a:ext cx="4986436" cy="6858000"/>
          </a:xfrm>
          <a:prstGeom prst="rect">
            <a:avLst/>
          </a:prstGeom>
        </p:spPr>
      </p:pic>
      <p:pic>
        <p:nvPicPr>
          <p:cNvPr id="45792167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067176" y="0"/>
            <a:ext cx="498643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185784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66717" y="1590247"/>
            <a:ext cx="5601370" cy="3731611"/>
          </a:xfrm>
          <a:prstGeom prst="rect">
            <a:avLst/>
          </a:prstGeom>
        </p:spPr>
      </p:pic>
      <p:pic>
        <p:nvPicPr>
          <p:cNvPr id="191900215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320117" y="1595615"/>
            <a:ext cx="5624440" cy="37469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579498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19034" y="122244"/>
            <a:ext cx="4429639" cy="307311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Resultados com as funções finalizadas</a:t>
            </a:r>
            <a:endParaRPr sz="1200" b="1">
              <a:latin typeface="Arial"/>
              <a:cs typeface="Arial"/>
            </a:endParaRPr>
          </a:p>
        </p:txBody>
      </p:sp>
      <p:sp>
        <p:nvSpPr>
          <p:cNvPr id="784484486" name="PlaceHolder 1"/>
          <p:cNvSpPr>
            <a:spLocks noGrp="1"/>
          </p:cNvSpPr>
          <p:nvPr/>
        </p:nvSpPr>
        <p:spPr bwMode="auto">
          <a:xfrm rot="0" flipH="0" flipV="0">
            <a:off x="118800" y="374400"/>
            <a:ext cx="5440428" cy="914760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sz="1200" b="0">
                <a:latin typeface="Arial"/>
                <a:ea typeface="Arial"/>
                <a:cs typeface="Arial"/>
              </a:rPr>
              <a:t>Análises das curvas Y, ou a(T) e comparações com as observações de y. Y_p foi gerado multiplicando as estimativas dos quantis I_d,p*(d + theta)^H</a:t>
            </a:r>
            <a:r>
              <a:rPr sz="1200" b="0">
                <a:latin typeface="Arial"/>
                <a:cs typeface="Arial"/>
              </a:rPr>
              <a:t>.</a:t>
            </a:r>
            <a:br>
              <a:rPr sz="1200" b="0">
                <a:latin typeface="Arial"/>
                <a:cs typeface="Arial"/>
              </a:rPr>
            </a:br>
            <a:r>
              <a:rPr sz="1200" b="0">
                <a:latin typeface="Arial"/>
                <a:cs typeface="Arial"/>
              </a:rPr>
              <a:t>Os pontos y_p foram gerados fazendo o mesmo, mas utilizando as frequência observadas com posições de plotagem de Weibull, multiplicando-as por (d + theta)^H:</a:t>
            </a:r>
            <a:endParaRPr sz="1200" b="0">
              <a:latin typeface="Arial"/>
              <a:cs typeface="Arial"/>
            </a:endParaRPr>
          </a:p>
        </p:txBody>
      </p:sp>
      <p:pic>
        <p:nvPicPr>
          <p:cNvPr id="159903573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8799" y="1600728"/>
            <a:ext cx="5440428" cy="3624392"/>
          </a:xfrm>
          <a:prstGeom prst="rect">
            <a:avLst/>
          </a:prstGeom>
        </p:spPr>
      </p:pic>
      <p:sp>
        <p:nvSpPr>
          <p:cNvPr id="1274667566" name="PlaceHolder 1"/>
          <p:cNvSpPr>
            <a:spLocks noGrp="1"/>
          </p:cNvSpPr>
          <p:nvPr/>
        </p:nvSpPr>
        <p:spPr bwMode="auto">
          <a:xfrm rot="0" flipH="0" flipV="0">
            <a:off x="271199" y="5289300"/>
            <a:ext cx="5474268" cy="420984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sz="1200" b="0">
                <a:latin typeface="Arial"/>
                <a:ea typeface="Arial"/>
                <a:cs typeface="Arial"/>
              </a:rPr>
              <a:t>A estação A805 possui maior valor de theta, isso significa a maior distância entre Y e I_d,p.</a:t>
            </a:r>
            <a:endParaRPr sz="1200" b="0">
              <a:latin typeface="Arial"/>
              <a:cs typeface="Arial"/>
            </a:endParaRPr>
          </a:p>
        </p:txBody>
      </p:sp>
      <p:sp>
        <p:nvSpPr>
          <p:cNvPr id="59419587" name="PlaceHolder 1"/>
          <p:cNvSpPr>
            <a:spLocks noGrp="1"/>
          </p:cNvSpPr>
          <p:nvPr/>
        </p:nvSpPr>
        <p:spPr bwMode="auto">
          <a:xfrm rot="0" flipH="0" flipV="0">
            <a:off x="6095998" y="374400"/>
            <a:ext cx="5556346" cy="750168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Interpretação</a:t>
            </a:r>
            <a:endParaRPr sz="1200" b="0"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1200" b="0">
                <a:latin typeface="Arial"/>
                <a:ea typeface="Arial"/>
                <a:cs typeface="Arial"/>
              </a:rPr>
              <a:t>A avaliação destes postos pode indicar que, apesar da redução na incerteza observada com as curvas de frequência, tempos de retorno intermediários não são tão bem representados.</a:t>
            </a:r>
            <a:endParaRPr sz="1200" b="0">
              <a:latin typeface="Arial"/>
              <a:cs typeface="Arial"/>
            </a:endParaRPr>
          </a:p>
        </p:txBody>
      </p:sp>
      <p:pic>
        <p:nvPicPr>
          <p:cNvPr id="117149443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745467" y="1600728"/>
            <a:ext cx="5444398" cy="36270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847421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19034" y="122243"/>
            <a:ext cx="4429638" cy="30731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Avaliações com dados </a:t>
            </a:r>
            <a:r>
              <a:rPr sz="1200" b="1">
                <a:highlight>
                  <a:srgbClr val="FFFF00"/>
                </a:highlight>
                <a:latin typeface="Arial"/>
                <a:ea typeface="Arial"/>
                <a:cs typeface="Arial"/>
              </a:rPr>
              <a:t>diários</a:t>
            </a:r>
            <a:endParaRPr sz="1200" b="1">
              <a:latin typeface="Arial"/>
              <a:cs typeface="Arial"/>
            </a:endParaRPr>
          </a:p>
        </p:txBody>
      </p:sp>
      <p:sp>
        <p:nvSpPr>
          <p:cNvPr id="866395732" name="PlaceHolder 1"/>
          <p:cNvSpPr>
            <a:spLocks noGrp="1"/>
          </p:cNvSpPr>
          <p:nvPr/>
        </p:nvSpPr>
        <p:spPr bwMode="auto">
          <a:xfrm rot="0" flipH="0" flipV="0">
            <a:off x="118800" y="374400"/>
            <a:ext cx="5539787" cy="750168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Comparação das estimativas de kappa com L-momentos ao longo de diferentes faixas de duração;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As faixas foram determinadas para conter aproximadamente o mesmo número de postos pluviométricos;</a:t>
            </a:r>
            <a:endParaRPr sz="1200" b="0">
              <a:latin typeface="Arial"/>
              <a:cs typeface="Arial"/>
            </a:endParaRPr>
          </a:p>
        </p:txBody>
      </p:sp>
      <p:pic>
        <p:nvPicPr>
          <p:cNvPr id="1007146325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91617" y="1178209"/>
            <a:ext cx="4682548" cy="2674122"/>
          </a:xfrm>
          <a:prstGeom prst="rect">
            <a:avLst/>
          </a:prstGeom>
        </p:spPr>
      </p:pic>
      <p:sp>
        <p:nvSpPr>
          <p:cNvPr id="80309834" name="PlaceHolder 1"/>
          <p:cNvSpPr>
            <a:spLocks noGrp="1"/>
          </p:cNvSpPr>
          <p:nvPr/>
        </p:nvSpPr>
        <p:spPr bwMode="auto">
          <a:xfrm rot="0" flipH="0" flipV="0">
            <a:off x="298800" y="3962233"/>
            <a:ext cx="5806907" cy="1737720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Séries mais curtas apresentam mediana pouco acima de kappa = 0;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[39,44) grande variabilidade e mediana salta para caudas ainda mais leves;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A partir [44,55) há uma tendência de redução, até que o último grupo [64,105] já apre</a:t>
            </a:r>
            <a:r>
              <a:rPr sz="1200" b="0">
                <a:latin typeface="Arial"/>
                <a:ea typeface="Arial"/>
                <a:cs typeface="Arial"/>
              </a:rPr>
              <a:t>senta mediana negativa e a menor variabilidade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endParaRPr sz="1200" b="0">
              <a:latin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Espacialmente, onde estão estas estações? Pode haver algum comportamento regional mascarando este comportamento?</a:t>
            </a:r>
            <a:br>
              <a:rPr sz="1200" b="0">
                <a:latin typeface="Arial"/>
                <a:ea typeface="Arial"/>
                <a:cs typeface="Arial"/>
              </a:rPr>
            </a:br>
            <a:r>
              <a:rPr sz="1200" b="0">
                <a:highlight>
                  <a:srgbClr val="FFFF00"/>
                </a:highlight>
                <a:latin typeface="Arial"/>
                <a:ea typeface="Arial"/>
                <a:cs typeface="Arial"/>
              </a:rPr>
              <a:t>As estações com séries longas aparentam estar bem distribuídas</a:t>
            </a:r>
            <a:r>
              <a:rPr sz="1200" b="0">
                <a:latin typeface="Arial"/>
                <a:ea typeface="Arial"/>
                <a:cs typeface="Arial"/>
              </a:rPr>
              <a:t> na região e não concentradas em um único local, o que poderia enviesar a avaliação dos boxplots</a:t>
            </a:r>
            <a:endParaRPr sz="1200" b="0">
              <a:latin typeface="Arial"/>
              <a:ea typeface="Arial"/>
              <a:cs typeface="Arial"/>
            </a:endParaRPr>
          </a:p>
        </p:txBody>
      </p:sp>
      <p:pic>
        <p:nvPicPr>
          <p:cNvPr id="187336563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018587" y="480316"/>
            <a:ext cx="6007266" cy="60072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059195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19034" y="122243"/>
            <a:ext cx="4429638" cy="30731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Avaliações com dados </a:t>
            </a:r>
            <a:r>
              <a:rPr sz="1200" b="1">
                <a:highlight>
                  <a:srgbClr val="FFFF00"/>
                </a:highlight>
                <a:latin typeface="Arial"/>
                <a:ea typeface="Arial"/>
                <a:cs typeface="Arial"/>
              </a:rPr>
              <a:t>diários</a:t>
            </a:r>
            <a:r>
              <a:rPr sz="1200" b="0">
                <a:latin typeface="Arial"/>
                <a:cs typeface="Arial"/>
              </a:rPr>
              <a:t>: viés</a:t>
            </a:r>
            <a:endParaRPr sz="1200" b="0">
              <a:latin typeface="Arial"/>
              <a:cs typeface="Arial"/>
            </a:endParaRPr>
          </a:p>
        </p:txBody>
      </p:sp>
      <p:sp>
        <p:nvSpPr>
          <p:cNvPr id="406131765" name="PlaceHolder 1"/>
          <p:cNvSpPr>
            <a:spLocks noGrp="1"/>
          </p:cNvSpPr>
          <p:nvPr/>
        </p:nvSpPr>
        <p:spPr bwMode="auto">
          <a:xfrm rot="0" flipH="0" flipV="0">
            <a:off x="118800" y="374400"/>
            <a:ext cx="5794304" cy="2066903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Escolher séries longas (N &gt; n anos) e simular amostras menores;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Patel (2026): N &gt; 50 p/ estimativas não enviesadas de kappa;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Papalexiou (2013): N &gt;= 80 anos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endParaRPr sz="1200" b="0">
              <a:latin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O único padrão perceptível é o de redução na variabilidade com subamostras maiores;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Em muitos casos a mediana representa bem a estimativa original de kappa;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Existem tendências de kappas mais pesados com séries mais longas, mas também kappas mais leves, no geral, todos muito próximos de 0;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2" indent="-217792">
              <a:buFont typeface="Arial"/>
              <a:buChar char="•"/>
              <a:defRPr/>
            </a:pPr>
            <a:endParaRPr sz="1200" b="0">
              <a:latin typeface="Arial"/>
              <a:ea typeface="Arial"/>
              <a:cs typeface="Arial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E se juntar todas as simulações no mesmo bolo?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endParaRPr sz="1200" b="0">
              <a:latin typeface="Arial"/>
              <a:cs typeface="Arial"/>
            </a:endParaRPr>
          </a:p>
        </p:txBody>
      </p:sp>
      <p:pic>
        <p:nvPicPr>
          <p:cNvPr id="145482711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347530" y="0"/>
            <a:ext cx="4799438" cy="6858000"/>
          </a:xfrm>
          <a:prstGeom prst="rect">
            <a:avLst/>
          </a:prstGeom>
        </p:spPr>
      </p:pic>
      <p:pic>
        <p:nvPicPr>
          <p:cNvPr id="75264075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18799" y="2282553"/>
            <a:ext cx="4803533" cy="2743215"/>
          </a:xfrm>
          <a:prstGeom prst="rect">
            <a:avLst/>
          </a:prstGeom>
        </p:spPr>
      </p:pic>
      <p:sp>
        <p:nvSpPr>
          <p:cNvPr id="290873970" name="PlaceHolder 1"/>
          <p:cNvSpPr>
            <a:spLocks noGrp="1"/>
          </p:cNvSpPr>
          <p:nvPr/>
        </p:nvSpPr>
        <p:spPr bwMode="auto">
          <a:xfrm rot="0" flipH="0" flipV="0">
            <a:off x="119034" y="5094649"/>
            <a:ext cx="5931105" cy="914760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marL="217792" indent="-217792">
              <a:buFont typeface="Arial"/>
              <a:buChar char="•"/>
              <a:defRPr/>
            </a:pPr>
            <a:r>
              <a:rPr sz="1200" b="0">
                <a:latin typeface="Arial"/>
                <a:cs typeface="Arial"/>
              </a:rPr>
              <a:t>Agrupar as estações mostra a mesma tendência de diminuição de variabilidade, mas não de kappas mais negativos;</a:t>
            </a:r>
            <a:endParaRPr sz="1200" b="0">
              <a:latin typeface="Arial"/>
              <a:cs typeface="Arial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sz="1200" b="0">
                <a:latin typeface="Arial"/>
                <a:cs typeface="Arial"/>
              </a:rPr>
              <a:t>É importante notar que há somente 3 estações no grupo que atendem a N &gt; 90;</a:t>
            </a:r>
            <a:endParaRPr sz="1200" b="0">
              <a:latin typeface="Arial"/>
              <a:cs typeface="Arial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sz="1200" b="0">
                <a:latin typeface="Arial"/>
                <a:cs typeface="Arial"/>
              </a:rPr>
              <a:t>Observa-se uma pequena elevação nas caixas principais dos boxplots;</a:t>
            </a:r>
            <a:endParaRPr sz="1200" b="0">
              <a:latin typeface="Arial"/>
              <a:cs typeface="Arial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sz="1200" b="0">
                <a:latin typeface="Arial"/>
                <a:cs typeface="Arial"/>
              </a:rPr>
              <a:t>A mediana das estimativas de kappa original é igual a </a:t>
            </a:r>
            <a:r>
              <a:rPr lang="pt-BR" sz="12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-0.02758928</a:t>
            </a:r>
            <a:endParaRPr sz="1200" b="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22722" name=""/>
          <p:cNvSpPr txBox="1"/>
          <p:nvPr/>
        </p:nvSpPr>
        <p:spPr bwMode="auto">
          <a:xfrm rot="0" flipH="0" flipV="0">
            <a:off x="403247" y="359832"/>
            <a:ext cx="5468128" cy="2834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 sz="1200"/>
              <a:t>Comparação entre modelos: rRMSE dos quantis: </a:t>
            </a:r>
            <a:br>
              <a:rPr lang="pt-BR" sz="1200"/>
            </a:br>
            <a:r>
              <a:rPr lang="pt-BR" sz="1200"/>
              <a:t>f</a:t>
            </a:r>
            <a:r>
              <a:rPr lang="pt-BR" sz="1200"/>
              <a:t>requência “observada” (Weibull) vs. estimada.</a:t>
            </a:r>
            <a:endParaRPr lang="pt-BR" sz="1200"/>
          </a:p>
          <a:p>
            <a:pPr>
              <a:defRPr/>
            </a:pPr>
            <a:endParaRPr lang="pt-BR" sz="1200"/>
          </a:p>
          <a:p>
            <a:pPr marL="195764" indent="-195764">
              <a:buFont typeface="Arial"/>
              <a:buChar char="•"/>
              <a:defRPr/>
            </a:pPr>
            <a:r>
              <a:rPr lang="pt-BR" sz="1200"/>
              <a:t>Ajuste da GEV por durações: “GEV” — </a:t>
            </a:r>
            <a:r>
              <a:rPr lang="pt-BR" sz="1200">
                <a:highlight>
                  <a:srgbClr val="FFFF00"/>
                </a:highlight>
              </a:rPr>
              <a:t>cores </a:t>
            </a:r>
            <a:r>
              <a:rPr lang="pt-BR" sz="1200"/>
              <a:t>mais </a:t>
            </a:r>
            <a:r>
              <a:rPr lang="pt-BR" sz="1200">
                <a:highlight>
                  <a:srgbClr val="FFFF00"/>
                </a:highlight>
              </a:rPr>
              <a:t>claras</a:t>
            </a:r>
            <a:endParaRPr lang="pt-BR" sz="1200"/>
          </a:p>
          <a:p>
            <a:pPr marL="595814" lvl="1" indent="-195764">
              <a:buFont typeface="Arial"/>
              <a:buChar char="•"/>
              <a:defRPr/>
            </a:pPr>
            <a:r>
              <a:rPr lang="pt-BR" sz="1200"/>
              <a:t>Sem informação </a:t>
            </a:r>
            <a:r>
              <a:rPr lang="pt-BR" sz="1200" i="1"/>
              <a:t>a priori</a:t>
            </a:r>
            <a:r>
              <a:rPr lang="pt-BR" sz="1200"/>
              <a:t>: MLE</a:t>
            </a:r>
            <a:endParaRPr lang="pt-BR" sz="1200"/>
          </a:p>
          <a:p>
            <a:pPr marL="595814" lvl="1" indent="-195764">
              <a:buFont typeface="Arial"/>
              <a:buChar char="•"/>
              <a:defRPr/>
            </a:pPr>
            <a:r>
              <a:rPr lang="pt-BR" sz="1200"/>
              <a:t>Com informação </a:t>
            </a:r>
            <a:r>
              <a:rPr lang="pt-BR" sz="1200" i="1"/>
              <a:t>a priori</a:t>
            </a:r>
            <a:r>
              <a:rPr lang="pt-BR" sz="1200" i="0"/>
              <a:t> regional: RGMLE</a:t>
            </a:r>
            <a:endParaRPr lang="pt-BR" sz="1200" i="0"/>
          </a:p>
          <a:p>
            <a:pPr marL="595814" lvl="1" indent="-195764">
              <a:buFont typeface="Arial"/>
              <a:buChar char="•"/>
              <a:defRPr/>
            </a:pPr>
            <a:endParaRPr lang="pt-BR" sz="1200" i="0"/>
          </a:p>
          <a:p>
            <a:pPr marL="195764" lvl="0" indent="-195764">
              <a:buFont typeface="Arial"/>
              <a:buChar char="•"/>
              <a:defRPr/>
            </a:pPr>
            <a:r>
              <a:rPr lang="pt-BR" sz="1200" i="0"/>
              <a:t>Ajuste da GEV com invariância de escala:</a:t>
            </a:r>
            <a:r>
              <a:rPr lang="pt-BR" sz="1200" i="0"/>
              <a:t> “d-GEV” — </a:t>
            </a:r>
            <a:r>
              <a:rPr lang="pt-BR" sz="1200" i="0">
                <a:highlight>
                  <a:srgbClr val="FFFF00"/>
                </a:highlight>
              </a:rPr>
              <a:t>cores </a:t>
            </a:r>
            <a:r>
              <a:rPr lang="pt-BR" sz="1200" i="0"/>
              <a:t>mais </a:t>
            </a:r>
            <a:r>
              <a:rPr lang="pt-BR" sz="1200" i="0">
                <a:highlight>
                  <a:srgbClr val="FFFF00"/>
                </a:highlight>
              </a:rPr>
              <a:t>escuras</a:t>
            </a:r>
            <a:endParaRPr lang="pt-BR" sz="1200" i="0"/>
          </a:p>
          <a:p>
            <a:pPr marL="595814" lvl="1" indent="-195764">
              <a:buFont typeface="Arial"/>
              <a:buChar char="•"/>
              <a:defRPr/>
            </a:pPr>
            <a:r>
              <a:rPr lang="pt-BR" sz="1200" i="0"/>
              <a:t>Sem informação</a:t>
            </a:r>
            <a:r>
              <a:rPr lang="pt-BR" sz="1200" i="0"/>
              <a:t> </a:t>
            </a:r>
            <a:r>
              <a:rPr lang="pt-BR" sz="1200" i="1"/>
              <a:t>a priori</a:t>
            </a:r>
            <a:r>
              <a:rPr lang="pt-BR" sz="1200" i="0"/>
              <a:t>: MLE</a:t>
            </a:r>
            <a:endParaRPr lang="pt-BR" sz="1200" i="0"/>
          </a:p>
          <a:p>
            <a:pPr marL="595814" lvl="1" indent="-195764">
              <a:buFont typeface="Arial"/>
              <a:buChar char="•"/>
              <a:defRPr/>
            </a:pPr>
            <a:r>
              <a:rPr lang="pt-BR" sz="1200" i="0"/>
              <a:t>Com informação </a:t>
            </a:r>
            <a:r>
              <a:rPr lang="pt-BR" sz="1200" i="1"/>
              <a:t>a priori </a:t>
            </a:r>
            <a:r>
              <a:rPr lang="pt-BR" sz="1200" i="0"/>
              <a:t>regional: RGMLE</a:t>
            </a:r>
            <a:endParaRPr lang="pt-BR" sz="1200" i="0"/>
          </a:p>
          <a:p>
            <a:pPr marL="595814" lvl="1" indent="-195764">
              <a:buFont typeface="Arial"/>
              <a:buChar char="•"/>
              <a:defRPr/>
            </a:pPr>
            <a:endParaRPr sz="1200" i="0"/>
          </a:p>
          <a:p>
            <a:pPr lvl="1">
              <a:defRPr/>
            </a:pPr>
            <a:r>
              <a:rPr lang="pt-BR" sz="1200" i="0"/>
              <a:t>Primeiras impressões — usando posição de </a:t>
            </a:r>
            <a:r>
              <a:rPr lang="pt-BR" sz="1200" i="0">
                <a:highlight>
                  <a:srgbClr val="FFFF00"/>
                </a:highlight>
              </a:rPr>
              <a:t>Weibull</a:t>
            </a:r>
            <a:r>
              <a:rPr lang="pt-BR" sz="1200" i="0"/>
              <a:t>:</a:t>
            </a:r>
            <a:endParaRPr lang="pt-BR" sz="1200" i="0"/>
          </a:p>
          <a:p>
            <a:pPr lvl="1">
              <a:defRPr/>
            </a:pPr>
            <a:endParaRPr lang="pt-BR" sz="1200" i="0"/>
          </a:p>
          <a:p>
            <a:pPr marL="217793" lvl="1" indent="-217793">
              <a:buFont typeface="Arial"/>
              <a:buChar char="•"/>
              <a:defRPr/>
            </a:pPr>
            <a:r>
              <a:rPr lang="pt-BR" sz="1200" i="0"/>
              <a:t>Modelo c/ menor rRMSE geral: GEV + RGMLE</a:t>
            </a:r>
            <a:endParaRPr lang="pt-BR" sz="1200" i="0"/>
          </a:p>
          <a:p>
            <a:pPr marL="217793" lvl="1" indent="-217793">
              <a:buFont typeface="Arial"/>
              <a:buChar char="•"/>
              <a:defRPr/>
            </a:pPr>
            <a:endParaRPr sz="1200" i="0"/>
          </a:p>
        </p:txBody>
      </p:sp>
      <p:sp>
        <p:nvSpPr>
          <p:cNvPr id="1881709488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19034" y="122242"/>
            <a:ext cx="4429638" cy="307309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Avaliações com dados </a:t>
            </a:r>
            <a:r>
              <a:rPr sz="1200" b="1">
                <a:highlight>
                  <a:srgbClr val="FFFF00"/>
                </a:highlight>
                <a:latin typeface="Arial"/>
                <a:ea typeface="Arial"/>
                <a:cs typeface="Arial"/>
              </a:rPr>
              <a:t>subdiários</a:t>
            </a:r>
            <a:endParaRPr sz="1200" b="1">
              <a:latin typeface="Arial"/>
              <a:cs typeface="Arial"/>
            </a:endParaRPr>
          </a:p>
        </p:txBody>
      </p:sp>
      <p:pic>
        <p:nvPicPr>
          <p:cNvPr id="119151287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50870" y="211666"/>
            <a:ext cx="2828925" cy="876299"/>
          </a:xfrm>
          <a:prstGeom prst="rect">
            <a:avLst/>
          </a:prstGeom>
        </p:spPr>
      </p:pic>
      <p:pic>
        <p:nvPicPr>
          <p:cNvPr id="39632097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116358" y="359833"/>
            <a:ext cx="2901974" cy="652381"/>
          </a:xfrm>
          <a:prstGeom prst="rect">
            <a:avLst/>
          </a:prstGeom>
        </p:spPr>
      </p:pic>
      <p:pic>
        <p:nvPicPr>
          <p:cNvPr id="142064402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4850869" y="2004850"/>
            <a:ext cx="7118964" cy="47473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204533" name=""/>
          <p:cNvSpPr txBox="1"/>
          <p:nvPr/>
        </p:nvSpPr>
        <p:spPr bwMode="auto">
          <a:xfrm rot="0" flipH="0" flipV="0">
            <a:off x="403247" y="359832"/>
            <a:ext cx="5636608" cy="4480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 sz="1200"/>
              <a:t>Comparação entre modelos: rRMSE dos quantis: </a:t>
            </a:r>
            <a:br>
              <a:rPr lang="pt-BR" sz="1200"/>
            </a:br>
            <a:r>
              <a:rPr lang="pt-BR" sz="1200"/>
              <a:t>f</a:t>
            </a:r>
            <a:r>
              <a:rPr lang="pt-BR" sz="1200"/>
              <a:t>requência “observada” (Weibull) vs. estimada.</a:t>
            </a:r>
            <a:endParaRPr lang="pt-BR" sz="1200"/>
          </a:p>
          <a:p>
            <a:pPr>
              <a:defRPr/>
            </a:pPr>
            <a:endParaRPr lang="pt-BR" sz="1200"/>
          </a:p>
          <a:p>
            <a:pPr marL="195763" indent="-195763">
              <a:buFont typeface="Arial"/>
              <a:buChar char="•"/>
              <a:defRPr/>
            </a:pPr>
            <a:r>
              <a:rPr lang="pt-BR" sz="1200"/>
              <a:t>Ajuste da GEV por durações: “GEV” — </a:t>
            </a:r>
            <a:r>
              <a:rPr lang="pt-BR" sz="1200">
                <a:highlight>
                  <a:srgbClr val="FFFF00"/>
                </a:highlight>
              </a:rPr>
              <a:t>cores </a:t>
            </a:r>
            <a:r>
              <a:rPr lang="pt-BR" sz="1200"/>
              <a:t>mais </a:t>
            </a:r>
            <a:r>
              <a:rPr lang="pt-BR" sz="1200">
                <a:highlight>
                  <a:srgbClr val="FFFF00"/>
                </a:highlight>
              </a:rPr>
              <a:t>claras</a:t>
            </a:r>
            <a:endParaRPr lang="pt-BR" sz="1200"/>
          </a:p>
          <a:p>
            <a:pPr marL="595813" lvl="1" indent="-195763">
              <a:buFont typeface="Arial"/>
              <a:buChar char="•"/>
              <a:defRPr/>
            </a:pPr>
            <a:r>
              <a:rPr lang="pt-BR" sz="1200"/>
              <a:t>Sem informação </a:t>
            </a:r>
            <a:r>
              <a:rPr lang="pt-BR" sz="1200" i="1"/>
              <a:t>a priori</a:t>
            </a:r>
            <a:r>
              <a:rPr lang="pt-BR" sz="1200"/>
              <a:t>: MLE</a:t>
            </a:r>
            <a:endParaRPr lang="pt-BR" sz="1200"/>
          </a:p>
          <a:p>
            <a:pPr marL="595813" lvl="1" indent="-195763">
              <a:buFont typeface="Arial"/>
              <a:buChar char="•"/>
              <a:defRPr/>
            </a:pPr>
            <a:r>
              <a:rPr lang="pt-BR" sz="1200"/>
              <a:t>Com informação </a:t>
            </a:r>
            <a:r>
              <a:rPr lang="pt-BR" sz="1200" i="1"/>
              <a:t>a priori</a:t>
            </a:r>
            <a:r>
              <a:rPr lang="pt-BR" sz="1200" i="0"/>
              <a:t> regional: RGMLE</a:t>
            </a:r>
            <a:endParaRPr lang="pt-BR" sz="1200" i="0"/>
          </a:p>
          <a:p>
            <a:pPr marL="595813" lvl="1" indent="-195763">
              <a:buFont typeface="Arial"/>
              <a:buChar char="•"/>
              <a:defRPr/>
            </a:pPr>
            <a:endParaRPr lang="pt-BR" sz="1200" i="0"/>
          </a:p>
          <a:p>
            <a:pPr marL="195763" lvl="0" indent="-195763">
              <a:buFont typeface="Arial"/>
              <a:buChar char="•"/>
              <a:defRPr/>
            </a:pPr>
            <a:r>
              <a:rPr lang="pt-BR" sz="1200" i="0"/>
              <a:t>Ajuste da GEV com invariância de escala:</a:t>
            </a:r>
            <a:r>
              <a:rPr lang="pt-BR" sz="1200" i="0"/>
              <a:t> “d-GEV” — </a:t>
            </a:r>
            <a:r>
              <a:rPr lang="pt-BR" sz="1200" i="0">
                <a:highlight>
                  <a:srgbClr val="FFFF00"/>
                </a:highlight>
              </a:rPr>
              <a:t>cores </a:t>
            </a:r>
            <a:r>
              <a:rPr lang="pt-BR" sz="1200" i="0"/>
              <a:t>mais </a:t>
            </a:r>
            <a:r>
              <a:rPr lang="pt-BR" sz="1200" i="0">
                <a:highlight>
                  <a:srgbClr val="FFFF00"/>
                </a:highlight>
              </a:rPr>
              <a:t>escuras</a:t>
            </a:r>
            <a:endParaRPr lang="pt-BR" sz="1200" i="0"/>
          </a:p>
          <a:p>
            <a:pPr marL="595813" lvl="1" indent="-195763">
              <a:buFont typeface="Arial"/>
              <a:buChar char="•"/>
              <a:defRPr/>
            </a:pPr>
            <a:r>
              <a:rPr lang="pt-BR" sz="1200" i="0"/>
              <a:t>Sem informação</a:t>
            </a:r>
            <a:r>
              <a:rPr lang="pt-BR" sz="1200" i="0"/>
              <a:t> </a:t>
            </a:r>
            <a:r>
              <a:rPr lang="pt-BR" sz="1200" i="1"/>
              <a:t>a priori</a:t>
            </a:r>
            <a:r>
              <a:rPr lang="pt-BR" sz="1200" i="0"/>
              <a:t>: MLE</a:t>
            </a:r>
            <a:endParaRPr lang="pt-BR" sz="1200" i="0"/>
          </a:p>
          <a:p>
            <a:pPr marL="595813" lvl="1" indent="-195763">
              <a:buFont typeface="Arial"/>
              <a:buChar char="•"/>
              <a:defRPr/>
            </a:pPr>
            <a:r>
              <a:rPr lang="pt-BR" sz="1200" i="0"/>
              <a:t>Com informação </a:t>
            </a:r>
            <a:r>
              <a:rPr lang="pt-BR" sz="1200" i="1"/>
              <a:t>a priori </a:t>
            </a:r>
            <a:r>
              <a:rPr lang="pt-BR" sz="1200" i="0"/>
              <a:t>regional: RGMLE</a:t>
            </a:r>
            <a:endParaRPr lang="pt-BR" sz="1200" i="0"/>
          </a:p>
          <a:p>
            <a:pPr marL="595813" lvl="1" indent="-195763">
              <a:buFont typeface="Arial"/>
              <a:buChar char="•"/>
              <a:defRPr/>
            </a:pPr>
            <a:endParaRPr sz="1200" i="0"/>
          </a:p>
          <a:p>
            <a:pPr lvl="1">
              <a:defRPr/>
            </a:pPr>
            <a:r>
              <a:rPr lang="pt-BR" sz="1200" i="0"/>
              <a:t>Primeiras impressões:</a:t>
            </a:r>
            <a:endParaRPr lang="pt-BR" sz="1200" i="0"/>
          </a:p>
          <a:p>
            <a:pPr lvl="1">
              <a:defRPr/>
            </a:pPr>
            <a:endParaRPr lang="pt-BR" sz="1200" i="0"/>
          </a:p>
          <a:p>
            <a:pPr marL="217792" lvl="1" indent="-217792">
              <a:buFont typeface="Arial"/>
              <a:buChar char="•"/>
              <a:defRPr/>
            </a:pPr>
            <a:r>
              <a:rPr lang="pt-BR" sz="1200" i="0"/>
              <a:t>Modelo c/ menor rRMSE geral: GEV + RGMLE</a:t>
            </a:r>
            <a:endParaRPr lang="pt-BR" sz="1200" i="0"/>
          </a:p>
          <a:p>
            <a:pPr marL="217792" lvl="1" indent="-217792">
              <a:buFont typeface="Arial"/>
              <a:buChar char="•"/>
              <a:defRPr/>
            </a:pPr>
            <a:endParaRPr lang="pt-BR" sz="1200" i="0"/>
          </a:p>
          <a:p>
            <a:pPr marL="217792" lvl="1" indent="-217792">
              <a:buFont typeface="Arial"/>
              <a:buChar char="•"/>
              <a:defRPr/>
            </a:pPr>
            <a:r>
              <a:rPr lang="pt-BR" sz="1200" i="0"/>
              <a:t>Posição de </a:t>
            </a:r>
            <a:r>
              <a:rPr lang="pt-BR" sz="1200" i="0">
                <a:highlight>
                  <a:srgbClr val="FFFF00"/>
                </a:highlight>
              </a:rPr>
              <a:t>Cunnane</a:t>
            </a:r>
            <a:r>
              <a:rPr lang="pt-BR" sz="1200" i="0"/>
              <a:t> introduz a = 0.4, aumentando o tempo </a:t>
            </a:r>
            <a:br>
              <a:rPr lang="pt-BR" sz="1200" i="0"/>
            </a:br>
            <a:r>
              <a:rPr lang="pt-BR" sz="1200" i="0"/>
              <a:t>de retorno estimado. Isso aparenta reduzir os rRMSEs das</a:t>
            </a:r>
            <a:br>
              <a:rPr lang="pt-BR" sz="1200" i="0"/>
            </a:br>
            <a:r>
              <a:rPr lang="pt-BR" sz="1200" i="0"/>
              <a:t>estações, indicando que o geral da GEV/d-GEV ocorre</a:t>
            </a:r>
            <a:br>
              <a:rPr lang="pt-BR" sz="1200" i="0"/>
            </a:br>
            <a:r>
              <a:rPr lang="pt-BR" sz="1200" i="0"/>
              <a:t>quando os tempos de retorno associados às observações</a:t>
            </a:r>
            <a:br>
              <a:rPr lang="pt-BR" sz="1200" i="0"/>
            </a:br>
            <a:r>
              <a:rPr lang="pt-BR" sz="1200" i="0"/>
              <a:t>são maiores;</a:t>
            </a:r>
            <a:br>
              <a:rPr lang="pt-BR" sz="1200" i="0"/>
            </a:br>
            <a:br>
              <a:rPr lang="pt-BR" sz="1200" i="0"/>
            </a:br>
            <a:r>
              <a:rPr lang="pt-BR" sz="1200" i="0"/>
              <a:t>ex. A801 — 19 anos — max(imax) = 47.6 mm/h (d = 1 h)</a:t>
            </a:r>
            <a:br>
              <a:rPr lang="pt-BR" sz="1200" i="0"/>
            </a:br>
            <a:r>
              <a:rPr lang="pt-BR" sz="1200" i="0"/>
              <a:t>Weibull: (19 + 1)/1 = Tr = 20 anos</a:t>
            </a:r>
            <a:br>
              <a:rPr lang="pt-BR" sz="1200" i="0"/>
            </a:br>
            <a:r>
              <a:rPr lang="pt-BR" sz="1200" i="0"/>
              <a:t>Cunnane: (19 + 0.2)/(</a:t>
            </a:r>
            <a:r>
              <a:rPr lang="pt-BR" sz="1200" i="0"/>
              <a:t>1 - 0.4) = Tr = 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 anos</a:t>
            </a:r>
            <a:endParaRPr lang="pt-BR" sz="1200" i="0"/>
          </a:p>
        </p:txBody>
      </p:sp>
      <p:sp>
        <p:nvSpPr>
          <p:cNvPr id="1753570620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19034" y="122241"/>
            <a:ext cx="4429638" cy="307308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Avaliações com dados </a:t>
            </a:r>
            <a:r>
              <a:rPr sz="1200" b="1">
                <a:highlight>
                  <a:srgbClr val="FFFF00"/>
                </a:highlight>
                <a:latin typeface="Arial"/>
                <a:ea typeface="Arial"/>
                <a:cs typeface="Arial"/>
              </a:rPr>
              <a:t>subdiários</a:t>
            </a:r>
            <a:endParaRPr sz="1200" b="1">
              <a:latin typeface="Arial"/>
              <a:cs typeface="Arial"/>
            </a:endParaRPr>
          </a:p>
        </p:txBody>
      </p:sp>
      <p:pic>
        <p:nvPicPr>
          <p:cNvPr id="9139153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50869" y="211665"/>
            <a:ext cx="2828925" cy="876298"/>
          </a:xfrm>
          <a:prstGeom prst="rect">
            <a:avLst/>
          </a:prstGeom>
        </p:spPr>
      </p:pic>
      <p:pic>
        <p:nvPicPr>
          <p:cNvPr id="84106040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116356" y="359832"/>
            <a:ext cx="2901973" cy="652380"/>
          </a:xfrm>
          <a:prstGeom prst="rect">
            <a:avLst/>
          </a:prstGeom>
        </p:spPr>
      </p:pic>
      <p:pic>
        <p:nvPicPr>
          <p:cNvPr id="115732352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4850869" y="2004850"/>
            <a:ext cx="7118964" cy="4747316"/>
          </a:xfrm>
          <a:prstGeom prst="rect">
            <a:avLst/>
          </a:prstGeom>
        </p:spPr>
      </p:pic>
      <p:pic>
        <p:nvPicPr>
          <p:cNvPr id="1152895916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4850869" y="2004850"/>
            <a:ext cx="7118964" cy="47473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560012" name=""/>
          <p:cNvSpPr txBox="1"/>
          <p:nvPr/>
        </p:nvSpPr>
        <p:spPr bwMode="auto">
          <a:xfrm rot="0" flipH="0" flipV="0">
            <a:off x="403247" y="359832"/>
            <a:ext cx="5541208" cy="5029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 sz="1200"/>
              <a:t>Comparação entre modelos: rRMSE dos quantis: </a:t>
            </a:r>
            <a:br>
              <a:rPr lang="pt-BR" sz="1200"/>
            </a:br>
            <a:r>
              <a:rPr lang="pt-BR" sz="1200"/>
              <a:t>f</a:t>
            </a:r>
            <a:r>
              <a:rPr lang="pt-BR" sz="1200"/>
              <a:t>requência “observada” (Weibull) vs. estimada.</a:t>
            </a:r>
            <a:endParaRPr lang="pt-BR" sz="1200"/>
          </a:p>
          <a:p>
            <a:pPr>
              <a:defRPr/>
            </a:pPr>
            <a:endParaRPr lang="pt-BR" sz="1200"/>
          </a:p>
          <a:p>
            <a:pPr marL="195763" indent="-195763">
              <a:buFont typeface="Arial"/>
              <a:buChar char="•"/>
              <a:defRPr/>
            </a:pPr>
            <a:r>
              <a:rPr lang="pt-BR" sz="1200"/>
              <a:t>Ajuste da GEV por durações: “GEV” — </a:t>
            </a:r>
            <a:r>
              <a:rPr lang="pt-BR" sz="1200">
                <a:highlight>
                  <a:srgbClr val="FFFF00"/>
                </a:highlight>
              </a:rPr>
              <a:t>cores </a:t>
            </a:r>
            <a:r>
              <a:rPr lang="pt-BR" sz="1200"/>
              <a:t>mais </a:t>
            </a:r>
            <a:r>
              <a:rPr lang="pt-BR" sz="1200">
                <a:highlight>
                  <a:srgbClr val="FFFF00"/>
                </a:highlight>
              </a:rPr>
              <a:t>claras</a:t>
            </a:r>
            <a:endParaRPr lang="pt-BR" sz="1200"/>
          </a:p>
          <a:p>
            <a:pPr marL="595813" lvl="1" indent="-195763">
              <a:buFont typeface="Arial"/>
              <a:buChar char="•"/>
              <a:defRPr/>
            </a:pPr>
            <a:r>
              <a:rPr lang="pt-BR" sz="1200"/>
              <a:t>Sem informação </a:t>
            </a:r>
            <a:r>
              <a:rPr lang="pt-BR" sz="1200" i="1"/>
              <a:t>a priori</a:t>
            </a:r>
            <a:r>
              <a:rPr lang="pt-BR" sz="1200"/>
              <a:t>: MLE</a:t>
            </a:r>
            <a:endParaRPr lang="pt-BR" sz="1200"/>
          </a:p>
          <a:p>
            <a:pPr marL="595813" lvl="1" indent="-195763">
              <a:buFont typeface="Arial"/>
              <a:buChar char="•"/>
              <a:defRPr/>
            </a:pPr>
            <a:r>
              <a:rPr lang="pt-BR" sz="1200"/>
              <a:t>Com informação </a:t>
            </a:r>
            <a:r>
              <a:rPr lang="pt-BR" sz="1200" i="1"/>
              <a:t>a priori</a:t>
            </a:r>
            <a:r>
              <a:rPr lang="pt-BR" sz="1200" i="0"/>
              <a:t> regional: RGMLE</a:t>
            </a:r>
            <a:endParaRPr lang="pt-BR" sz="1200" i="0"/>
          </a:p>
          <a:p>
            <a:pPr marL="595813" lvl="1" indent="-195763">
              <a:buFont typeface="Arial"/>
              <a:buChar char="•"/>
              <a:defRPr/>
            </a:pPr>
            <a:endParaRPr lang="pt-BR" sz="1200" i="0"/>
          </a:p>
          <a:p>
            <a:pPr marL="195763" lvl="0" indent="-195763">
              <a:buFont typeface="Arial"/>
              <a:buChar char="•"/>
              <a:defRPr/>
            </a:pPr>
            <a:r>
              <a:rPr lang="pt-BR" sz="1200" i="0"/>
              <a:t>Ajuste da GEV com invariância de escala:</a:t>
            </a:r>
            <a:r>
              <a:rPr lang="pt-BR" sz="1200" i="0"/>
              <a:t> “d-GEV” — </a:t>
            </a:r>
            <a:r>
              <a:rPr lang="pt-BR" sz="1200" i="0">
                <a:highlight>
                  <a:srgbClr val="FFFF00"/>
                </a:highlight>
              </a:rPr>
              <a:t>cores </a:t>
            </a:r>
            <a:r>
              <a:rPr lang="pt-BR" sz="1200" i="0"/>
              <a:t>mais </a:t>
            </a:r>
            <a:r>
              <a:rPr lang="pt-BR" sz="1200" i="0">
                <a:highlight>
                  <a:srgbClr val="FFFF00"/>
                </a:highlight>
              </a:rPr>
              <a:t>escuras</a:t>
            </a:r>
            <a:endParaRPr lang="pt-BR" sz="1200" i="0"/>
          </a:p>
          <a:p>
            <a:pPr marL="595813" lvl="1" indent="-195763">
              <a:buFont typeface="Arial"/>
              <a:buChar char="•"/>
              <a:defRPr/>
            </a:pPr>
            <a:r>
              <a:rPr lang="pt-BR" sz="1200" i="0"/>
              <a:t>Sem informação</a:t>
            </a:r>
            <a:r>
              <a:rPr lang="pt-BR" sz="1200" i="0"/>
              <a:t> </a:t>
            </a:r>
            <a:r>
              <a:rPr lang="pt-BR" sz="1200" i="1"/>
              <a:t>a priori</a:t>
            </a:r>
            <a:r>
              <a:rPr lang="pt-BR" sz="1200" i="0"/>
              <a:t>: MLE</a:t>
            </a:r>
            <a:endParaRPr lang="pt-BR" sz="1200" i="0"/>
          </a:p>
          <a:p>
            <a:pPr marL="595813" lvl="1" indent="-195763">
              <a:buFont typeface="Arial"/>
              <a:buChar char="•"/>
              <a:defRPr/>
            </a:pPr>
            <a:r>
              <a:rPr lang="pt-BR" sz="1200" i="0"/>
              <a:t>Com informação </a:t>
            </a:r>
            <a:r>
              <a:rPr lang="pt-BR" sz="1200" i="1"/>
              <a:t>a priori </a:t>
            </a:r>
            <a:r>
              <a:rPr lang="pt-BR" sz="1200" i="0"/>
              <a:t>regional: RGMLE</a:t>
            </a:r>
            <a:endParaRPr lang="pt-BR" sz="1200" i="0"/>
          </a:p>
          <a:p>
            <a:pPr marL="595813" lvl="1" indent="-195763">
              <a:buFont typeface="Arial"/>
              <a:buChar char="•"/>
              <a:defRPr/>
            </a:pPr>
            <a:endParaRPr sz="1200" i="0"/>
          </a:p>
          <a:p>
            <a:pPr lvl="1">
              <a:defRPr/>
            </a:pPr>
            <a: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Primeiras impressões:</a:t>
            </a:r>
            <a:endParaRPr sz="1200" i="0"/>
          </a:p>
          <a:p>
            <a:pPr lvl="1">
              <a:defRPr/>
            </a:pPr>
            <a:endParaRPr sz="1200" i="0"/>
          </a:p>
          <a:p>
            <a:pPr marL="217792" lvl="1" indent="-217792">
              <a:buFont typeface="Arial"/>
              <a:buChar char="•"/>
              <a:defRPr/>
            </a:pPr>
            <a: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Modelo c/ menor rRMSE geral: GEV + RGMLE</a:t>
            </a:r>
            <a:endParaRPr sz="1200" i="0"/>
          </a:p>
          <a:p>
            <a:pPr marL="217792" lvl="1" indent="-217792">
              <a:buFont typeface="Arial"/>
              <a:buChar char="•"/>
              <a:defRPr/>
            </a:pPr>
            <a:endParaRPr sz="1200" i="0"/>
          </a:p>
          <a:p>
            <a:pPr marL="217792" lvl="1" indent="-217792">
              <a:buFont typeface="Arial"/>
              <a:buChar char="•"/>
              <a:defRPr/>
            </a:pPr>
            <a: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Posição de </a:t>
            </a:r>
            <a:r>
              <a:rPr lang="pt-BR" sz="1200" b="0" i="0" u="none" strike="noStrike" cap="none" spc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Gringorten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introduz a = 0.44, aumentando o tempo </a:t>
            </a:r>
            <a:b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</a:br>
            <a: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de retorno estimado. Também reduz os rRMSEs das</a:t>
            </a:r>
            <a:b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</a:br>
            <a: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estações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quando comparado com Weibull. Aumenta um</a:t>
            </a:r>
            <a:b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</a:br>
            <a: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pouco rRMSE em durações menores e diminui p/ durações</a:t>
            </a:r>
            <a:b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</a:br>
            <a: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maiores comparado a Cunnane;</a:t>
            </a:r>
            <a:b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</a:br>
            <a:b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</a:br>
            <a: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ex. A801 — 19 anos — max(imax) = 47.6 mm/h (d = 1 h)</a:t>
            </a:r>
            <a:b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</a:br>
            <a: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Weibull: (19 + 1)/1 = Tr = 20 anos</a:t>
            </a:r>
            <a:b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</a:br>
            <a: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Cunnane: (19 + 0.2)/(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1 - 0.4) = Tr = </a:t>
            </a:r>
            <a:r>
              <a:rPr lang="pt-BR" sz="1200" i="0"/>
              <a:t>32 anos</a:t>
            </a:r>
            <a:br>
              <a:rPr lang="pt-BR" sz="1200" i="0"/>
            </a:br>
            <a:r>
              <a:rPr lang="pt-BR" sz="1200" i="0"/>
              <a:t>Gringorten: (19 + 0.12)/(1 - 0.44) = Tr = 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34.14 anos</a:t>
            </a:r>
            <a:endParaRPr lang="pt-BR" sz="1200" i="0"/>
          </a:p>
          <a:p>
            <a:pPr marL="217792" lvl="1" indent="-217792">
              <a:buFont typeface="Arial"/>
              <a:buChar char="•"/>
              <a:defRPr/>
            </a:pPr>
            <a:endParaRPr sz="1200" i="0"/>
          </a:p>
          <a:p>
            <a:pPr lvl="1">
              <a:defRPr/>
            </a:pPr>
            <a:endParaRPr sz="1200" i="0"/>
          </a:p>
        </p:txBody>
      </p:sp>
      <p:sp>
        <p:nvSpPr>
          <p:cNvPr id="289285713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19034" y="122241"/>
            <a:ext cx="4429638" cy="307308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Avaliações com dados </a:t>
            </a:r>
            <a:r>
              <a:rPr sz="1200" b="1">
                <a:highlight>
                  <a:srgbClr val="FFFF00"/>
                </a:highlight>
                <a:latin typeface="Arial"/>
                <a:ea typeface="Arial"/>
                <a:cs typeface="Arial"/>
              </a:rPr>
              <a:t>subdiários</a:t>
            </a:r>
            <a:endParaRPr sz="1200" b="1">
              <a:latin typeface="Arial"/>
              <a:cs typeface="Arial"/>
            </a:endParaRPr>
          </a:p>
        </p:txBody>
      </p:sp>
      <p:pic>
        <p:nvPicPr>
          <p:cNvPr id="58072734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50869" y="211665"/>
            <a:ext cx="2828925" cy="876298"/>
          </a:xfrm>
          <a:prstGeom prst="rect">
            <a:avLst/>
          </a:prstGeom>
        </p:spPr>
      </p:pic>
      <p:pic>
        <p:nvPicPr>
          <p:cNvPr id="101672035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116356" y="359832"/>
            <a:ext cx="2901973" cy="652380"/>
          </a:xfrm>
          <a:prstGeom prst="rect">
            <a:avLst/>
          </a:prstGeom>
        </p:spPr>
      </p:pic>
      <p:pic>
        <p:nvPicPr>
          <p:cNvPr id="1309459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4850869" y="2004850"/>
            <a:ext cx="7118964" cy="4747316"/>
          </a:xfrm>
          <a:prstGeom prst="rect">
            <a:avLst/>
          </a:prstGeom>
        </p:spPr>
      </p:pic>
      <p:pic>
        <p:nvPicPr>
          <p:cNvPr id="545614264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4850869" y="2004850"/>
            <a:ext cx="7118964" cy="4747316"/>
          </a:xfrm>
          <a:prstGeom prst="rect">
            <a:avLst/>
          </a:prstGeom>
        </p:spPr>
      </p:pic>
      <p:pic>
        <p:nvPicPr>
          <p:cNvPr id="1949819513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4850869" y="2004850"/>
            <a:ext cx="7118964" cy="47473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6720717" name=""/>
          <p:cNvSpPr txBox="1"/>
          <p:nvPr/>
        </p:nvSpPr>
        <p:spPr bwMode="auto">
          <a:xfrm rot="0" flipH="0" flipV="0">
            <a:off x="403247" y="359831"/>
            <a:ext cx="5634807" cy="1920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 sz="1200"/>
              <a:t>Comparação entre modelos: </a:t>
            </a:r>
            <a:r>
              <a:rPr lang="pt-BR" sz="1200">
                <a:highlight>
                  <a:srgbClr val="FFFF00"/>
                </a:highlight>
              </a:rPr>
              <a:t>rRMSE</a:t>
            </a:r>
            <a:r>
              <a:rPr lang="pt-BR" sz="1200"/>
              <a:t> dos quantis: </a:t>
            </a:r>
            <a:br>
              <a:rPr lang="pt-BR" sz="1200"/>
            </a:br>
            <a:r>
              <a:rPr lang="pt-BR" sz="1200"/>
              <a:t>f</a:t>
            </a:r>
            <a:r>
              <a:rPr lang="pt-BR" sz="1200"/>
              <a:t>requência “observada” (Weibull) vs. estimada.</a:t>
            </a:r>
            <a:endParaRPr lang="pt-BR" sz="1200"/>
          </a:p>
          <a:p>
            <a:pPr marL="595812" lvl="1" indent="-195762">
              <a:buFont typeface="Arial"/>
              <a:buChar char="•"/>
              <a:defRPr/>
            </a:pPr>
            <a:endParaRPr lang="pt-BR" sz="1200" i="0"/>
          </a:p>
          <a:p>
            <a:pPr marL="195762" lvl="0" indent="-195762">
              <a:buFont typeface="Arial"/>
              <a:buChar char="•"/>
              <a:defRPr/>
            </a:pPr>
            <a:r>
              <a:rPr lang="pt-BR" sz="1200" i="0"/>
              <a:t>Ajuste da GEV com invariância de escala:</a:t>
            </a:r>
            <a:r>
              <a:rPr lang="pt-BR" sz="1200" i="0"/>
              <a:t> “d-GEV” — </a:t>
            </a:r>
            <a:r>
              <a:rPr lang="pt-BR" sz="1200" i="0">
                <a:highlight>
                  <a:srgbClr val="FFFF00"/>
                </a:highlight>
              </a:rPr>
              <a:t>cores </a:t>
            </a:r>
            <a:r>
              <a:rPr lang="pt-BR" sz="1200" i="0"/>
              <a:t>mais </a:t>
            </a:r>
            <a:r>
              <a:rPr lang="pt-BR" sz="1200" i="0">
                <a:highlight>
                  <a:srgbClr val="FFFF00"/>
                </a:highlight>
              </a:rPr>
              <a:t>escuras</a:t>
            </a:r>
            <a:endParaRPr lang="pt-BR" sz="1200" i="0"/>
          </a:p>
          <a:p>
            <a:pPr marL="595812" lvl="1" indent="-195762">
              <a:buFont typeface="Arial"/>
              <a:buChar char="•"/>
              <a:defRPr/>
            </a:pPr>
            <a:r>
              <a:rPr lang="pt-BR" sz="1200" i="0"/>
              <a:t>Sem informação</a:t>
            </a:r>
            <a:r>
              <a:rPr lang="pt-BR" sz="1200" i="0"/>
              <a:t> </a:t>
            </a:r>
            <a:r>
              <a:rPr lang="pt-BR" sz="1200" i="1"/>
              <a:t>a priori</a:t>
            </a:r>
            <a:r>
              <a:rPr lang="pt-BR" sz="1200" i="0"/>
              <a:t>: MLE</a:t>
            </a:r>
            <a:endParaRPr lang="pt-BR" sz="1200" i="0"/>
          </a:p>
          <a:p>
            <a:pPr marL="595812" lvl="1" indent="-195762">
              <a:buFont typeface="Arial"/>
              <a:buChar char="•"/>
              <a:defRPr/>
            </a:pPr>
            <a:r>
              <a:rPr lang="pt-BR" sz="1200" i="0"/>
              <a:t>Com informação </a:t>
            </a:r>
            <a:r>
              <a:rPr lang="pt-BR" sz="1200" i="1"/>
              <a:t>a priori </a:t>
            </a:r>
            <a:r>
              <a:rPr lang="pt-BR" sz="1200" i="0"/>
              <a:t>regional: RGMLE</a:t>
            </a:r>
            <a:endParaRPr sz="1200" i="0"/>
          </a:p>
          <a:p>
            <a:pPr marL="595812" lvl="1" indent="-195762">
              <a:buFont typeface="Arial"/>
              <a:buChar char="•"/>
              <a:defRPr/>
            </a:pPr>
            <a:endParaRPr lang="pt-BR" sz="1200" i="0"/>
          </a:p>
          <a:p>
            <a:pPr marL="195762" lvl="0" indent="-195762">
              <a:buFont typeface="Arial"/>
              <a:buChar char="•"/>
              <a:defRPr/>
            </a:pPr>
            <a:r>
              <a:rPr lang="pt-BR" sz="1200" i="0"/>
              <a:t>Ajuste IDF convencional com metodologia SGB: “IDF-SGB” — cinza</a:t>
            </a:r>
            <a:endParaRPr lang="pt-BR" sz="1200" i="0"/>
          </a:p>
          <a:p>
            <a:pPr marL="617843" lvl="1" indent="-217793">
              <a:buFont typeface="Arial"/>
              <a:buChar char="•"/>
              <a:defRPr/>
            </a:pPr>
            <a:r>
              <a:rPr lang="pt-BR" sz="1200" i="0"/>
              <a:t>Estima parâmetros da IDF p/ representar quantis</a:t>
            </a:r>
            <a:br>
              <a:rPr lang="pt-BR" sz="1200" i="0"/>
            </a:br>
            <a:r>
              <a:rPr lang="pt-BR" sz="1200" i="0"/>
              <a:t>da GEV ajustada com L-momentos</a:t>
            </a:r>
            <a:endParaRPr lang="pt-BR" sz="1200" i="0"/>
          </a:p>
        </p:txBody>
      </p:sp>
      <p:sp>
        <p:nvSpPr>
          <p:cNvPr id="486591222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19034" y="122240"/>
            <a:ext cx="4429638" cy="307307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Avaliações com dados </a:t>
            </a:r>
            <a:r>
              <a:rPr sz="1200" b="1">
                <a:highlight>
                  <a:srgbClr val="FFFF00"/>
                </a:highlight>
                <a:latin typeface="Arial"/>
                <a:ea typeface="Arial"/>
                <a:cs typeface="Arial"/>
              </a:rPr>
              <a:t>subdiários</a:t>
            </a:r>
            <a:endParaRPr sz="1200" b="1">
              <a:latin typeface="Arial"/>
              <a:cs typeface="Arial"/>
            </a:endParaRPr>
          </a:p>
        </p:txBody>
      </p:sp>
      <p:pic>
        <p:nvPicPr>
          <p:cNvPr id="127221068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850868" y="2004849"/>
            <a:ext cx="7118964" cy="4747315"/>
          </a:xfrm>
          <a:prstGeom prst="rect">
            <a:avLst/>
          </a:prstGeom>
        </p:spPr>
      </p:pic>
      <p:pic>
        <p:nvPicPr>
          <p:cNvPr id="172891718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850868" y="2004849"/>
            <a:ext cx="7118964" cy="4747315"/>
          </a:xfrm>
          <a:prstGeom prst="rect">
            <a:avLst/>
          </a:prstGeom>
        </p:spPr>
      </p:pic>
      <p:pic>
        <p:nvPicPr>
          <p:cNvPr id="156255819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4850868" y="2004849"/>
            <a:ext cx="7118964" cy="4747315"/>
          </a:xfrm>
          <a:prstGeom prst="rect">
            <a:avLst/>
          </a:prstGeom>
        </p:spPr>
      </p:pic>
      <p:sp>
        <p:nvSpPr>
          <p:cNvPr id="1897866538" name=""/>
          <p:cNvSpPr txBox="1"/>
          <p:nvPr/>
        </p:nvSpPr>
        <p:spPr bwMode="auto">
          <a:xfrm rot="0" flipH="0" flipV="0">
            <a:off x="464792" y="2432831"/>
            <a:ext cx="4546275" cy="2286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17793" lvl="0" indent="-217793">
              <a:buFont typeface="Arial"/>
              <a:buChar char="•"/>
              <a:defRPr/>
            </a:pPr>
            <a:r>
              <a:rPr lang="pt-BR" sz="1200" i="0"/>
              <a:t>Objetivo: avaliar desempenho dos modelos p/ tempos de retorno maiores:</a:t>
            </a:r>
            <a:endParaRPr lang="pt-BR" sz="1200" i="0"/>
          </a:p>
          <a:p>
            <a:pPr marL="617843" lvl="1" indent="-217793">
              <a:buFont typeface="Arial"/>
              <a:buChar char="•"/>
              <a:defRPr/>
            </a:pPr>
            <a:r>
              <a:rPr lang="pt-BR" sz="1200" i="0"/>
              <a:t>10, 20, 50, 100 anos</a:t>
            </a:r>
            <a:endParaRPr lang="pt-BR" sz="1200" i="0"/>
          </a:p>
          <a:p>
            <a:pPr lvl="1">
              <a:defRPr/>
            </a:pPr>
            <a:endParaRPr lang="pt-BR" sz="1200" i="0"/>
          </a:p>
          <a:p>
            <a:pPr marL="217793" lvl="1" indent="-217793">
              <a:buFont typeface="Arial"/>
              <a:buChar char="•"/>
              <a:defRPr/>
            </a:pPr>
            <a:r>
              <a:rPr lang="pt-BR" sz="1200" i="0"/>
              <a:t>Quantis de referência: GEV (RGMLE) por duração:</a:t>
            </a:r>
            <a:endParaRPr lang="pt-BR" sz="1200" i="0"/>
          </a:p>
          <a:p>
            <a:pPr marL="617843" lvl="2" indent="-217793">
              <a:buFont typeface="Arial"/>
              <a:buChar char="•"/>
              <a:defRPr/>
            </a:pPr>
            <a:r>
              <a:rPr lang="pt-BR" sz="1200" i="0"/>
              <a:t>GEV ajustada por duração com informação </a:t>
            </a:r>
            <a:r>
              <a:rPr lang="pt-BR" sz="1200" i="1"/>
              <a:t>a priori</a:t>
            </a:r>
            <a:r>
              <a:rPr lang="pt-BR" sz="1200" i="0"/>
              <a:t> no parâmetro de forma</a:t>
            </a:r>
            <a:endParaRPr lang="pt-BR" sz="1200" i="0"/>
          </a:p>
          <a:p>
            <a:pPr marL="617843" lvl="2" indent="-217793">
              <a:buFont typeface="Arial"/>
              <a:buChar char="•"/>
              <a:defRPr/>
            </a:pPr>
            <a:endParaRPr sz="1200" i="0"/>
          </a:p>
          <a:p>
            <a:pPr marL="217793" lvl="1" indent="-217793">
              <a:buFont typeface="Arial"/>
              <a:buChar char="•"/>
              <a:defRPr/>
            </a:pPr>
            <a:r>
              <a:rPr lang="pt-BR" sz="1200" i="0"/>
              <a:t>IDF-SGB</a:t>
            </a:r>
            <a:r>
              <a:rPr lang="pt-BR" sz="1200" i="0"/>
              <a:t> possui melhor ajuste geral em d = 1 h</a:t>
            </a:r>
            <a:endParaRPr lang="pt-BR" sz="1200" i="0"/>
          </a:p>
          <a:p>
            <a:pPr marL="217793" lvl="1" indent="-217793">
              <a:buFont typeface="Arial"/>
              <a:buChar char="•"/>
              <a:defRPr/>
            </a:pPr>
            <a:endParaRPr sz="1200" i="0"/>
          </a:p>
          <a:p>
            <a:pPr marL="217793" lvl="1" indent="-217793">
              <a:buFont typeface="Arial"/>
              <a:buChar char="•"/>
              <a:defRPr/>
            </a:pPr>
            <a:r>
              <a:rPr lang="pt-BR" sz="1200" i="0"/>
              <a:t>d-GEV (RGMLE) possui melhor ajuste geral ao longo das demais durações</a:t>
            </a:r>
            <a:endParaRPr sz="1200" i="0"/>
          </a:p>
        </p:txBody>
      </p:sp>
      <p:pic>
        <p:nvPicPr>
          <p:cNvPr id="222238522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4850868" y="2004850"/>
            <a:ext cx="7118963" cy="4747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46853" name=""/>
          <p:cNvSpPr txBox="1"/>
          <p:nvPr/>
        </p:nvSpPr>
        <p:spPr bwMode="auto">
          <a:xfrm rot="0" flipH="0" flipV="0">
            <a:off x="403247" y="359831"/>
            <a:ext cx="5638047" cy="1920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 sz="1200"/>
              <a:t>Comparação entre modelos: </a:t>
            </a:r>
            <a:r>
              <a:rPr lang="pt-BR" sz="1200">
                <a:highlight>
                  <a:srgbClr val="FFFF00"/>
                </a:highlight>
              </a:rPr>
              <a:t>r</a:t>
            </a:r>
            <a:r>
              <a:rPr lang="pt-BR" sz="1200">
                <a:highlight>
                  <a:srgbClr val="FFFF00"/>
                </a:highlight>
              </a:rPr>
              <a:t>BIAS</a:t>
            </a:r>
            <a:r>
              <a:rPr lang="pt-BR" sz="1200"/>
              <a:t> dos quantis: </a:t>
            </a:r>
            <a:br>
              <a:rPr lang="pt-BR" sz="1200"/>
            </a:br>
            <a:r>
              <a:rPr lang="pt-BR" sz="1200"/>
              <a:t>f</a:t>
            </a:r>
            <a:r>
              <a:rPr lang="pt-BR" sz="1200"/>
              <a:t>requência “observada” (Weibull) vs. estimada.</a:t>
            </a:r>
            <a:endParaRPr lang="pt-BR" sz="1200"/>
          </a:p>
          <a:p>
            <a:pPr marL="595812" lvl="1" indent="-195762">
              <a:buFont typeface="Arial"/>
              <a:buChar char="•"/>
              <a:defRPr/>
            </a:pPr>
            <a:endParaRPr lang="pt-BR" sz="1200" i="0"/>
          </a:p>
          <a:p>
            <a:pPr marL="195762" lvl="0" indent="-195762">
              <a:buFont typeface="Arial"/>
              <a:buChar char="•"/>
              <a:defRPr/>
            </a:pPr>
            <a:r>
              <a:rPr lang="pt-BR" sz="1200" i="0"/>
              <a:t>Ajuste da GEV com invariância de escala:</a:t>
            </a:r>
            <a:r>
              <a:rPr lang="pt-BR" sz="1200" i="0"/>
              <a:t> “d-GEV” — </a:t>
            </a:r>
            <a:r>
              <a:rPr lang="pt-BR" sz="1200" i="0">
                <a:highlight>
                  <a:srgbClr val="FFFF00"/>
                </a:highlight>
              </a:rPr>
              <a:t>cores </a:t>
            </a:r>
            <a:r>
              <a:rPr lang="pt-BR" sz="1200" i="0"/>
              <a:t>mais </a:t>
            </a:r>
            <a:r>
              <a:rPr lang="pt-BR" sz="1200" i="0">
                <a:highlight>
                  <a:srgbClr val="FFFF00"/>
                </a:highlight>
              </a:rPr>
              <a:t>escuras</a:t>
            </a:r>
            <a:endParaRPr lang="pt-BR" sz="1200" i="0"/>
          </a:p>
          <a:p>
            <a:pPr marL="595812" lvl="1" indent="-195762">
              <a:buFont typeface="Arial"/>
              <a:buChar char="•"/>
              <a:defRPr/>
            </a:pPr>
            <a:r>
              <a:rPr lang="pt-BR" sz="1200" i="0"/>
              <a:t>Sem informação</a:t>
            </a:r>
            <a:r>
              <a:rPr lang="pt-BR" sz="1200" i="0"/>
              <a:t> </a:t>
            </a:r>
            <a:r>
              <a:rPr lang="pt-BR" sz="1200" i="1"/>
              <a:t>a priori</a:t>
            </a:r>
            <a:r>
              <a:rPr lang="pt-BR" sz="1200" i="0"/>
              <a:t>: MLE</a:t>
            </a:r>
            <a:endParaRPr lang="pt-BR" sz="1200" i="0"/>
          </a:p>
          <a:p>
            <a:pPr marL="595812" lvl="1" indent="-195762">
              <a:buFont typeface="Arial"/>
              <a:buChar char="•"/>
              <a:defRPr/>
            </a:pPr>
            <a:r>
              <a:rPr lang="pt-BR" sz="1200" i="0"/>
              <a:t>Com informação </a:t>
            </a:r>
            <a:r>
              <a:rPr lang="pt-BR" sz="1200" i="1"/>
              <a:t>a priori </a:t>
            </a:r>
            <a:r>
              <a:rPr lang="pt-BR" sz="1200" i="0"/>
              <a:t>regional: RGMLE</a:t>
            </a:r>
            <a:endParaRPr sz="1200" i="0"/>
          </a:p>
          <a:p>
            <a:pPr marL="595812" lvl="1" indent="-195762">
              <a:buFont typeface="Arial"/>
              <a:buChar char="•"/>
              <a:defRPr/>
            </a:pPr>
            <a:endParaRPr lang="pt-BR" sz="1200" i="0"/>
          </a:p>
          <a:p>
            <a:pPr marL="195762" lvl="0" indent="-195762">
              <a:buFont typeface="Arial"/>
              <a:buChar char="•"/>
              <a:defRPr/>
            </a:pPr>
            <a:r>
              <a:rPr lang="pt-BR" sz="1200" i="0"/>
              <a:t>Ajuste IDF convencional com metodologia SGB: “IDF-SGB” — cinza</a:t>
            </a:r>
            <a:endParaRPr lang="pt-BR" sz="1200" i="0"/>
          </a:p>
          <a:p>
            <a:pPr marL="617843" lvl="1" indent="-217793">
              <a:buFont typeface="Arial"/>
              <a:buChar char="•"/>
              <a:defRPr/>
            </a:pPr>
            <a:r>
              <a:rPr lang="pt-BR" sz="1200" i="0"/>
              <a:t>Estima parâmetros da IDF p/ representar quantis</a:t>
            </a:r>
            <a:br>
              <a:rPr lang="pt-BR" sz="1200" i="0"/>
            </a:br>
            <a:r>
              <a:rPr lang="pt-BR" sz="1200" i="0"/>
              <a:t>da GEV ajustada com L-momentos</a:t>
            </a:r>
            <a:endParaRPr lang="pt-BR" sz="1200" i="0"/>
          </a:p>
        </p:txBody>
      </p:sp>
      <p:sp>
        <p:nvSpPr>
          <p:cNvPr id="1649478472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19034" y="122240"/>
            <a:ext cx="4429638" cy="307307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Avaliações com dados </a:t>
            </a:r>
            <a:r>
              <a:rPr sz="1200" b="1">
                <a:highlight>
                  <a:srgbClr val="FFFF00"/>
                </a:highlight>
                <a:latin typeface="Arial"/>
                <a:ea typeface="Arial"/>
                <a:cs typeface="Arial"/>
              </a:rPr>
              <a:t>subdiários</a:t>
            </a:r>
            <a:endParaRPr sz="1200" b="1">
              <a:latin typeface="Arial"/>
              <a:cs typeface="Arial"/>
            </a:endParaRPr>
          </a:p>
        </p:txBody>
      </p:sp>
      <p:pic>
        <p:nvPicPr>
          <p:cNvPr id="43867134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850868" y="2004849"/>
            <a:ext cx="7118964" cy="4747315"/>
          </a:xfrm>
          <a:prstGeom prst="rect">
            <a:avLst/>
          </a:prstGeom>
        </p:spPr>
      </p:pic>
      <p:pic>
        <p:nvPicPr>
          <p:cNvPr id="92939170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850868" y="2004849"/>
            <a:ext cx="7118964" cy="4747315"/>
          </a:xfrm>
          <a:prstGeom prst="rect">
            <a:avLst/>
          </a:prstGeom>
        </p:spPr>
      </p:pic>
      <p:pic>
        <p:nvPicPr>
          <p:cNvPr id="94690183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4850868" y="2004849"/>
            <a:ext cx="7118964" cy="4747315"/>
          </a:xfrm>
          <a:prstGeom prst="rect">
            <a:avLst/>
          </a:prstGeom>
        </p:spPr>
      </p:pic>
      <p:sp>
        <p:nvSpPr>
          <p:cNvPr id="2127013469" name=""/>
          <p:cNvSpPr txBox="1"/>
          <p:nvPr/>
        </p:nvSpPr>
        <p:spPr bwMode="auto">
          <a:xfrm rot="0" flipH="0" flipV="0">
            <a:off x="464792" y="2432831"/>
            <a:ext cx="4546275" cy="2286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17793" lvl="0" indent="-217793">
              <a:buFont typeface="Arial"/>
              <a:buChar char="•"/>
              <a:defRPr/>
            </a:pPr>
            <a:r>
              <a:rPr lang="pt-BR" sz="1200" i="0"/>
              <a:t>Objetivo: avaliar desempenho dos modelos p/ tempos de retorno maiores:</a:t>
            </a:r>
            <a:endParaRPr lang="pt-BR" sz="1200" i="0"/>
          </a:p>
          <a:p>
            <a:pPr marL="617843" lvl="1" indent="-217793">
              <a:buFont typeface="Arial"/>
              <a:buChar char="•"/>
              <a:defRPr/>
            </a:pPr>
            <a:r>
              <a:rPr lang="pt-BR" sz="1200" i="0"/>
              <a:t>10, 20, 50, 100 anos</a:t>
            </a:r>
            <a:endParaRPr lang="pt-BR" sz="1200" i="0"/>
          </a:p>
          <a:p>
            <a:pPr lvl="1">
              <a:defRPr/>
            </a:pPr>
            <a:endParaRPr lang="pt-BR" sz="1200" i="0"/>
          </a:p>
          <a:p>
            <a:pPr marL="217793" lvl="1" indent="-217793">
              <a:buFont typeface="Arial"/>
              <a:buChar char="•"/>
              <a:defRPr/>
            </a:pPr>
            <a:r>
              <a:rPr lang="pt-BR" sz="1200" i="0"/>
              <a:t>Quantis de referência: GEV (RGMLE) por duração:</a:t>
            </a:r>
            <a:endParaRPr lang="pt-BR" sz="1200" i="0"/>
          </a:p>
          <a:p>
            <a:pPr marL="617843" lvl="2" indent="-217793">
              <a:buFont typeface="Arial"/>
              <a:buChar char="•"/>
              <a:defRPr/>
            </a:pPr>
            <a:r>
              <a:rPr lang="pt-BR" sz="1200" i="0"/>
              <a:t>GEV ajustada por duração com informação </a:t>
            </a:r>
            <a:r>
              <a:rPr lang="pt-BR" sz="1200" i="1"/>
              <a:t>a priori</a:t>
            </a:r>
            <a:r>
              <a:rPr lang="pt-BR" sz="1200" i="0"/>
              <a:t> no parâmetro de forma</a:t>
            </a:r>
            <a:endParaRPr lang="pt-BR" sz="1200" i="0"/>
          </a:p>
          <a:p>
            <a:pPr marL="617843" lvl="2" indent="-217793">
              <a:buFont typeface="Arial"/>
              <a:buChar char="•"/>
              <a:defRPr/>
            </a:pPr>
            <a:endParaRPr sz="1200" i="0"/>
          </a:p>
          <a:p>
            <a:pPr marL="217793" lvl="1" indent="-217793">
              <a:buFont typeface="Arial"/>
              <a:buChar char="•"/>
              <a:defRPr/>
            </a:pPr>
            <a:r>
              <a:rPr lang="pt-BR" sz="1200" i="0"/>
              <a:t>IDF-SGB</a:t>
            </a:r>
            <a:r>
              <a:rPr lang="pt-BR" sz="1200" i="0"/>
              <a:t> possui melhor ajuste geral em d = 1 h</a:t>
            </a:r>
            <a:endParaRPr lang="pt-BR" sz="1200" i="0"/>
          </a:p>
          <a:p>
            <a:pPr marL="217793" lvl="1" indent="-217793">
              <a:buFont typeface="Arial"/>
              <a:buChar char="•"/>
              <a:defRPr/>
            </a:pPr>
            <a:endParaRPr sz="1200" i="0"/>
          </a:p>
          <a:p>
            <a:pPr marL="217793" lvl="1" indent="-217793">
              <a:buFont typeface="Arial"/>
              <a:buChar char="•"/>
              <a:defRPr/>
            </a:pPr>
            <a:r>
              <a:rPr lang="pt-BR" sz="1200" i="0"/>
              <a:t>d-GEV (RGMLE) possui melhor ajuste geral ao longo das demais durações</a:t>
            </a:r>
            <a:endParaRPr sz="1200" i="0"/>
          </a:p>
        </p:txBody>
      </p:sp>
      <p:pic>
        <p:nvPicPr>
          <p:cNvPr id="1817291124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4850868" y="2004850"/>
            <a:ext cx="7118963" cy="4747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29</Slides>
  <Notes>29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dc:language>pt-BR</dc:language>
  <cp:lastModifiedBy/>
  <cp:revision>25</cp:revision>
  <dcterms:created xsi:type="dcterms:W3CDTF">2012-12-03T06:56:55Z</dcterms:created>
  <dcterms:modified xsi:type="dcterms:W3CDTF">2026-08-18T01:36:14Z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4</vt:i4>
  </property>
  <property fmtid="{D5CDD505-2E9C-101B-9397-08002B2CF9AE}" pid="4" name="PresentationFormat">
    <vt:lpwstr>On-screen Show (4:3)</vt:lpwstr>
  </property>
  <property fmtid="{D5CDD505-2E9C-101B-9397-08002B2CF9AE}" pid="5" name="Slides">
    <vt:i4>4</vt:i4>
  </property>
</Properties>
</file>