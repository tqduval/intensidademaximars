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pt-B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290864" name="Espaço reservado para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648638768" name="Marcador de Posição d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BR"/>
              <a:t>10/30/2013</a:t>
            </a:fld>
            <a:endParaRPr lang="pt-BR"/>
          </a:p>
        </p:txBody>
      </p:sp>
      <p:sp>
        <p:nvSpPr>
          <p:cNvPr id="1640060339" name="Espaço reservado para imagem de slid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26455326" name="Espaço reservado para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935524436" name="Marcador de Posição d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70984726" name="Marcador de Posição d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391186" name="Espaço reservado para imagem de slid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5780949" name="Espaço reservado para nota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BR">
              <a:latin typeface="Arial"/>
              <a:cs typeface="Arial"/>
            </a:endParaRPr>
          </a:p>
        </p:txBody>
      </p:sp>
      <p:sp>
        <p:nvSpPr>
          <p:cNvPr id="1271405031" name="Marcador de Posição do Número do Diapositivo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BR"/>
              <a:t>1</a:t>
            </a:fld>
            <a:endParaRPr 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15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77701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44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EE87-473D-7648-A28F-DE91706C22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5355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243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3332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D55D69-35B1-4974-5DCE-FBD99DE2DF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11B703-7630-BD34-1BE8-E63A81C967C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660990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248454102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BR"/>
              <a:t>Faça clique para editar o estilo</a:t>
            </a:r>
            <a:endParaRPr lang="pt-BR"/>
          </a:p>
        </p:txBody>
      </p:sp>
      <p:sp>
        <p:nvSpPr>
          <p:cNvPr id="1258109757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994019316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1084428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560894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466394953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842939580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91404353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33866178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338817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042167063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535519589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917511106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3464922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351943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986911054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137537435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685758596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012002370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355512113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0350108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746287474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258380941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692074870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765046793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527782660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54718519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219350956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100430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300565367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87274282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552784364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635331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75866488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694374663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3379491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os estilos</a:t>
            </a:r>
            <a:endParaRPr lang="pt-BR"/>
          </a:p>
        </p:txBody>
      </p:sp>
      <p:sp>
        <p:nvSpPr>
          <p:cNvPr id="593484372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672146659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334329371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123903399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876847357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1275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894471793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BR"/>
              <a:t>Clique no ícone para adicionar imagem</a:t>
            </a:r>
            <a:endParaRPr lang="pt-BR"/>
          </a:p>
        </p:txBody>
      </p:sp>
      <p:sp>
        <p:nvSpPr>
          <p:cNvPr id="1661119752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1040777079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128675339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576336344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024724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315549563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405806757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804106398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957850939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374587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609002146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572194030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78521446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786978719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492594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402443235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611248637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60752996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67074777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812791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669" y="0"/>
            <a:ext cx="4674947" cy="6858000"/>
          </a:xfrm>
          <a:prstGeom prst="rect">
            <a:avLst/>
          </a:prstGeom>
        </p:spPr>
      </p:pic>
      <p:sp>
        <p:nvSpPr>
          <p:cNvPr id="314591605" name=""/>
          <p:cNvSpPr/>
          <p:nvPr/>
        </p:nvSpPr>
        <p:spPr bwMode="auto">
          <a:xfrm rot="0" flipH="0" flipV="0">
            <a:off x="3559182" y="52638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17934977" name=""/>
          <p:cNvSpPr/>
          <p:nvPr/>
        </p:nvSpPr>
        <p:spPr bwMode="auto">
          <a:xfrm rot="0" flipH="0" flipV="0">
            <a:off x="3559182" y="754480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1657131" name=""/>
          <p:cNvSpPr/>
          <p:nvPr/>
        </p:nvSpPr>
        <p:spPr bwMode="auto">
          <a:xfrm rot="0" flipH="0" flipV="0">
            <a:off x="2447062" y="754480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5316616" name=""/>
          <p:cNvSpPr/>
          <p:nvPr/>
        </p:nvSpPr>
        <p:spPr bwMode="auto">
          <a:xfrm rot="0" flipH="0" flipV="0">
            <a:off x="3559182" y="2175236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1902610" name=""/>
          <p:cNvSpPr/>
          <p:nvPr/>
        </p:nvSpPr>
        <p:spPr bwMode="auto">
          <a:xfrm rot="0" flipH="0" flipV="0">
            <a:off x="3559182" y="2877078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52793479" name=""/>
          <p:cNvSpPr/>
          <p:nvPr/>
        </p:nvSpPr>
        <p:spPr bwMode="auto">
          <a:xfrm rot="0" flipH="0" flipV="0">
            <a:off x="1334944" y="4287809"/>
            <a:ext cx="1112118" cy="701841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7904018" name=""/>
          <p:cNvSpPr txBox="1"/>
          <p:nvPr/>
        </p:nvSpPr>
        <p:spPr bwMode="auto">
          <a:xfrm rot="0" flipH="0" flipV="0">
            <a:off x="5081702" y="259541"/>
            <a:ext cx="6864975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d-GEV</a:t>
            </a:r>
            <a:r>
              <a:rPr sz="1400">
                <a:latin typeface="Consolas"/>
                <a:ea typeface="Consolas"/>
                <a:cs typeface="Consolas"/>
              </a:rPr>
              <a:t> (Koutsoyiannis et al. 1998 + Ulrich et al. 2020):</a:t>
            </a:r>
            <a:endParaRPr sz="1400">
              <a:latin typeface="Consolas"/>
              <a:ea typeface="Consolas"/>
              <a:cs typeface="Consolas"/>
            </a:endParaRPr>
          </a:p>
          <a:p>
            <a:pPr>
              <a:defRPr/>
            </a:pPr>
            <a:endParaRPr sz="1400">
              <a:latin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Posição </a:t>
            </a:r>
            <a:r>
              <a:rPr sz="1400">
                <a:latin typeface="Consolas"/>
                <a:ea typeface="Consolas"/>
                <a:cs typeface="Consolas"/>
              </a:rPr>
              <a:t>e </a:t>
            </a:r>
            <a:r>
              <a:rPr sz="1400" b="1">
                <a:latin typeface="Consolas"/>
                <a:ea typeface="Consolas"/>
                <a:cs typeface="Consolas"/>
              </a:rPr>
              <a:t>escala</a:t>
            </a:r>
            <a:r>
              <a:rPr sz="1400">
                <a:latin typeface="Consolas"/>
                <a:ea typeface="Consolas"/>
                <a:cs typeface="Consolas"/>
              </a:rPr>
              <a:t>: invariância de escala simples</a:t>
            </a:r>
            <a:endParaRPr sz="1400">
              <a:latin typeface="Consolas"/>
              <a:ea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sz="1400" b="1">
                <a:latin typeface="Consolas"/>
                <a:ea typeface="Consolas"/>
                <a:cs typeface="Consolas"/>
              </a:rPr>
              <a:t>Forma</a:t>
            </a:r>
            <a:r>
              <a:rPr sz="1400" b="0">
                <a:latin typeface="Consolas"/>
                <a:ea typeface="Consolas"/>
                <a:cs typeface="Consolas"/>
              </a:rPr>
              <a:t>:</a:t>
            </a:r>
            <a:r>
              <a:rPr sz="1400">
                <a:latin typeface="Consolas"/>
                <a:ea typeface="Consolas"/>
                <a:cs typeface="Consolas"/>
              </a:rPr>
              <a:t> constante ao longo das durações (1—24 h, mais informação)</a:t>
            </a:r>
            <a:endParaRPr sz="1400">
              <a:latin typeface="Consolas"/>
              <a:ea typeface="Consolas"/>
              <a:cs typeface="Consolas"/>
            </a:endParaRPr>
          </a:p>
          <a:p>
            <a:pPr marL="283879" indent="-283879">
              <a:buFont typeface="Arial"/>
              <a:buChar char="•"/>
              <a:defRPr/>
            </a:pPr>
            <a:endParaRPr sz="1400">
              <a:latin typeface="Consolas"/>
              <a:ea typeface="Consolas"/>
              <a:cs typeface="Consolas"/>
            </a:endParaRPr>
          </a:p>
          <a:p>
            <a:pPr>
              <a:defRPr/>
            </a:pPr>
            <a:r>
              <a:rPr sz="1400">
                <a:latin typeface="Consolas"/>
                <a:ea typeface="Consolas"/>
                <a:cs typeface="Consolas"/>
              </a:rPr>
              <a:t>Alguns postos: extremos não capturados pela cauda ajustada (1 h).</a:t>
            </a:r>
            <a:endParaRPr sz="1400">
              <a:latin typeface="Consolas"/>
              <a:ea typeface="Consolas"/>
              <a:cs typeface="Consolas"/>
            </a:endParaRPr>
          </a:p>
        </p:txBody>
      </p:sp>
      <p:sp>
        <p:nvSpPr>
          <p:cNvPr id="1300293296" name=""/>
          <p:cNvSpPr txBox="1"/>
          <p:nvPr/>
        </p:nvSpPr>
        <p:spPr bwMode="auto">
          <a:xfrm rot="0" flipH="0" flipV="0">
            <a:off x="5081702" y="6182556"/>
            <a:ext cx="685705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>
                <a:latin typeface="Consolas"/>
                <a:ea typeface="Consolas"/>
                <a:cs typeface="Consolas"/>
              </a:rPr>
              <a:t>κ</a:t>
            </a:r>
            <a:r>
              <a:rPr sz="1400" baseline="-25000">
                <a:latin typeface="Consolas"/>
                <a:ea typeface="Consolas"/>
                <a:cs typeface="Consolas"/>
              </a:rPr>
              <a:t>d</a:t>
            </a:r>
            <a:r>
              <a:rPr sz="1400">
                <a:latin typeface="Consolas"/>
                <a:ea typeface="Consolas"/>
                <a:cs typeface="Consolas"/>
              </a:rPr>
              <a:t> = </a:t>
            </a:r>
            <a:r>
              <a:rPr lang="pt-BR" sz="1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κ</a:t>
            </a:r>
            <a:r>
              <a:rPr sz="1400">
                <a:latin typeface="Consolas"/>
                <a:ea typeface="Consolas"/>
                <a:cs typeface="Consolas"/>
              </a:rPr>
              <a:t> é razoável</a:t>
            </a:r>
            <a:r>
              <a:rPr sz="1400">
                <a:latin typeface="Consolas"/>
                <a:ea typeface="Consolas"/>
                <a:cs typeface="Consolas"/>
              </a:rPr>
              <a:t>?</a:t>
            </a:r>
            <a:endParaRPr sz="1400"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590277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93083" y="677639"/>
            <a:ext cx="6507060" cy="52063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780666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81874" y="1641319"/>
            <a:ext cx="5476874" cy="4212980"/>
          </a:xfrm>
          <a:prstGeom prst="rect">
            <a:avLst/>
          </a:prstGeom>
        </p:spPr>
      </p:pic>
      <p:sp>
        <p:nvSpPr>
          <p:cNvPr id="1894358513" name=""/>
          <p:cNvSpPr txBox="1"/>
          <p:nvPr/>
        </p:nvSpPr>
        <p:spPr bwMode="auto">
          <a:xfrm rot="0" flipH="0" flipV="0">
            <a:off x="1112604" y="1190624"/>
            <a:ext cx="409379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A812; d = 20 h; 12 anos; sem priori</a:t>
            </a:r>
            <a:endParaRPr sz="1600">
              <a:latin typeface="Consolas"/>
              <a:cs typeface="Consolas"/>
            </a:endParaRPr>
          </a:p>
        </p:txBody>
      </p:sp>
      <p:pic>
        <p:nvPicPr>
          <p:cNvPr id="656877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6258749" y="1641319"/>
            <a:ext cx="5475600" cy="4212000"/>
          </a:xfrm>
          <a:prstGeom prst="rect">
            <a:avLst/>
          </a:prstGeom>
        </p:spPr>
      </p:pic>
      <p:sp>
        <p:nvSpPr>
          <p:cNvPr id="666447412" name=""/>
          <p:cNvSpPr txBox="1"/>
          <p:nvPr/>
        </p:nvSpPr>
        <p:spPr bwMode="auto">
          <a:xfrm rot="0" flipH="0" flipV="0">
            <a:off x="6609587" y="1190624"/>
            <a:ext cx="409379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A801; d = 20 h; 18 anos; sem priori</a:t>
            </a:r>
            <a:endParaRPr sz="1600">
              <a:latin typeface="Consolas"/>
              <a:cs typeface="Consolas"/>
            </a:endParaRPr>
          </a:p>
        </p:txBody>
      </p:sp>
      <p:sp>
        <p:nvSpPr>
          <p:cNvPr id="1298305341" name=""/>
          <p:cNvSpPr txBox="1"/>
          <p:nvPr/>
        </p:nvSpPr>
        <p:spPr bwMode="auto">
          <a:xfrm rot="0" flipH="0" flipV="0">
            <a:off x="1112604" y="824504"/>
            <a:ext cx="6551638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Consolas"/>
                <a:ea typeface="Consolas"/>
                <a:cs typeface="Consolas"/>
              </a:rPr>
              <a:t>Instabilidades em durações maiores (pouca variabilidade?)</a:t>
            </a:r>
            <a:endParaRPr sz="1600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5242538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226734" y="1830294"/>
            <a:ext cx="5270887" cy="3564124"/>
          </a:xfrm>
          <a:prstGeom prst="rect">
            <a:avLst/>
          </a:prstGeom>
        </p:spPr>
      </p:pic>
      <p:pic>
        <p:nvPicPr>
          <p:cNvPr id="18780651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6877" y="1830294"/>
            <a:ext cx="5270887" cy="35641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2026-06-26T14:42:41Z</dcterms:modified>
</cp:coreProperties>
</file>