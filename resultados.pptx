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340124" d="6488165"/>
          <a:sy n="0" d="6750318"/>
        </p:scale>
        <p:origin x="6029381" y="3342387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775390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</a:rPr>
              <a:t>Clique para mover o slide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3577885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466323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237145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631780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952041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004777B0-DAC2-411D-ADFD-808D198D1209}" type="slidenum"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1165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2939481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569244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CAC8895-A497-4113-AA15-4A3EE2E537AD}" type="slidenum">
              <a:rPr lang="pt-BR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96683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82602889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886361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81534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3361025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954352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86489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8156284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361814" name="PlaceHolder 3"/>
          <p:cNvSpPr>
            <a:spLocks noGrp="1"/>
          </p:cNvSpPr>
          <p:nvPr>
            <p:ph type="sldNum" idx="4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65634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87360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915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7F03B5-DAF6-903B-ED1F-8FAA077F3E7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5205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451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236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821983-05AB-F7C6-EF69-69EFE3F9CF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1898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0988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9416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18051D-DC67-F740-534A-27A3C64BF1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9791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4903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9049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2A5A16-74AB-7808-36CA-922CADF1650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605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3729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18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2411F9-A4A4-FC81-673B-AA4CD8679B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4477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3122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312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5B7E21-7D7D-DF90-DBA7-73257D5450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5546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166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9208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35431-DB28-6382-7A44-7A2D7C523D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7586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5814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1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34738E-1728-D436-A257-8C78F7D225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7163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9951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046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43F0-E80D-CF50-8DD8-4594DC4F0C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7164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71230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487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D9171-18E3-9597-6761-CD17260A05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9396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6609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839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B492FB-7BD6-7466-6903-CD9B020B3F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738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85361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444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45C6A7-AEE4-C883-DEA2-3985C4FA82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753055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03011089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25334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525875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52D9B73-794C-4426-A138-B5AB627A5461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479244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chemeClr val="dk1"/>
                </a:solidFill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800" b="0" u="none" strike="noStrike">
                <a:solidFill>
                  <a:schemeClr val="dk1"/>
                </a:solidFill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800" b="0" u="none" strike="noStrike">
                <a:solidFill>
                  <a:schemeClr val="dk1"/>
                </a:solidFill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4.º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5.º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07824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06567931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18383484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028248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064319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4A6E6AD-6A23-4A00-9862-7005AF7FFA8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8150541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80660252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00899208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952928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945079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0776A56-DD25-490D-9483-2C3F2B59FA2D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614735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Cliqasdasdue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89865774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14460418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285386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069630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E901782-9E46-4ABF-B691-3FAB25E6530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abeçalho da Sec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153842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23625058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>
                  <a:tint val="75000"/>
                </a:schemeClr>
              </a:solidFill>
              <a:latin typeface="Arial"/>
            </a:endParaRPr>
          </a:p>
        </p:txBody>
      </p:sp>
      <p:sp>
        <p:nvSpPr>
          <p:cNvPr id="1960260650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644598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044657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7638DD0-3A94-4F33-BC1D-A0D22819007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783384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71772042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51884534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57417256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317549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656649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7F597EC-3617-438D-B5DB-3A111EB62035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a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481719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60374354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0944535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45420478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28324777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97404725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704167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559167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1A7DDD8-99CC-494B-89CD-657EB54FAB46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021105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17938109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8556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670226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BBE4307-3055-4912-9177-EA7E3C69B32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72784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903928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319540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9646893-D917-4210-8256-4E51AB9AF3A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údo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80632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90146294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48571289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92478586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361170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609684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246CB51-DBFB-4016-9ABF-976A861A7A2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Imagem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6249290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04431229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no ícone para adicionar imagem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64893234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63519999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092733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26513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BC76D8-5264-4616-BFC1-67054919A427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4834" name=""/>
          <p:cNvPicPr/>
          <p:nvPr/>
        </p:nvPicPr>
        <p:blipFill rotWithShape="1">
          <a:blip r:embed="rId3"/>
          <a:stretch/>
        </p:blipFill>
        <p:spPr bwMode="auto">
          <a:xfrm>
            <a:off x="14760" y="0"/>
            <a:ext cx="46746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9859002" name=""/>
          <p:cNvSpPr/>
          <p:nvPr/>
        </p:nvSpPr>
        <p:spPr bwMode="auto">
          <a:xfrm>
            <a:off x="3559320" y="52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532331" name=""/>
          <p:cNvSpPr/>
          <p:nvPr/>
        </p:nvSpPr>
        <p:spPr bwMode="auto">
          <a:xfrm>
            <a:off x="35593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50607" name=""/>
          <p:cNvSpPr/>
          <p:nvPr/>
        </p:nvSpPr>
        <p:spPr bwMode="auto">
          <a:xfrm>
            <a:off x="24469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507591" name=""/>
          <p:cNvSpPr/>
          <p:nvPr/>
        </p:nvSpPr>
        <p:spPr bwMode="auto">
          <a:xfrm>
            <a:off x="3559320" y="2175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848224" name=""/>
          <p:cNvSpPr/>
          <p:nvPr/>
        </p:nvSpPr>
        <p:spPr bwMode="auto">
          <a:xfrm>
            <a:off x="3559320" y="2877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284423" name=""/>
          <p:cNvSpPr/>
          <p:nvPr/>
        </p:nvSpPr>
        <p:spPr bwMode="auto">
          <a:xfrm>
            <a:off x="1334880" y="42879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89550" name=""/>
          <p:cNvSpPr/>
          <p:nvPr/>
        </p:nvSpPr>
        <p:spPr bwMode="auto">
          <a:xfrm>
            <a:off x="5081760" y="259560"/>
            <a:ext cx="686448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d-GEV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(Koutsoyiannis et al. 1998 + Ulrich et al. 2020):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Posição 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e </a:t>
            </a: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escala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invariância de escala simples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Forma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constante ao longo das durações (1—24 h, mais informação)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Alguns postos: extremos não capturados pela cauda ajustada (1 h).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389252" name=""/>
          <p:cNvSpPr/>
          <p:nvPr/>
        </p:nvSpPr>
        <p:spPr bwMode="auto">
          <a:xfrm>
            <a:off x="5081760" y="6182640"/>
            <a:ext cx="6856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κ</a:t>
            </a:r>
            <a:r>
              <a:rPr lang="pt-BR" sz="1400" b="0" u="none" strike="noStrike" baseline="-25000">
                <a:solidFill>
                  <a:schemeClr val="dk1"/>
                </a:solidFill>
                <a:latin typeface="Consolas"/>
                <a:ea typeface="Consolas"/>
              </a:rPr>
              <a:t>d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= κ é razoável?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7787656" name=""/>
          <p:cNvPicPr/>
          <p:nvPr/>
        </p:nvPicPr>
        <p:blipFill rotWithShape="1">
          <a:blip r:embed="rId3"/>
          <a:stretch/>
        </p:blipFill>
        <p:spPr bwMode="auto">
          <a:xfrm>
            <a:off x="5092920" y="677520"/>
            <a:ext cx="6506640" cy="5205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8349387" name=""/>
          <p:cNvPicPr/>
          <p:nvPr/>
        </p:nvPicPr>
        <p:blipFill rotWithShape="1">
          <a:blip r:embed="rId3"/>
          <a:stretch/>
        </p:blipFill>
        <p:spPr bwMode="auto">
          <a:xfrm>
            <a:off x="781920" y="1641240"/>
            <a:ext cx="5476680" cy="421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2956192" name=""/>
          <p:cNvSpPr/>
          <p:nvPr/>
        </p:nvSpPr>
        <p:spPr bwMode="auto">
          <a:xfrm>
            <a:off x="111276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A812; d = 20 h; 12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042114" name=""/>
          <p:cNvPicPr/>
          <p:nvPr/>
        </p:nvPicPr>
        <p:blipFill rotWithShape="1">
          <a:blip r:embed="rId4"/>
          <a:stretch/>
        </p:blipFill>
        <p:spPr bwMode="auto">
          <a:xfrm>
            <a:off x="6258600" y="1641240"/>
            <a:ext cx="5475240" cy="42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0540702" name=""/>
          <p:cNvSpPr/>
          <p:nvPr/>
        </p:nvSpPr>
        <p:spPr bwMode="auto">
          <a:xfrm>
            <a:off x="660960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A801; d = 20 h; 18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03602" name=""/>
          <p:cNvSpPr/>
          <p:nvPr/>
        </p:nvSpPr>
        <p:spPr bwMode="auto">
          <a:xfrm>
            <a:off x="1112760" y="824400"/>
            <a:ext cx="65512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Instabilidades em durações maiores (pouca variabilidade?)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7419722" name=""/>
          <p:cNvPicPr/>
          <p:nvPr/>
        </p:nvPicPr>
        <p:blipFill rotWithShape="1">
          <a:blip r:embed="rId3"/>
          <a:stretch/>
        </p:blipFill>
        <p:spPr bwMode="auto">
          <a:xfrm>
            <a:off x="62265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0592790" name=""/>
          <p:cNvPicPr/>
          <p:nvPr/>
        </p:nvPicPr>
        <p:blipFill rotWithShape="1">
          <a:blip r:embed="rId4"/>
          <a:stretch/>
        </p:blipFill>
        <p:spPr bwMode="auto">
          <a:xfrm>
            <a:off x="3369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116274" name=""/>
          <p:cNvSpPr txBox="1"/>
          <p:nvPr/>
        </p:nvSpPr>
        <p:spPr bwMode="auto">
          <a:xfrm>
            <a:off x="135360" y="121680"/>
            <a:ext cx="5012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defRPr/>
            </a:pP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Testes com ‘perfil de verossimilhança’ p/ d-GEV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Estação ‘430060402A’ sem informação </a:t>
            </a:r>
            <a:r>
              <a:rPr lang="pt-BR" sz="1800" b="0" i="1" u="none" strike="noStrike">
                <a:solidFill>
                  <a:srgbClr val="000000"/>
                </a:solidFill>
                <a:latin typeface="Arial"/>
              </a:rPr>
              <a:t>a priori</a:t>
            </a: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7689276" name=""/>
          <p:cNvPicPr/>
          <p:nvPr/>
        </p:nvPicPr>
        <p:blipFill rotWithShape="1">
          <a:blip r:embed="rId3"/>
          <a:stretch/>
        </p:blipFill>
        <p:spPr bwMode="auto">
          <a:xfrm>
            <a:off x="18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1107398" name=""/>
          <p:cNvPicPr/>
          <p:nvPr/>
        </p:nvPicPr>
        <p:blipFill rotWithShape="1">
          <a:blip r:embed="rId4"/>
          <a:stretch/>
        </p:blipFill>
        <p:spPr bwMode="auto">
          <a:xfrm>
            <a:off x="396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8418117" name=""/>
          <p:cNvPicPr/>
          <p:nvPr/>
        </p:nvPicPr>
        <p:blipFill rotWithShape="1">
          <a:blip r:embed="rId5"/>
          <a:stretch/>
        </p:blipFill>
        <p:spPr bwMode="auto">
          <a:xfrm>
            <a:off x="770256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4151566" name=""/>
          <p:cNvPicPr/>
          <p:nvPr/>
        </p:nvPicPr>
        <p:blipFill rotWithShape="1">
          <a:blip r:embed="rId6"/>
          <a:stretch/>
        </p:blipFill>
        <p:spPr bwMode="auto">
          <a:xfrm>
            <a:off x="21276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0995454" name=""/>
          <p:cNvPicPr/>
          <p:nvPr/>
        </p:nvPicPr>
        <p:blipFill rotWithShape="1">
          <a:blip r:embed="rId7"/>
          <a:stretch/>
        </p:blipFill>
        <p:spPr bwMode="auto">
          <a:xfrm>
            <a:off x="395532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155179" name=""/>
          <p:cNvSpPr txBox="1"/>
          <p:nvPr/>
        </p:nvSpPr>
        <p:spPr bwMode="auto">
          <a:xfrm rot="0" flipH="0" flipV="0">
            <a:off x="451144" y="423332"/>
            <a:ext cx="4912596" cy="2103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i="0"/>
              <a:t>Perfis de verossimilhança da d-GEV com e sem distribuição a priori estão com picos que ocorrem quando a maximização da função de log-verossimilhança encontra um máximo com k = 0</a:t>
            </a:r>
            <a:endParaRPr lang="pt-BR" sz="1200" i="0"/>
          </a:p>
          <a:p>
            <a:pPr algn="just">
              <a:defRPr/>
            </a:pPr>
            <a:endParaRPr sz="1200" i="0"/>
          </a:p>
          <a:p>
            <a:pPr algn="just">
              <a:defRPr/>
            </a:pPr>
            <a:r>
              <a:rPr lang="pt-BR" sz="1200" i="0"/>
              <a:t>Essas estimativas são entre 10^-16 e 10^-17. Valores com essa precisão o R (e o próprio computador) entendem como sendo iguais a zero. No momento da maximização de l_p para criação do perfil, o algoritmo cria um </a:t>
            </a:r>
            <a:r>
              <a:rPr lang="pt-BR" sz="1200" b="1" i="0"/>
              <a:t>pico</a:t>
            </a:r>
            <a:r>
              <a:rPr lang="pt-BR" sz="1200" b="0" i="0"/>
              <a:t> exatamente nesse ponto, que logo normaliza.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Todas as estações abaixo com a estimativa original exatamente em 0 sofrem com esse problema:</a:t>
            </a:r>
            <a:endParaRPr sz="1200" b="0" i="0"/>
          </a:p>
        </p:txBody>
      </p:sp>
      <p:pic>
        <p:nvPicPr>
          <p:cNvPr id="39808003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299" y="2706803"/>
            <a:ext cx="5384282" cy="30748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993946" name=""/>
          <p:cNvSpPr txBox="1"/>
          <p:nvPr/>
        </p:nvSpPr>
        <p:spPr bwMode="auto">
          <a:xfrm rot="0" flipH="0" flipV="0">
            <a:off x="451144" y="423332"/>
            <a:ext cx="4912596" cy="2103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i="0"/>
              <a:t>Perfis de verossimilhança da d-GEV com e sem distribuição a priori estão com picos que ocorrem quando a maximização da função de log-verossimilhança encontra um máximo com k = 0</a:t>
            </a:r>
            <a:endParaRPr lang="pt-BR" sz="1200" i="0"/>
          </a:p>
          <a:p>
            <a:pPr algn="just">
              <a:defRPr/>
            </a:pPr>
            <a:endParaRPr sz="1200" i="0"/>
          </a:p>
          <a:p>
            <a:pPr algn="just">
              <a:defRPr/>
            </a:pPr>
            <a:r>
              <a:rPr lang="pt-BR" sz="1200" i="0"/>
              <a:t>Essas estimativas são entre 10^-16 e 10^-17. Valores com essa precisão o R (e o próprio computador) entendem como sendo iguais a zero. No momento da maximização de l_p para criação do perfil, o algoritmo cria um </a:t>
            </a:r>
            <a:r>
              <a:rPr lang="pt-BR" sz="1200" b="1" i="0"/>
              <a:t>pico</a:t>
            </a:r>
            <a:r>
              <a:rPr lang="pt-BR" sz="1200" b="0" i="0"/>
              <a:t> exatamente nesse ponto, que logo normaliza.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Todas as estações abaixo com a estimativa original exatamente em 0 sofrem com esse problema:</a:t>
            </a:r>
            <a:endParaRPr sz="1200" b="0" i="0"/>
          </a:p>
        </p:txBody>
      </p:sp>
      <p:pic>
        <p:nvPicPr>
          <p:cNvPr id="8861112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299" y="2706803"/>
            <a:ext cx="5384282" cy="3074871"/>
          </a:xfrm>
          <a:prstGeom prst="rect">
            <a:avLst/>
          </a:prstGeom>
        </p:spPr>
      </p:pic>
      <p:sp>
        <p:nvSpPr>
          <p:cNvPr id="100683157" name=""/>
          <p:cNvSpPr txBox="1"/>
          <p:nvPr/>
        </p:nvSpPr>
        <p:spPr bwMode="auto">
          <a:xfrm rot="0" flipH="0" flipV="0">
            <a:off x="6537618" y="423333"/>
            <a:ext cx="4947514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 estação abaixo </a:t>
            </a:r>
            <a:r>
              <a:rPr lang="pt-BR" sz="1200"/>
              <a:t>é um exemplo. O perfil de verossimilhança resultante é o seguinte:</a:t>
            </a:r>
            <a:endParaRPr sz="1200"/>
          </a:p>
        </p:txBody>
      </p:sp>
      <p:pic>
        <p:nvPicPr>
          <p:cNvPr id="8885035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197646" y="880893"/>
            <a:ext cx="3493180" cy="2161185"/>
          </a:xfrm>
          <a:prstGeom prst="rect">
            <a:avLst/>
          </a:prstGeom>
        </p:spPr>
      </p:pic>
      <p:sp>
        <p:nvSpPr>
          <p:cNvPr id="1911083451" name=""/>
          <p:cNvSpPr txBox="1"/>
          <p:nvPr/>
        </p:nvSpPr>
        <p:spPr bwMode="auto">
          <a:xfrm rot="0" flipH="0" flipV="0">
            <a:off x="6403339" y="2925900"/>
            <a:ext cx="5081794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 estimativa original de k é da ordem de 10^-17 (0, para o computador), mas o valor `max_ll` encontrado pela função `nll.dgev()` é -430. Na otimização do perfil, porém, um novo máximo é encontrado (mostrado acima), igual a -172, muito acima dos demais. Se removermos este valor, o perfil aparenta ser “normalizado”:</a:t>
            </a:r>
            <a:endParaRPr sz="1200"/>
          </a:p>
        </p:txBody>
      </p:sp>
      <p:pic>
        <p:nvPicPr>
          <p:cNvPr id="10047045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197646" y="4029075"/>
            <a:ext cx="3493180" cy="2161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234881" name=""/>
          <p:cNvSpPr txBox="1"/>
          <p:nvPr/>
        </p:nvSpPr>
        <p:spPr bwMode="auto">
          <a:xfrm rot="0" flipH="0" flipV="0">
            <a:off x="451144" y="423332"/>
            <a:ext cx="5136876" cy="15548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Precisamos analisar se no perfil dos demais parâmetros este pico também está presente e por que o otimizador encontra um máximo tão próximo a zero, sendo que o restante do perfil (olhando para o perfil de verossimilhança) não indica que seria Gumbel?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0" i="0"/>
              <a:t>Analisando o perfil dos outros parâmetros, este pico não está presente e todos os demais aparentam. Todos apresentam um pico em volta de -433, que seria o pico do perfil problem</a:t>
            </a:r>
            <a:r>
              <a:rPr lang="pt-BR" sz="1200" b="0" i="0"/>
              <a:t>a.</a:t>
            </a:r>
            <a:endParaRPr sz="1200" b="0" i="0"/>
          </a:p>
        </p:txBody>
      </p:sp>
      <p:pic>
        <p:nvPicPr>
          <p:cNvPr id="161049700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3424" y="2041037"/>
            <a:ext cx="3382667" cy="2092811"/>
          </a:xfrm>
          <a:prstGeom prst="rect">
            <a:avLst/>
          </a:prstGeom>
        </p:spPr>
      </p:pic>
      <p:pic>
        <p:nvPicPr>
          <p:cNvPr id="122114289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53424" y="4155427"/>
            <a:ext cx="3382667" cy="2092811"/>
          </a:xfrm>
          <a:prstGeom prst="rect">
            <a:avLst/>
          </a:prstGeom>
        </p:spPr>
      </p:pic>
      <p:pic>
        <p:nvPicPr>
          <p:cNvPr id="105379038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201749" y="88214"/>
            <a:ext cx="3343275" cy="2068440"/>
          </a:xfrm>
          <a:prstGeom prst="rect">
            <a:avLst/>
          </a:prstGeom>
        </p:spPr>
      </p:pic>
      <p:pic>
        <p:nvPicPr>
          <p:cNvPr id="29489299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201749" y="2204279"/>
            <a:ext cx="3343275" cy="2068440"/>
          </a:xfrm>
          <a:prstGeom prst="rect">
            <a:avLst/>
          </a:prstGeom>
        </p:spPr>
      </p:pic>
      <p:pic>
        <p:nvPicPr>
          <p:cNvPr id="76461277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201749" y="4552949"/>
            <a:ext cx="3387012" cy="2095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868221" name=""/>
          <p:cNvSpPr txBox="1"/>
          <p:nvPr/>
        </p:nvSpPr>
        <p:spPr bwMode="auto">
          <a:xfrm rot="0" flipH="0" flipV="0">
            <a:off x="451144" y="423332"/>
            <a:ext cx="516819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Olhando p/ data.frame resultante, percebe-se que `message == 1` p/ kappa:</a:t>
            </a:r>
            <a:endParaRPr sz="1200" b="0" i="0"/>
          </a:p>
        </p:txBody>
      </p:sp>
      <p:pic>
        <p:nvPicPr>
          <p:cNvPr id="193296224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3543" y="930447"/>
            <a:ext cx="5076574" cy="1055345"/>
          </a:xfrm>
          <a:prstGeom prst="rect">
            <a:avLst/>
          </a:prstGeom>
        </p:spPr>
      </p:pic>
      <p:sp>
        <p:nvSpPr>
          <p:cNvPr id="4201576" name=""/>
          <p:cNvSpPr txBox="1"/>
          <p:nvPr/>
        </p:nvSpPr>
        <p:spPr bwMode="auto">
          <a:xfrm rot="0" flipH="0" flipV="0">
            <a:off x="451144" y="2118781"/>
            <a:ext cx="5238395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Quando isso ocorre, é um indicativo de que a função `ciprof.par()` internamente caiu no seguinte if:</a:t>
            </a:r>
            <a:endParaRPr sz="1200" b="0" i="0"/>
          </a:p>
        </p:txBody>
      </p:sp>
      <p:pic>
        <p:nvPicPr>
          <p:cNvPr id="11545661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51144" y="2632262"/>
            <a:ext cx="5473087" cy="3225612"/>
          </a:xfrm>
          <a:prstGeom prst="rect">
            <a:avLst/>
          </a:prstGeom>
        </p:spPr>
      </p:pic>
      <p:sp>
        <p:nvSpPr>
          <p:cNvPr id="2086783784" name=""/>
          <p:cNvSpPr txBox="1"/>
          <p:nvPr/>
        </p:nvSpPr>
        <p:spPr bwMode="auto">
          <a:xfrm rot="0" flipH="0" flipV="0">
            <a:off x="6095998" y="423331"/>
            <a:ext cx="5727994" cy="4480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Ou seja, a função `roots.proflik()`, durante a otimização de par[-kappa] parâmetros (ou seja, a criação do perfil p/ kappa) testou um step em que kappa = 10^-17 (???) que resultou no pico observado com `loglik` == -172.</a:t>
            </a:r>
            <a:br>
              <a:rPr lang="pt-BR" sz="1200" b="0" i="0"/>
            </a:br>
            <a:br>
              <a:rPr lang="pt-BR" sz="1200" b="0" i="0"/>
            </a:br>
            <a:r>
              <a:rPr lang="pt-BR" sz="1200" b="0" i="0"/>
              <a:t>Isso pode ser visto tanto com `message == 1` como `max` == -172 (indicando que o máximo utilizado foi -172 e que o parâmetro que causou o novo máximo foi kappa, pois é o único com `message` == 1).</a:t>
            </a:r>
            <a:endParaRPr lang="pt-BR" sz="1200" b="0" i="0"/>
          </a:p>
          <a:p>
            <a:pPr algn="just">
              <a:defRPr/>
            </a:pPr>
            <a:endParaRPr sz="1200" b="0" i="0"/>
          </a:p>
          <a:p>
            <a:pPr algn="just">
              <a:defRPr/>
            </a:pPr>
            <a:r>
              <a:rPr lang="pt-BR" sz="1200" b="1" i="0"/>
              <a:t>Possíveis aterações em fitprof.dgev()</a:t>
            </a:r>
            <a:endParaRPr lang="pt-BR" sz="1200" b="1" i="0"/>
          </a:p>
          <a:p>
            <a:pPr marL="217793" indent="-217793" algn="just">
              <a:buAutoNum type="arabicPeriod"/>
              <a:defRPr/>
            </a:pPr>
            <a:r>
              <a:rPr lang="pt-BR" sz="1200" b="0" i="0"/>
              <a:t>Remover todas as observações associadas à `slopes` muito elevados dentro da função roots.proflik() após o `while` terminar de rodar;</a:t>
            </a:r>
            <a:endParaRPr lang="pt-BR" sz="1200" b="0" i="0"/>
          </a:p>
          <a:p>
            <a:pPr marL="217793" indent="-217793" algn="just">
              <a:buAutoNum type="arabicPeriod"/>
              <a:defRPr/>
            </a:pPr>
            <a:r>
              <a:rPr lang="pt-BR" sz="1200" b="0" i="0"/>
              <a:t>Avaliar cada valor de `val.i`. Se `i == 3`, val.i &gt; step</a:t>
            </a:r>
            <a:endParaRPr lang="pt-BR" sz="1200" b="0" i="0"/>
          </a:p>
          <a:p>
            <a:pPr marL="217793" indent="-217793" algn="just">
              <a:buAutoNum type="arabicPeriod"/>
              <a:defRPr/>
            </a:pPr>
            <a:endParaRPr sz="1200" b="0" i="0"/>
          </a:p>
          <a:p>
            <a:pPr algn="just">
              <a:defRPr/>
            </a:pPr>
            <a:r>
              <a:rPr lang="pt-BR" sz="1200" b="1" i="0"/>
              <a:t>Avaliar ainda se</a:t>
            </a:r>
            <a:endParaRPr lang="pt-BR" sz="1200" b="0" i="0"/>
          </a:p>
          <a:p>
            <a:pPr marL="217793" indent="-217793" algn="just">
              <a:buFont typeface="Arial"/>
              <a:buChar char="•"/>
              <a:defRPr/>
            </a:pPr>
            <a:r>
              <a:rPr lang="pt-BR" sz="1200" b="0" i="0"/>
              <a:t>Esse comportamento com o `message` se repete para todas as outras estações com este mesmo problema? </a:t>
            </a:r>
            <a:r>
              <a:rPr lang="pt-BR" sz="1200" b="0" i="1"/>
              <a:t>Algumas estações `message` em kappa é 0, mas found_max é diferente de max_ll, indicando que a avaliação de outro perfil que gerou o pico</a:t>
            </a:r>
            <a:r>
              <a:rPr lang="pt-BR" sz="1200" b="0" i="0"/>
              <a:t>.</a:t>
            </a:r>
            <a:endParaRPr sz="1200" b="0" i="0"/>
          </a:p>
          <a:p>
            <a:pPr algn="just">
              <a:defRPr/>
            </a:pPr>
            <a:endParaRPr lang="pt-BR" sz="1200" b="0" i="0"/>
          </a:p>
          <a:p>
            <a:pPr algn="just">
              <a:defRPr/>
            </a:pPr>
            <a:endParaRPr lang="pt-BR" sz="1200" b="0" i="0"/>
          </a:p>
          <a:p>
            <a:pPr algn="just">
              <a:defRPr/>
            </a:pPr>
            <a:endParaRPr lang="pt-BR" sz="1200" b="0" i="0"/>
          </a:p>
          <a:p>
            <a:pPr marL="217792" indent="-217792" algn="just">
              <a:buAutoNum type="arabicPeriod"/>
              <a:defRPr/>
            </a:pPr>
            <a:endParaRPr lang="pt-BR" sz="1200" b="0" i="0"/>
          </a:p>
          <a:p>
            <a:pPr marL="217793" indent="-217793" algn="just">
              <a:buFont typeface="Arial"/>
              <a:buChar char="•"/>
              <a:defRPr/>
            </a:pPr>
            <a:r>
              <a:rPr lang="pt-BR" sz="1200" b="0" i="0"/>
              <a:t>Ao rodar a função fdgev() para a série, construir um vetor de `val.i` usando o step calculado na função roots.proflik(), o valor de val.i = 10^-17 aparece?</a:t>
            </a:r>
            <a:endParaRPr lang="pt-BR" sz="1200" b="0"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304891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0892" y="36553"/>
            <a:ext cx="4149939" cy="2556362"/>
          </a:xfrm>
          <a:prstGeom prst="rect">
            <a:avLst/>
          </a:prstGeom>
        </p:spPr>
      </p:pic>
      <p:pic>
        <p:nvPicPr>
          <p:cNvPr id="11271105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16021" y="2557605"/>
            <a:ext cx="4656960" cy="871394"/>
          </a:xfrm>
          <a:prstGeom prst="rect">
            <a:avLst/>
          </a:prstGeom>
        </p:spPr>
      </p:pic>
      <p:pic>
        <p:nvPicPr>
          <p:cNvPr id="53563027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-13949" y="3429000"/>
            <a:ext cx="4259624" cy="2623928"/>
          </a:xfrm>
          <a:prstGeom prst="rect">
            <a:avLst/>
          </a:prstGeom>
        </p:spPr>
      </p:pic>
      <p:pic>
        <p:nvPicPr>
          <p:cNvPr id="161458988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-13949" y="6052928"/>
            <a:ext cx="4656960" cy="823923"/>
          </a:xfrm>
          <a:prstGeom prst="rect">
            <a:avLst/>
          </a:prstGeom>
        </p:spPr>
      </p:pic>
      <p:sp>
        <p:nvSpPr>
          <p:cNvPr id="534517248" name=""/>
          <p:cNvSpPr txBox="1"/>
          <p:nvPr/>
        </p:nvSpPr>
        <p:spPr bwMode="auto">
          <a:xfrm rot="0" flipH="0" flipV="0">
            <a:off x="4843227" y="6236110"/>
            <a:ext cx="5218595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No caso de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430700502A</a:t>
            </a:r>
            <a:r>
              <a:rPr lang="pt-BR" sz="1200" b="0" i="0"/>
              <a:t>, não foi kappa que resultou na substituição dos parâmetros, mas o único destoante e com pico é kappa.</a:t>
            </a:r>
            <a:endParaRPr sz="1200" b="0" i="0"/>
          </a:p>
        </p:txBody>
      </p:sp>
      <p:sp>
        <p:nvSpPr>
          <p:cNvPr id="1182597794" name=""/>
          <p:cNvSpPr txBox="1"/>
          <p:nvPr/>
        </p:nvSpPr>
        <p:spPr bwMode="auto">
          <a:xfrm rot="0" flipH="0" flipV="0">
            <a:off x="4995626" y="223718"/>
            <a:ext cx="5272234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pt-BR" sz="1200" b="0" i="0"/>
              <a:t>Valores de `slope` dos perfis das estações com k aprox 0:</a:t>
            </a:r>
            <a:endParaRPr lang="pt-BR" sz="1200" b="0" i="0"/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430060402A</a:t>
            </a:r>
            <a:r>
              <a:rPr lang="pt-BR" sz="1200" b="0" i="0"/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637361.2;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430350901A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5623123;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430700502A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max(slope) =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121316.4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;</a:t>
            </a:r>
            <a:endParaRPr lang="pt-BR" sz="12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17793" indent="-217793" algn="just">
              <a:buFont typeface="Arial"/>
              <a:buChar char="–"/>
              <a:defRPr/>
            </a:pPr>
            <a:endParaRPr sz="1200" b="0" i="0"/>
          </a:p>
        </p:txBody>
      </p:sp>
      <p:pic>
        <p:nvPicPr>
          <p:cNvPr id="114865891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438774" y="2793277"/>
            <a:ext cx="3933824" cy="400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262081" name=""/>
          <p:cNvSpPr txBox="1"/>
          <p:nvPr/>
        </p:nvSpPr>
        <p:spPr bwMode="auto">
          <a:xfrm rot="0" flipH="0" flipV="0">
            <a:off x="233127" y="223718"/>
            <a:ext cx="5308234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Analisando a série da estação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430060402A</a:t>
            </a:r>
            <a:r>
              <a:rPr lang="pt-BR" sz="1200"/>
              <a:t>, a estimativa original com a função `fdgev()` retorna estimativas aparentemente razoáveis:</a:t>
            </a:r>
            <a:endParaRPr sz="1200"/>
          </a:p>
        </p:txBody>
      </p:sp>
      <p:pic>
        <p:nvPicPr>
          <p:cNvPr id="196751677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7024" y="681278"/>
            <a:ext cx="5267324" cy="5924549"/>
          </a:xfrm>
          <a:prstGeom prst="rect">
            <a:avLst/>
          </a:prstGeom>
        </p:spPr>
      </p:pic>
      <p:sp>
        <p:nvSpPr>
          <p:cNvPr id="731842754" name=""/>
          <p:cNvSpPr txBox="1"/>
          <p:nvPr/>
        </p:nvSpPr>
        <p:spPr bwMode="auto">
          <a:xfrm rot="0" flipH="0" flipV="0">
            <a:off x="5888860" y="223718"/>
            <a:ext cx="5525313" cy="2438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O problema aparentemente ocorre em razão do próprio `while` em combinação com o step ajustado.</a:t>
            </a:r>
            <a:endParaRPr lang="pt-BR" sz="1200"/>
          </a:p>
          <a:p>
            <a:pPr>
              <a:defRPr/>
            </a:pPr>
            <a:r>
              <a:rPr lang="pt-BR" sz="1200"/>
              <a:t>Atualmente, o quando val.i != 0, step é recalculado como step*abs(val.i).</a:t>
            </a:r>
            <a:endParaRPr lang="pt-BR" sz="1200"/>
          </a:p>
          <a:p>
            <a:pPr>
              <a:defRPr/>
            </a:pPr>
            <a:r>
              <a:rPr lang="pt-BR" sz="1200"/>
              <a:t>Para esse caso em que kappa = 0.082 e step = </a:t>
            </a:r>
            <a:r>
              <a:rPr lang="pt-BR" sz="1200"/>
              <a:t>0.005, o step resultante é igual a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0.0004125329</a:t>
            </a:r>
            <a:r>
              <a:rPr lang="pt-BR" sz="1200"/>
              <a:t>.</a:t>
            </a:r>
            <a:br>
              <a:rPr lang="pt-BR" sz="1200"/>
            </a:br>
            <a:r>
              <a:rPr lang="pt-BR" sz="1200"/>
              <a:t>Avaliando uma sequencia que o while avaliaria:</a:t>
            </a:r>
            <a:endParaRPr lang="pt-BR" sz="1200"/>
          </a:p>
          <a:p>
            <a:pPr>
              <a:defRPr/>
            </a:pPr>
            <a:r>
              <a:rPr lang="pt-BR" sz="1200"/>
              <a:t>val.i &lt;-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seq(fit$par[[3]], -1, -step.adjusted)</a:t>
            </a:r>
            <a:br>
              <a:rPr lang="pt-BR" sz="1200"/>
            </a:br>
            <a:r>
              <a:rPr lang="pt-BR" sz="1200"/>
              <a:t>Em determinado momento, a seguinte sequência ocorre:</a:t>
            </a:r>
            <a:endParaRPr lang="pt-BR" sz="1200"/>
          </a:p>
          <a:p>
            <a:pPr>
              <a:defRPr/>
            </a:pPr>
            <a:endParaRPr sz="1200"/>
          </a:p>
          <a:p>
            <a:pPr>
              <a:defRPr/>
            </a:pPr>
            <a:endParaRPr lang="pt-BR" sz="1200"/>
          </a:p>
          <a:p>
            <a:pPr>
              <a:defRPr/>
            </a:pPr>
            <a:r>
              <a:rPr lang="pt-BR" sz="1200"/>
              <a:t>Nesse momento, ocorre o kappa = 10^-17 que retorna o erro.</a:t>
            </a:r>
            <a:endParaRPr lang="pt-BR" sz="1200"/>
          </a:p>
          <a:p>
            <a:pPr>
              <a:defRPr/>
            </a:pPr>
            <a:endParaRPr/>
          </a:p>
          <a:p>
            <a:pPr>
              <a:defRPr/>
            </a:pPr>
            <a:r>
              <a:rPr lang="pt-BR" sz="1200"/>
              <a:t>Isso também foi conferido com a estação </a:t>
            </a:r>
            <a:r>
              <a:rPr lang="pt-BR" sz="1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430920901A</a:t>
            </a:r>
            <a:r>
              <a:rPr lang="pt-BR" sz="1200"/>
              <a:t>:</a:t>
            </a:r>
            <a:endParaRPr/>
          </a:p>
        </p:txBody>
      </p:sp>
      <p:pic>
        <p:nvPicPr>
          <p:cNvPr id="14643980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88860" y="1714423"/>
            <a:ext cx="3971925" cy="352424"/>
          </a:xfrm>
          <a:prstGeom prst="rect">
            <a:avLst/>
          </a:prstGeom>
        </p:spPr>
      </p:pic>
      <p:pic>
        <p:nvPicPr>
          <p:cNvPr id="209318205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888860" y="2662478"/>
            <a:ext cx="3800819" cy="3943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2629008" name=""/>
          <p:cNvSpPr/>
          <p:nvPr/>
        </p:nvSpPr>
        <p:spPr bwMode="auto">
          <a:xfrm flipH="0" flipV="0">
            <a:off x="258913" y="251565"/>
            <a:ext cx="4932687" cy="1036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/>
              <a:t>A solução que está sendo testada é simplesmente adaptar o passo de busca, adicionando um `jitter` de 1e-7 no passo, para que ele nunca teste um valor múltiplo do proprio parâmetro.</a:t>
            </a:r>
            <a:br>
              <a:rPr lang="pt-BR" sz="1200"/>
            </a:br>
            <a:br>
              <a:rPr sz="1400"/>
            </a:b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400"/>
          </a:p>
        </p:txBody>
      </p:sp>
      <p:pic>
        <p:nvPicPr>
          <p:cNvPr id="4915861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9099" y="1419753"/>
            <a:ext cx="4762499" cy="2933699"/>
          </a:xfrm>
          <a:prstGeom prst="rect">
            <a:avLst/>
          </a:prstGeom>
        </p:spPr>
      </p:pic>
      <p:pic>
        <p:nvPicPr>
          <p:cNvPr id="186896691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540374" y="1419753"/>
            <a:ext cx="4762499" cy="2933699"/>
          </a:xfrm>
          <a:prstGeom prst="rect">
            <a:avLst/>
          </a:prstGeom>
        </p:spPr>
      </p:pic>
      <p:sp>
        <p:nvSpPr>
          <p:cNvPr id="1437246668" name=""/>
          <p:cNvSpPr txBox="1"/>
          <p:nvPr/>
        </p:nvSpPr>
        <p:spPr bwMode="auto">
          <a:xfrm rot="0" flipH="0" flipV="0">
            <a:off x="5818187" y="495224"/>
            <a:ext cx="5032435" cy="1006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pt-BR" sz="1200"/>
              <a:t>Porra é essa vei</a:t>
            </a:r>
            <a:br>
              <a:rPr lang="pt-BR" sz="1200"/>
            </a:br>
            <a:br>
              <a:rPr lang="pt-BR" sz="1200"/>
            </a:br>
            <a:r>
              <a:rPr lang="pt-BR" sz="1200"/>
              <a:t>O step definido nunca vai escolher um valor negativo, ele precisa ser definido fora da função `roots.proflik()` senão, se for negativo, vai sempre virar positivo por isso não tem perfil a esquerda. 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150097" name=""/>
          <p:cNvSpPr/>
          <p:nvPr/>
        </p:nvSpPr>
        <p:spPr bwMode="auto">
          <a:xfrm flipH="0" flipV="0">
            <a:off x="258912" y="251564"/>
            <a:ext cx="4932686" cy="103667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/>
              <a:t>A solução que está sendo testada é simplesmente adaptar o passo de busca, adicionando um `jitter` de 1e-7 no passo, para que ele nunca teste um valor múltiplo do proprio parâmetro.</a:t>
            </a:r>
            <a:br>
              <a:rPr lang="pt-BR" sz="1200"/>
            </a:br>
            <a:br>
              <a:rPr sz="1400"/>
            </a:b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2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2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2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400"/>
          </a:p>
        </p:txBody>
      </p:sp>
      <p:pic>
        <p:nvPicPr>
          <p:cNvPr id="18680511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9098" y="1419752"/>
            <a:ext cx="4762498" cy="2933698"/>
          </a:xfrm>
          <a:prstGeom prst="rect">
            <a:avLst/>
          </a:prstGeom>
        </p:spPr>
      </p:pic>
      <p:pic>
        <p:nvPicPr>
          <p:cNvPr id="200116615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540373" y="611857"/>
            <a:ext cx="4762498" cy="2933698"/>
          </a:xfrm>
          <a:prstGeom prst="rect">
            <a:avLst/>
          </a:prstGeom>
        </p:spPr>
      </p:pic>
      <p:sp>
        <p:nvSpPr>
          <p:cNvPr id="249826768" name=""/>
          <p:cNvSpPr txBox="1"/>
          <p:nvPr/>
        </p:nvSpPr>
        <p:spPr bwMode="auto">
          <a:xfrm rot="0" flipH="0" flipV="0">
            <a:off x="5864878" y="251564"/>
            <a:ext cx="503495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pt-BR" sz="1200"/>
              <a:t>O step definido nunca vai escolher um valor negativo, ele precisa ser definido fora da função `roots.proflik()` senão, se for negativo, vai sempre virar positivo por isso não tem perfil a esquerda. </a:t>
            </a:r>
            <a:endParaRPr sz="1800"/>
          </a:p>
        </p:txBody>
      </p:sp>
      <p:sp>
        <p:nvSpPr>
          <p:cNvPr id="979031476" name=""/>
          <p:cNvSpPr txBox="1"/>
          <p:nvPr/>
        </p:nvSpPr>
        <p:spPr bwMode="auto">
          <a:xfrm rot="0" flipH="0" flipV="0">
            <a:off x="5864878" y="4033231"/>
            <a:ext cx="503567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 sz="1800"/>
          </a:p>
        </p:txBody>
      </p:sp>
      <p:sp>
        <p:nvSpPr>
          <p:cNvPr id="745247658" name=""/>
          <p:cNvSpPr/>
          <p:nvPr/>
        </p:nvSpPr>
        <p:spPr bwMode="auto">
          <a:xfrm flipH="0" flipV="0">
            <a:off x="5864878" y="3567111"/>
            <a:ext cx="5126394" cy="8080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200" b="0" i="0" u="none">
                <a:solidFill>
                  <a:schemeClr val="tx1"/>
                </a:solidFill>
                <a:latin typeface="Arial"/>
                <a:ea typeface="Arial"/>
                <a:cs typeface="Arial"/>
              </a:rPr>
              <a:t>A solução foi mover o mesmo ajuste do passo pra fora da função ciprof.par() e passar -step.par ou +step.par na função roots.proflik() a depender de qual lado se deseja procurar a raiz (esquerda ou direita)</a:t>
            </a:r>
            <a:endParaRPr sz="120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step.par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&lt;-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max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100" b="0" i="0" u="none">
                <a:solidFill>
                  <a:srgbClr val="7AA2F7"/>
                </a:solidFill>
                <a:latin typeface="RobotoMono Nerd Font"/>
                <a:ea typeface="RobotoMono Nerd Font"/>
                <a:cs typeface="RobotoMono Nerd Font"/>
              </a:rPr>
              <a:t>abs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(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*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par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[[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i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]])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,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C0CAF5"/>
                </a:solidFill>
                <a:latin typeface="RobotoMono Nerd Font"/>
                <a:ea typeface="RobotoMono Nerd Font"/>
                <a:cs typeface="RobotoMono Nerd Font"/>
              </a:rPr>
              <a:t>step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) </a:t>
            </a:r>
            <a:r>
              <a:rPr sz="1100" b="0" i="0" u="none">
                <a:solidFill>
                  <a:srgbClr val="89DDFF"/>
                </a:solidFill>
                <a:latin typeface="RobotoMono Nerd Font"/>
                <a:ea typeface="RobotoMono Nerd Font"/>
                <a:cs typeface="RobotoMono Nerd Font"/>
              </a:rPr>
              <a:t>+</a:t>
            </a:r>
            <a:r>
              <a:rPr sz="1100" b="0" i="0" u="none">
                <a:solidFill>
                  <a:srgbClr val="A9B1D6"/>
                </a:solidFill>
                <a:latin typeface="RobotoMono Nerd Font"/>
                <a:ea typeface="RobotoMono Nerd Font"/>
                <a:cs typeface="RobotoMono Nerd Font"/>
              </a:rPr>
              <a:t> </a:t>
            </a:r>
            <a:r>
              <a:rPr sz="1100" b="0" i="0" u="none">
                <a:solidFill>
                  <a:srgbClr val="FF9E64"/>
                </a:solidFill>
                <a:latin typeface="RobotoMono Nerd Font"/>
                <a:ea typeface="RobotoMono Nerd Font"/>
                <a:cs typeface="RobotoMono Nerd Font"/>
              </a:rPr>
              <a:t>1e-7</a:t>
            </a:r>
            <a:endParaRPr sz="1100" b="0" i="0" u="none">
              <a:solidFill>
                <a:srgbClr val="FF9E64"/>
              </a:solidFill>
              <a:latin typeface="RobotoMono Nerd Font"/>
              <a:ea typeface="RobotoMono Nerd Font"/>
              <a:cs typeface="RobotoMono Nerd Font"/>
            </a:endParaRPr>
          </a:p>
        </p:txBody>
      </p:sp>
      <p:pic>
        <p:nvPicPr>
          <p:cNvPr id="123240052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555232" y="4543279"/>
            <a:ext cx="3159476" cy="1954244"/>
          </a:xfrm>
          <a:prstGeom prst="rect">
            <a:avLst/>
          </a:prstGeom>
        </p:spPr>
      </p:pic>
      <p:pic>
        <p:nvPicPr>
          <p:cNvPr id="27109697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633558" y="4399351"/>
            <a:ext cx="3589035" cy="22199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756199" name=""/>
          <p:cNvSpPr/>
          <p:nvPr/>
        </p:nvSpPr>
        <p:spPr bwMode="auto">
          <a:xfrm flipH="0" flipV="0">
            <a:off x="258912" y="251564"/>
            <a:ext cx="5038166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Avaliar perfis `A801` com e sem priori:</a:t>
            </a:r>
            <a:endParaRPr sz="1100"/>
          </a:p>
        </p:txBody>
      </p:sp>
      <p:pic>
        <p:nvPicPr>
          <p:cNvPr id="2422863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8912" y="820176"/>
            <a:ext cx="4707685" cy="2905777"/>
          </a:xfrm>
          <a:prstGeom prst="rect">
            <a:avLst/>
          </a:prstGeom>
        </p:spPr>
      </p:pic>
      <p:sp>
        <p:nvSpPr>
          <p:cNvPr id="2071657138" name=""/>
          <p:cNvSpPr/>
          <p:nvPr/>
        </p:nvSpPr>
        <p:spPr bwMode="auto">
          <a:xfrm flipH="0" flipV="0">
            <a:off x="258912" y="511003"/>
            <a:ext cx="5042485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Sem priori:</a:t>
            </a:r>
            <a:endParaRPr sz="1100"/>
          </a:p>
        </p:txBody>
      </p:sp>
      <p:pic>
        <p:nvPicPr>
          <p:cNvPr id="198171456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58912" y="3909078"/>
            <a:ext cx="4707685" cy="2905778"/>
          </a:xfrm>
          <a:prstGeom prst="rect">
            <a:avLst/>
          </a:prstGeom>
        </p:spPr>
      </p:pic>
      <p:sp>
        <p:nvSpPr>
          <p:cNvPr id="2005406258" name=""/>
          <p:cNvSpPr/>
          <p:nvPr/>
        </p:nvSpPr>
        <p:spPr bwMode="auto">
          <a:xfrm flipH="0" flipV="0">
            <a:off x="258912" y="3649638"/>
            <a:ext cx="5044284" cy="2594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pt-BR" sz="1100"/>
              <a:t>Com priori:</a:t>
            </a:r>
            <a:endParaRPr sz="1100"/>
          </a:p>
        </p:txBody>
      </p:sp>
      <p:pic>
        <p:nvPicPr>
          <p:cNvPr id="125349605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929779" y="796429"/>
            <a:ext cx="4664615" cy="2879193"/>
          </a:xfrm>
          <a:prstGeom prst="rect">
            <a:avLst/>
          </a:prstGeom>
        </p:spPr>
      </p:pic>
      <p:pic>
        <p:nvPicPr>
          <p:cNvPr id="188233326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929779" y="3683531"/>
            <a:ext cx="4664615" cy="2879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64103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5" y="122245"/>
            <a:ext cx="4429640" cy="307312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Resultados com as funções finalizadas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1525801545" name="PlaceHolder 1"/>
          <p:cNvSpPr>
            <a:spLocks noGrp="1"/>
          </p:cNvSpPr>
          <p:nvPr/>
        </p:nvSpPr>
        <p:spPr bwMode="auto">
          <a:xfrm flipH="0" flipV="0">
            <a:off x="119035" y="581956"/>
            <a:ext cx="5232728" cy="307311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Resultados de `parname == “kappa”` (posteriormente seria bom plotar a mesma figura pra todos os parâmetros)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7837207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9035" y="1165798"/>
            <a:ext cx="4429640" cy="25296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072479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119034" y="122244"/>
            <a:ext cx="4429639" cy="307311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Resultados com as funções finalizadas</a:t>
            </a:r>
            <a:endParaRPr sz="1200" b="1">
              <a:latin typeface="Arial"/>
              <a:cs typeface="Arial"/>
            </a:endParaRPr>
          </a:p>
        </p:txBody>
      </p:sp>
      <p:sp>
        <p:nvSpPr>
          <p:cNvPr id="2022301747" name="PlaceHolder 1"/>
          <p:cNvSpPr>
            <a:spLocks noGrp="1"/>
          </p:cNvSpPr>
          <p:nvPr/>
        </p:nvSpPr>
        <p:spPr bwMode="auto">
          <a:xfrm rot="0" flipH="0" flipV="0">
            <a:off x="118800" y="374400"/>
            <a:ext cx="5440428" cy="91476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Análises das curvas Y, ou a(T) e comparações com as observações de y. Y_p foi gerado multiplicando as estimativas dos quantis I_d,p*(d + theta)^H</a:t>
            </a:r>
            <a:r>
              <a:rPr sz="1200" b="0">
                <a:latin typeface="Arial"/>
                <a:cs typeface="Arial"/>
              </a:rPr>
              <a:t>.</a:t>
            </a:r>
            <a:br>
              <a:rPr sz="1200" b="0">
                <a:latin typeface="Arial"/>
                <a:cs typeface="Arial"/>
              </a:rPr>
            </a:br>
            <a:r>
              <a:rPr sz="1200" b="0">
                <a:latin typeface="Arial"/>
                <a:cs typeface="Arial"/>
              </a:rPr>
              <a:t>Os pontos y_p foram gerados fazendo o mesmo, mas utilizando as frequência observadas com posições de plotagem de Weibull, multiplicando-as por (d + theta)^H: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2084437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8799" y="1600728"/>
            <a:ext cx="5440428" cy="3624392"/>
          </a:xfrm>
          <a:prstGeom prst="rect">
            <a:avLst/>
          </a:prstGeom>
        </p:spPr>
      </p:pic>
      <p:sp>
        <p:nvSpPr>
          <p:cNvPr id="1251429920" name="PlaceHolder 1"/>
          <p:cNvSpPr>
            <a:spLocks noGrp="1"/>
          </p:cNvSpPr>
          <p:nvPr/>
        </p:nvSpPr>
        <p:spPr bwMode="auto">
          <a:xfrm rot="0" flipH="0" flipV="0">
            <a:off x="271199" y="5289300"/>
            <a:ext cx="5474268" cy="4209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 estação A805 possui maior valor de theta, isso significa a maior distância entre Y e I_d,p.</a:t>
            </a:r>
            <a:endParaRPr sz="1200" b="0">
              <a:latin typeface="Arial"/>
              <a:cs typeface="Arial"/>
            </a:endParaRPr>
          </a:p>
        </p:txBody>
      </p:sp>
      <p:sp>
        <p:nvSpPr>
          <p:cNvPr id="347730803" name="PlaceHolder 1"/>
          <p:cNvSpPr>
            <a:spLocks noGrp="1"/>
          </p:cNvSpPr>
          <p:nvPr/>
        </p:nvSpPr>
        <p:spPr bwMode="auto">
          <a:xfrm rot="0" flipH="0" flipV="0">
            <a:off x="6095998" y="374400"/>
            <a:ext cx="5556346" cy="750168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lstStyle>
            <a:lvl1pPr indent="0" algn="l" defTabSz="914400">
              <a:lnSpc>
                <a:spcPct val="90000"/>
              </a:lnSpc>
              <a:buNone/>
              <a:defRPr lang="pt-BR" sz="100" b="1" u="none" strike="noStrik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r>
              <a:rPr sz="1200" b="1">
                <a:latin typeface="Arial"/>
                <a:ea typeface="Arial"/>
                <a:cs typeface="Arial"/>
              </a:rPr>
              <a:t>Interpretação</a:t>
            </a:r>
            <a:endParaRPr sz="1200" b="0"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1200" b="0">
                <a:latin typeface="Arial"/>
                <a:ea typeface="Arial"/>
                <a:cs typeface="Arial"/>
              </a:rPr>
              <a:t>A avaliação destes postos pode indicar que, apesar da redução na incerteza observada com as curvas de frequência, tempos de retorno intermediários não são tão bem representados.</a:t>
            </a:r>
            <a:endParaRPr sz="1200" b="0">
              <a:latin typeface="Arial"/>
              <a:cs typeface="Arial"/>
            </a:endParaRPr>
          </a:p>
        </p:txBody>
      </p:sp>
      <p:pic>
        <p:nvPicPr>
          <p:cNvPr id="181248173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745467" y="1600728"/>
            <a:ext cx="5444398" cy="36270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pt-BR</dc:language>
  <cp:lastModifiedBy/>
  <cp:revision>17</cp:revision>
  <dcterms:created xsi:type="dcterms:W3CDTF">2012-12-03T06:56:55Z</dcterms:created>
  <dcterms:modified xsi:type="dcterms:W3CDTF">2026-07-14T21:33:59Z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4</vt:i4>
  </property>
  <property fmtid="{D5CDD505-2E9C-101B-9397-08002B2CF9AE}" pid="4" name="PresentationFormat">
    <vt:lpwstr>On-screen Show (4:3)</vt:lpwstr>
  </property>
  <property fmtid="{D5CDD505-2E9C-101B-9397-08002B2CF9AE}" pid="5" name="Slides">
    <vt:i4>4</vt:i4>
  </property>
</Properties>
</file>