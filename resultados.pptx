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29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340124" d="6488165"/>
          <a:sy n="0" d="6750318"/>
        </p:scale>
        <p:origin x="6029381" y="3342387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 /><Relationship Id="rId31" Type="http://schemas.openxmlformats.org/officeDocument/2006/relationships/tableStyles" Target="tableStyles.xml" /><Relationship Id="rId3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6562773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90000"/>
              </a:lnSpc>
              <a:defRPr/>
            </a:pPr>
            <a:r>
              <a:rPr lang="pt-BR" sz="6000" b="0" u="none" strike="noStrike">
                <a:solidFill>
                  <a:schemeClr val="dk1"/>
                </a:solidFill>
                <a:latin typeface="Arial"/>
              </a:rPr>
              <a:t>Clique para mover o slide</a:t>
            </a:r>
            <a:endParaRPr lang="pt-BR" sz="6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79999237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854185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29595" name="PlaceHolder 4"/>
          <p:cNvSpPr>
            <a:spLocks noGrp="1"/>
          </p:cNvSpPr>
          <p:nvPr>
            <p:ph type="dt" idx="34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6166336" name="PlaceHolder 5"/>
          <p:cNvSpPr>
            <a:spLocks noGrp="1"/>
          </p:cNvSpPr>
          <p:nvPr>
            <p:ph type="ftr" idx="35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4168746" name="PlaceHolder 6"/>
          <p:cNvSpPr>
            <a:spLocks noGrp="1"/>
          </p:cNvSpPr>
          <p:nvPr>
            <p:ph type="sldNum" idx="36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004777B0-DAC2-411D-ADFD-808D198D1209}" type="slidenum"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69167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006301266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540055" name="PlaceHolder 3"/>
          <p:cNvSpPr>
            <a:spLocks noGrp="1"/>
          </p:cNvSpPr>
          <p:nvPr>
            <p:ph type="sldNum" idx="3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CAC8895-A497-4113-AA15-4A3EE2E537AD}" type="slidenum">
              <a:rPr lang="pt-BR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59150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2390976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52868" name="PlaceHolder 3"/>
          <p:cNvSpPr>
            <a:spLocks noGrp="1"/>
          </p:cNvSpPr>
          <p:nvPr>
            <p:ph type="sldNum" idx="38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pt-BR" sz="1200" b="0" u="none" strike="noStrike">
              <a:solidFill>
                <a:schemeClr val="dk1"/>
              </a:solidFill>
              <a:latin typeface="+mn-lt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257034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96255716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7536201" name="PlaceHolder 3"/>
          <p:cNvSpPr>
            <a:spLocks noGrp="1"/>
          </p:cNvSpPr>
          <p:nvPr>
            <p:ph type="sldNum" idx="3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pt-BR" sz="1200" b="0" u="none" strike="noStrike">
              <a:solidFill>
                <a:schemeClr val="dk1"/>
              </a:solidFill>
              <a:latin typeface="+mn-lt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669507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77826000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446348" name="PlaceHolder 3"/>
          <p:cNvSpPr>
            <a:spLocks noGrp="1"/>
          </p:cNvSpPr>
          <p:nvPr>
            <p:ph type="sldNum" idx="40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pt-BR" sz="1200" b="0" u="none" strike="noStrike">
              <a:solidFill>
                <a:schemeClr val="dk1"/>
              </a:solidFill>
              <a:latin typeface="+mn-lt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969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5719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99886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7F03B5-DAF6-903B-ED1F-8FAA077F3E7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1118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311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106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821983-05AB-F7C6-EF69-69EFE3F9CFF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3326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63118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7325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18051D-DC67-F740-534A-27A3C64BF1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36459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01372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2A5A16-74AB-7808-36CA-922CADF1650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213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16188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184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2411F9-A4A4-FC81-673B-AA4CD8679BE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257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1473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6447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5B7E21-7D7D-DF90-DBA7-73257D54500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14305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75847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358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B35431-DB28-6382-7A44-7A2D7C523D2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6679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87180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6377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34738E-1728-D436-A257-8C78F7D225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28043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1161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710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43F0-E80D-CF50-8DD8-4594DC4F0C2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86324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172534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162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D9171-18E3-9597-6761-CD17260A051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24948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244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20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B492FB-7BD6-7466-6903-CD9B020B3F7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1023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7627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731363-2D82-92D4-6F2F-5F272EF4BB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1422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22974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22275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53960D-ACA6-7C91-0E24-3DD3B74950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3741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88422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1583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2C0126-AB3E-7592-621A-F5F0454FBB4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43231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90886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5934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FF8A8E-0608-8A47-CF11-6D21ABD607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201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83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421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352293-2CBB-1AB7-7BD1-421F5D10953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87409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25715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365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C14268-5834-893B-EEAD-4A6A8F1C6F5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01958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02086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037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45C6A7-AEE4-C883-DEA2-3985C4FA823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37592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6074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62496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B028A1A-06DE-D90A-6AB7-A7F4A988CF8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878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6666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513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1412C6-3AAC-34CF-202E-B672962C36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63647-9644-0FAC-9977-382BB8E305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o de títul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83946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defRPr/>
            </a:pPr>
            <a:r>
              <a:rPr lang="pt-BR" sz="60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6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114519356" name="PlaceHolder 2"/>
          <p:cNvSpPr>
            <a:spLocks noGrp="1"/>
          </p:cNvSpPr>
          <p:nvPr>
            <p:ph type="dt" idx="1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389107" name="PlaceHolder 3"/>
          <p:cNvSpPr>
            <a:spLocks noGrp="1"/>
          </p:cNvSpPr>
          <p:nvPr>
            <p:ph type="ftr" idx="2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744752" name="PlaceHolder 4"/>
          <p:cNvSpPr>
            <a:spLocks noGrp="1"/>
          </p:cNvSpPr>
          <p:nvPr>
            <p:ph type="sldNum" idx="3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52D9B73-794C-4426-A138-B5AB627A5461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9550043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400" b="0" u="none" strike="noStrike">
                <a:solidFill>
                  <a:schemeClr val="dk1"/>
                </a:solidFill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chemeClr val="dk1"/>
                </a:solidFill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1800" b="0" u="none" strike="noStrike">
                <a:solidFill>
                  <a:schemeClr val="dk1"/>
                </a:solidFill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800" b="0" u="none" strike="noStrike">
                <a:solidFill>
                  <a:schemeClr val="dk1"/>
                </a:solidFill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chemeClr val="dk1"/>
                </a:solidFill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chemeClr val="dk1"/>
                </a:solidFill>
                <a:latin typeface="Arial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</a:rPr>
              <a:t>Clique para editar o formato de texto dos tópicos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</a:rPr>
              <a:t>4.º nível de tópicos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</a:rPr>
              <a:t>5.º nível de tópicos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ítulo e texto vertical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708818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09078615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14146487" name="PlaceHolder 3"/>
          <p:cNvSpPr>
            <a:spLocks noGrp="1"/>
          </p:cNvSpPr>
          <p:nvPr>
            <p:ph type="dt" idx="4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1824224" name="PlaceHolder 4"/>
          <p:cNvSpPr>
            <a:spLocks noGrp="1"/>
          </p:cNvSpPr>
          <p:nvPr>
            <p:ph type="ftr" idx="5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4442382" name="PlaceHolder 5"/>
          <p:cNvSpPr>
            <a:spLocks noGrp="1"/>
          </p:cNvSpPr>
          <p:nvPr>
            <p:ph type="sldNum" idx="6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34A6E6AD-6A23-4A00-9862-7005AF7FFA8B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ítulo vertical e text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3248695" name="PlaceHolder 1"/>
          <p:cNvSpPr>
            <a:spLocks noGrp="1"/>
          </p:cNvSpPr>
          <p:nvPr>
            <p:ph type="title"/>
          </p:nvPr>
        </p:nvSpPr>
        <p:spPr bwMode="auto"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63648336" name="PlaceHolder 2"/>
          <p:cNvSpPr>
            <a:spLocks noGrp="1"/>
          </p:cNvSpPr>
          <p:nvPr>
            <p:ph type="body"/>
          </p:nvPr>
        </p:nvSpPr>
        <p:spPr bwMode="auto"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22442673" name="PlaceHolder 3"/>
          <p:cNvSpPr>
            <a:spLocks noGrp="1"/>
          </p:cNvSpPr>
          <p:nvPr>
            <p:ph type="dt" idx="7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362043" name="PlaceHolder 4"/>
          <p:cNvSpPr>
            <a:spLocks noGrp="1"/>
          </p:cNvSpPr>
          <p:nvPr>
            <p:ph type="ftr" idx="8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7776632" name="PlaceHolder 5"/>
          <p:cNvSpPr>
            <a:spLocks noGrp="1"/>
          </p:cNvSpPr>
          <p:nvPr>
            <p:ph type="sldNum" idx="9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F0776A56-DD25-490D-9483-2C3F2B59FA2D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ítulo e object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4511577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Cliqasdasdue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96089979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85192434" name="PlaceHolder 3"/>
          <p:cNvSpPr>
            <a:spLocks noGrp="1"/>
          </p:cNvSpPr>
          <p:nvPr>
            <p:ph type="dt" idx="10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744070" name="PlaceHolder 4"/>
          <p:cNvSpPr>
            <a:spLocks noGrp="1"/>
          </p:cNvSpPr>
          <p:nvPr>
            <p:ph type="ftr" idx="11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2219992" name="PlaceHolder 5"/>
          <p:cNvSpPr>
            <a:spLocks noGrp="1"/>
          </p:cNvSpPr>
          <p:nvPr>
            <p:ph type="sldNum" idx="12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E901782-9E46-4ABF-B691-3FAB25E6530C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abeçalho da Secçã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387323" name="PlaceHolder 1"/>
          <p:cNvSpPr>
            <a:spLocks noGrp="1"/>
          </p:cNvSpPr>
          <p:nvPr>
            <p:ph type="title"/>
          </p:nvPr>
        </p:nvSpPr>
        <p:spPr bwMode="auto"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60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6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06451087" name="PlaceHolder 2"/>
          <p:cNvSpPr>
            <a:spLocks noGrp="1"/>
          </p:cNvSpPr>
          <p:nvPr>
            <p:ph type="body"/>
          </p:nvPr>
        </p:nvSpPr>
        <p:spPr bwMode="auto">
          <a:xfrm>
            <a:off x="831960" y="4589640"/>
            <a:ext cx="10515240" cy="1499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24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Clique para editar os estilos</a:t>
            </a:r>
            <a:endParaRPr lang="pt-BR" sz="2400" b="0" u="none" strike="noStrike">
              <a:solidFill>
                <a:schemeClr val="dk1">
                  <a:tint val="75000"/>
                </a:schemeClr>
              </a:solidFill>
              <a:latin typeface="Arial"/>
            </a:endParaRPr>
          </a:p>
        </p:txBody>
      </p:sp>
      <p:sp>
        <p:nvSpPr>
          <p:cNvPr id="1837525707" name="PlaceHolder 3"/>
          <p:cNvSpPr>
            <a:spLocks noGrp="1"/>
          </p:cNvSpPr>
          <p:nvPr>
            <p:ph type="dt" idx="13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328584" name="PlaceHolder 4"/>
          <p:cNvSpPr>
            <a:spLocks noGrp="1"/>
          </p:cNvSpPr>
          <p:nvPr>
            <p:ph type="ftr" idx="14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8660384" name="PlaceHolder 5"/>
          <p:cNvSpPr>
            <a:spLocks noGrp="1"/>
          </p:cNvSpPr>
          <p:nvPr>
            <p:ph type="sldNum" idx="15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7638DD0-3A94-4F33-BC1D-A0D228190074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Conteúdo Dupl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42404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45931382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904080155" name="PlaceHolder 3"/>
          <p:cNvSpPr>
            <a:spLocks noGrp="1"/>
          </p:cNvSpPr>
          <p:nvPr>
            <p:ph type="body"/>
          </p:nvPr>
        </p:nvSpPr>
        <p:spPr bwMode="auto"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35801371" name="PlaceHolder 4"/>
          <p:cNvSpPr>
            <a:spLocks noGrp="1"/>
          </p:cNvSpPr>
          <p:nvPr>
            <p:ph type="dt" idx="16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471623" name="PlaceHolder 5"/>
          <p:cNvSpPr>
            <a:spLocks noGrp="1"/>
          </p:cNvSpPr>
          <p:nvPr>
            <p:ph type="ftr" idx="17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655345" name="PlaceHolder 6"/>
          <p:cNvSpPr>
            <a:spLocks noGrp="1"/>
          </p:cNvSpPr>
          <p:nvPr>
            <p:ph type="sldNum" idx="18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E7F597EC-3617-438D-B5DB-3A111EB62035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mparaçã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066719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02097701" name="PlaceHolder 2"/>
          <p:cNvSpPr>
            <a:spLocks noGrp="1"/>
          </p:cNvSpPr>
          <p:nvPr>
            <p:ph type="body"/>
          </p:nvPr>
        </p:nvSpPr>
        <p:spPr bwMode="auto">
          <a:xfrm>
            <a:off x="839879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2400" b="1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64542275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56305179" name="PlaceHolder 4"/>
          <p:cNvSpPr>
            <a:spLocks noGrp="1"/>
          </p:cNvSpPr>
          <p:nvPr>
            <p:ph type="body"/>
          </p:nvPr>
        </p:nvSpPr>
        <p:spPr bwMode="auto"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2400" b="1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23545770" name="PlaceHolder 5"/>
          <p:cNvSpPr>
            <a:spLocks noGrp="1"/>
          </p:cNvSpPr>
          <p:nvPr>
            <p:ph type="body"/>
          </p:nvPr>
        </p:nvSpPr>
        <p:spPr bwMode="auto"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7130645" name="PlaceHolder 6"/>
          <p:cNvSpPr>
            <a:spLocks noGrp="1"/>
          </p:cNvSpPr>
          <p:nvPr>
            <p:ph type="dt" idx="19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0445227" name="PlaceHolder 7"/>
          <p:cNvSpPr>
            <a:spLocks noGrp="1"/>
          </p:cNvSpPr>
          <p:nvPr>
            <p:ph type="ftr" idx="20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7876" name="PlaceHolder 8"/>
          <p:cNvSpPr>
            <a:spLocks noGrp="1"/>
          </p:cNvSpPr>
          <p:nvPr>
            <p:ph type="sldNum" idx="21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1A7DDD8-99CC-494B-89CD-657EB54FAB46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Só títul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777339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386716553" name="PlaceHolder 2"/>
          <p:cNvSpPr>
            <a:spLocks noGrp="1"/>
          </p:cNvSpPr>
          <p:nvPr>
            <p:ph type="dt" idx="22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3767412" name="PlaceHolder 3"/>
          <p:cNvSpPr>
            <a:spLocks noGrp="1"/>
          </p:cNvSpPr>
          <p:nvPr>
            <p:ph type="ftr" idx="23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0575366" name="PlaceHolder 4"/>
          <p:cNvSpPr>
            <a:spLocks noGrp="1"/>
          </p:cNvSpPr>
          <p:nvPr>
            <p:ph type="sldNum" idx="24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BBE4307-3055-4912-9177-EA7E3C69B32C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Em branc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045085" name="PlaceHolder 1"/>
          <p:cNvSpPr>
            <a:spLocks noGrp="1"/>
          </p:cNvSpPr>
          <p:nvPr>
            <p:ph type="dt" idx="25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7655247" name="PlaceHolder 2"/>
          <p:cNvSpPr>
            <a:spLocks noGrp="1"/>
          </p:cNvSpPr>
          <p:nvPr>
            <p:ph type="ftr" idx="26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174362" name="PlaceHolder 3"/>
          <p:cNvSpPr>
            <a:spLocks noGrp="1"/>
          </p:cNvSpPr>
          <p:nvPr>
            <p:ph type="sldNum" idx="27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F9646893-D917-4210-8256-4E51AB9AF3A8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údo com Legenda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970807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32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3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92839547" name="PlaceHolder 2"/>
          <p:cNvSpPr>
            <a:spLocks noGrp="1"/>
          </p:cNvSpPr>
          <p:nvPr>
            <p:ph type="body"/>
          </p:nvPr>
        </p:nvSpPr>
        <p:spPr bwMode="auto"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32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32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32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83456382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16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82582969" name="PlaceHolder 4"/>
          <p:cNvSpPr>
            <a:spLocks noGrp="1"/>
          </p:cNvSpPr>
          <p:nvPr>
            <p:ph type="dt" idx="28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6204514" name="PlaceHolder 5"/>
          <p:cNvSpPr>
            <a:spLocks noGrp="1"/>
          </p:cNvSpPr>
          <p:nvPr>
            <p:ph type="ftr" idx="29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9615882" name="PlaceHolder 6"/>
          <p:cNvSpPr>
            <a:spLocks noGrp="1"/>
          </p:cNvSpPr>
          <p:nvPr>
            <p:ph type="sldNum" idx="30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246CB51-DBFB-4016-9ABF-976A861A7A24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Imagem com Legenda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3525365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32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3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93106137" name="PlaceHolder 2"/>
          <p:cNvSpPr>
            <a:spLocks noGrp="1"/>
          </p:cNvSpPr>
          <p:nvPr>
            <p:ph type="body"/>
          </p:nvPr>
        </p:nvSpPr>
        <p:spPr bwMode="auto"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32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pt-BR" sz="3200" b="0" u="none" strike="noStrike">
                <a:solidFill>
                  <a:schemeClr val="dk1"/>
                </a:solidFill>
                <a:latin typeface="Arial"/>
                <a:ea typeface="Arial"/>
              </a:rPr>
              <a:t>Clique no ícone para adicionar imagem</a:t>
            </a:r>
            <a:endParaRPr lang="pt-BR" sz="3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546529522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16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69277795" name="PlaceHolder 4"/>
          <p:cNvSpPr>
            <a:spLocks noGrp="1"/>
          </p:cNvSpPr>
          <p:nvPr>
            <p:ph type="dt" idx="31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339212" name="PlaceHolder 5"/>
          <p:cNvSpPr>
            <a:spLocks noGrp="1"/>
          </p:cNvSpPr>
          <p:nvPr>
            <p:ph type="ftr" idx="32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6365405" name="PlaceHolder 6"/>
          <p:cNvSpPr>
            <a:spLocks noGrp="1"/>
          </p:cNvSpPr>
          <p:nvPr>
            <p:ph type="sldNum" idx="33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ABC76D8-5264-4616-BFC1-67054919A427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0.png"/><Relationship Id="rId4" Type="http://schemas.openxmlformats.org/officeDocument/2006/relationships/image" Target="../media/image61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4.png"/><Relationship Id="rId4" Type="http://schemas.openxmlformats.org/officeDocument/2006/relationships/image" Target="../media/image65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0.png"/><Relationship Id="rId4" Type="http://schemas.openxmlformats.org/officeDocument/2006/relationships/image" Target="../media/image71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4008437" name=""/>
          <p:cNvPicPr/>
          <p:nvPr/>
        </p:nvPicPr>
        <p:blipFill rotWithShape="1">
          <a:blip r:embed="rId3"/>
          <a:stretch/>
        </p:blipFill>
        <p:spPr bwMode="auto">
          <a:xfrm>
            <a:off x="14760" y="0"/>
            <a:ext cx="46746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0635975" name=""/>
          <p:cNvSpPr/>
          <p:nvPr/>
        </p:nvSpPr>
        <p:spPr bwMode="auto">
          <a:xfrm>
            <a:off x="3559320" y="525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7443569" name=""/>
          <p:cNvSpPr/>
          <p:nvPr/>
        </p:nvSpPr>
        <p:spPr bwMode="auto">
          <a:xfrm>
            <a:off x="3559320" y="7545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9529410" name=""/>
          <p:cNvSpPr/>
          <p:nvPr/>
        </p:nvSpPr>
        <p:spPr bwMode="auto">
          <a:xfrm>
            <a:off x="2446920" y="7545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2768773" name=""/>
          <p:cNvSpPr/>
          <p:nvPr/>
        </p:nvSpPr>
        <p:spPr bwMode="auto">
          <a:xfrm>
            <a:off x="3559320" y="217512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0648402" name=""/>
          <p:cNvSpPr/>
          <p:nvPr/>
        </p:nvSpPr>
        <p:spPr bwMode="auto">
          <a:xfrm>
            <a:off x="3559320" y="287712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683041" name=""/>
          <p:cNvSpPr/>
          <p:nvPr/>
        </p:nvSpPr>
        <p:spPr bwMode="auto">
          <a:xfrm>
            <a:off x="1334880" y="42879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435800" name=""/>
          <p:cNvSpPr/>
          <p:nvPr/>
        </p:nvSpPr>
        <p:spPr bwMode="auto">
          <a:xfrm>
            <a:off x="5081760" y="259560"/>
            <a:ext cx="686448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400" b="1" u="none" strike="noStrike">
                <a:solidFill>
                  <a:schemeClr val="dk1"/>
                </a:solidFill>
                <a:latin typeface="Consolas"/>
                <a:ea typeface="Consolas"/>
              </a:rPr>
              <a:t>d-GEV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 (Koutsoyiannis et al. 1998 + Ulrich et al. 2020):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pt-BR" sz="1400" b="1" u="none" strike="noStrike">
                <a:solidFill>
                  <a:schemeClr val="dk1"/>
                </a:solidFill>
                <a:latin typeface="Consolas"/>
                <a:ea typeface="Consolas"/>
              </a:rPr>
              <a:t>Posição 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e </a:t>
            </a:r>
            <a:r>
              <a:rPr lang="pt-BR" sz="1400" b="1" u="none" strike="noStrike">
                <a:solidFill>
                  <a:schemeClr val="dk1"/>
                </a:solidFill>
                <a:latin typeface="Consolas"/>
                <a:ea typeface="Consolas"/>
              </a:rPr>
              <a:t>escala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: invariância de escala simples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pt-BR" sz="1400" b="1" u="none" strike="noStrike">
                <a:solidFill>
                  <a:schemeClr val="dk1"/>
                </a:solidFill>
                <a:latin typeface="Consolas"/>
                <a:ea typeface="Consolas"/>
              </a:rPr>
              <a:t>Forma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: constante ao longo das durações (1—24 h, mais informação)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Alguns postos: extremos não capturados pela cauda ajustada (1 h).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5427834" name=""/>
          <p:cNvSpPr/>
          <p:nvPr/>
        </p:nvSpPr>
        <p:spPr bwMode="auto">
          <a:xfrm>
            <a:off x="5081760" y="6182640"/>
            <a:ext cx="685656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κ</a:t>
            </a:r>
            <a:r>
              <a:rPr lang="pt-BR" sz="1400" b="0" u="none" strike="noStrike" baseline="-25000">
                <a:solidFill>
                  <a:schemeClr val="dk1"/>
                </a:solidFill>
                <a:latin typeface="Consolas"/>
                <a:ea typeface="Consolas"/>
              </a:rPr>
              <a:t>d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 = κ é razoável?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73120078" name=""/>
          <p:cNvPicPr/>
          <p:nvPr/>
        </p:nvPicPr>
        <p:blipFill rotWithShape="1">
          <a:blip r:embed="rId3"/>
          <a:stretch/>
        </p:blipFill>
        <p:spPr bwMode="auto">
          <a:xfrm>
            <a:off x="5092920" y="677520"/>
            <a:ext cx="6506640" cy="5205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1710508" name=""/>
          <p:cNvPicPr/>
          <p:nvPr/>
        </p:nvPicPr>
        <p:blipFill rotWithShape="1">
          <a:blip r:embed="rId3"/>
          <a:stretch/>
        </p:blipFill>
        <p:spPr bwMode="auto">
          <a:xfrm>
            <a:off x="781920" y="1641240"/>
            <a:ext cx="5476680" cy="421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7113413" name=""/>
          <p:cNvSpPr/>
          <p:nvPr/>
        </p:nvSpPr>
        <p:spPr bwMode="auto">
          <a:xfrm>
            <a:off x="1112760" y="1190520"/>
            <a:ext cx="409356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wrap="none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Consolas"/>
                <a:ea typeface="Consolas"/>
              </a:rPr>
              <a:t>A812; d = 20 h; 12 anos; sem priori</a:t>
            </a:r>
            <a:endParaRPr lang="pt-BR" sz="16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7729421" name=""/>
          <p:cNvPicPr/>
          <p:nvPr/>
        </p:nvPicPr>
        <p:blipFill rotWithShape="1">
          <a:blip r:embed="rId4"/>
          <a:stretch/>
        </p:blipFill>
        <p:spPr bwMode="auto">
          <a:xfrm>
            <a:off x="6258600" y="1641240"/>
            <a:ext cx="5475240" cy="421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7913003" name=""/>
          <p:cNvSpPr/>
          <p:nvPr/>
        </p:nvSpPr>
        <p:spPr bwMode="auto">
          <a:xfrm>
            <a:off x="6609600" y="1190520"/>
            <a:ext cx="409356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wrap="none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Consolas"/>
                <a:ea typeface="Consolas"/>
              </a:rPr>
              <a:t>A801; d = 20 h; 18 anos; sem priori</a:t>
            </a:r>
            <a:endParaRPr lang="pt-BR" sz="16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030903" name=""/>
          <p:cNvSpPr/>
          <p:nvPr/>
        </p:nvSpPr>
        <p:spPr bwMode="auto">
          <a:xfrm>
            <a:off x="1112760" y="824400"/>
            <a:ext cx="65512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wrap="none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Consolas"/>
                <a:ea typeface="Consolas"/>
              </a:rPr>
              <a:t>Instabilidades em durações maiores (pouca variabilidade?)</a:t>
            </a:r>
            <a:endParaRPr lang="pt-BR" sz="16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55365297" name=""/>
          <p:cNvPicPr/>
          <p:nvPr/>
        </p:nvPicPr>
        <p:blipFill rotWithShape="1">
          <a:blip r:embed="rId3"/>
          <a:stretch/>
        </p:blipFill>
        <p:spPr bwMode="auto">
          <a:xfrm>
            <a:off x="6226560" y="1830240"/>
            <a:ext cx="5270400" cy="356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5474049" name=""/>
          <p:cNvPicPr/>
          <p:nvPr/>
        </p:nvPicPr>
        <p:blipFill rotWithShape="1">
          <a:blip r:embed="rId4"/>
          <a:stretch/>
        </p:blipFill>
        <p:spPr bwMode="auto">
          <a:xfrm>
            <a:off x="336960" y="1830240"/>
            <a:ext cx="5270400" cy="3563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405523" name=""/>
          <p:cNvSpPr txBox="1"/>
          <p:nvPr/>
        </p:nvSpPr>
        <p:spPr bwMode="auto">
          <a:xfrm>
            <a:off x="135360" y="121680"/>
            <a:ext cx="501264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pPr>
              <a:defRPr/>
            </a:pPr>
            <a:r>
              <a:rPr lang="pt-BR" sz="1800" b="0" u="none" strike="noStrike">
                <a:solidFill>
                  <a:srgbClr val="000000"/>
                </a:solidFill>
                <a:latin typeface="Arial"/>
              </a:rPr>
              <a:t>Testes com ‘perfil de verossimilhança’ p/ d-GEV</a:t>
            </a:r>
            <a:br>
              <a:rPr sz="1800"/>
            </a:br>
            <a:r>
              <a:rPr lang="pt-BR" sz="1800" b="0" u="none" strike="noStrike">
                <a:solidFill>
                  <a:srgbClr val="000000"/>
                </a:solidFill>
                <a:latin typeface="Arial"/>
              </a:rPr>
              <a:t>Estação ‘430060402A’ sem informação </a:t>
            </a:r>
            <a:r>
              <a:rPr lang="pt-BR" sz="1800" b="0" i="1" u="none" strike="noStrike">
                <a:solidFill>
                  <a:srgbClr val="000000"/>
                </a:solidFill>
                <a:latin typeface="Arial"/>
              </a:rPr>
              <a:t>a priori</a:t>
            </a: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8769940" name=""/>
          <p:cNvPicPr/>
          <p:nvPr/>
        </p:nvPicPr>
        <p:blipFill rotWithShape="1">
          <a:blip r:embed="rId3"/>
          <a:stretch/>
        </p:blipFill>
        <p:spPr bwMode="auto">
          <a:xfrm>
            <a:off x="180000" y="878040"/>
            <a:ext cx="3817440" cy="236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6444932" name=""/>
          <p:cNvPicPr/>
          <p:nvPr/>
        </p:nvPicPr>
        <p:blipFill rotWithShape="1">
          <a:blip r:embed="rId4"/>
          <a:stretch/>
        </p:blipFill>
        <p:spPr bwMode="auto">
          <a:xfrm>
            <a:off x="3960000" y="878040"/>
            <a:ext cx="3817440" cy="236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4336787" name=""/>
          <p:cNvPicPr/>
          <p:nvPr/>
        </p:nvPicPr>
        <p:blipFill rotWithShape="1">
          <a:blip r:embed="rId5"/>
          <a:stretch/>
        </p:blipFill>
        <p:spPr bwMode="auto">
          <a:xfrm>
            <a:off x="7702560" y="878040"/>
            <a:ext cx="3817440" cy="236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7169947" name=""/>
          <p:cNvPicPr/>
          <p:nvPr/>
        </p:nvPicPr>
        <p:blipFill rotWithShape="1">
          <a:blip r:embed="rId6"/>
          <a:stretch/>
        </p:blipFill>
        <p:spPr bwMode="auto">
          <a:xfrm>
            <a:off x="212760" y="3240000"/>
            <a:ext cx="3784680" cy="234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5888476" name=""/>
          <p:cNvPicPr/>
          <p:nvPr/>
        </p:nvPicPr>
        <p:blipFill rotWithShape="1">
          <a:blip r:embed="rId7"/>
          <a:stretch/>
        </p:blipFill>
        <p:spPr bwMode="auto">
          <a:xfrm>
            <a:off x="3955320" y="3240000"/>
            <a:ext cx="3784680" cy="2340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44764" name=""/>
          <p:cNvSpPr txBox="1"/>
          <p:nvPr/>
        </p:nvSpPr>
        <p:spPr bwMode="auto">
          <a:xfrm rot="0" flipH="0" flipV="0">
            <a:off x="451144" y="423332"/>
            <a:ext cx="4912596" cy="2103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i="0"/>
              <a:t>Perfis de verossimilhança da d-GEV com e sem distribuição a priori estão com picos que ocorrem quando a maximização da função de log-verossimilhança encontra um máximo com k = 0</a:t>
            </a:r>
            <a:endParaRPr lang="pt-BR" sz="1200" i="0"/>
          </a:p>
          <a:p>
            <a:pPr algn="just">
              <a:defRPr/>
            </a:pPr>
            <a:endParaRPr sz="1200" i="0"/>
          </a:p>
          <a:p>
            <a:pPr algn="just">
              <a:defRPr/>
            </a:pPr>
            <a:r>
              <a:rPr lang="pt-BR" sz="1200" i="0"/>
              <a:t>Essas estimativas são entre 10^-16 e 10^-17. Valores com essa precisão o R (e o próprio computador) entendem como sendo iguais a zero. No momento da maximização de l_p para criação do perfil, o algoritmo cria um </a:t>
            </a:r>
            <a:r>
              <a:rPr lang="pt-BR" sz="1200" b="1" i="0"/>
              <a:t>pico</a:t>
            </a:r>
            <a:r>
              <a:rPr lang="pt-BR" sz="1200" b="0" i="0"/>
              <a:t> exatamente nesse ponto, que logo normaliza.</a:t>
            </a:r>
            <a:endParaRPr lang="pt-BR" sz="1200" b="0" i="0"/>
          </a:p>
          <a:p>
            <a:pPr algn="just">
              <a:defRPr/>
            </a:pPr>
            <a:endParaRPr sz="1200" b="0" i="0"/>
          </a:p>
          <a:p>
            <a:pPr algn="just">
              <a:defRPr/>
            </a:pPr>
            <a:r>
              <a:rPr lang="pt-BR" sz="1200" b="0" i="0"/>
              <a:t>Todas as estações abaixo com a estimativa original exatamente em 0 sofrem com esse problema:</a:t>
            </a:r>
            <a:endParaRPr sz="1200" b="0" i="0"/>
          </a:p>
        </p:txBody>
      </p:sp>
      <p:pic>
        <p:nvPicPr>
          <p:cNvPr id="38298869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15299" y="2706803"/>
            <a:ext cx="5384282" cy="30748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5789291" name=""/>
          <p:cNvSpPr txBox="1"/>
          <p:nvPr/>
        </p:nvSpPr>
        <p:spPr bwMode="auto">
          <a:xfrm rot="0" flipH="0" flipV="0">
            <a:off x="451144" y="423332"/>
            <a:ext cx="4912596" cy="2103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i="0"/>
              <a:t>Perfis de verossimilhança da d-GEV com e sem distribuição a priori estão com picos que ocorrem quando a maximização da função de log-verossimilhança encontra um máximo com k = 0</a:t>
            </a:r>
            <a:endParaRPr lang="pt-BR" sz="1200" i="0"/>
          </a:p>
          <a:p>
            <a:pPr algn="just">
              <a:defRPr/>
            </a:pPr>
            <a:endParaRPr sz="1200" i="0"/>
          </a:p>
          <a:p>
            <a:pPr algn="just">
              <a:defRPr/>
            </a:pPr>
            <a:r>
              <a:rPr lang="pt-BR" sz="1200" i="0"/>
              <a:t>Essas estimativas são entre 10^-16 e 10^-17. Valores com essa precisão o R (e o próprio computador) entendem como sendo iguais a zero. No momento da maximização de l_p para criação do perfil, o algoritmo cria um </a:t>
            </a:r>
            <a:r>
              <a:rPr lang="pt-BR" sz="1200" b="1" i="0"/>
              <a:t>pico</a:t>
            </a:r>
            <a:r>
              <a:rPr lang="pt-BR" sz="1200" b="0" i="0"/>
              <a:t> exatamente nesse ponto, que logo normaliza.</a:t>
            </a:r>
            <a:endParaRPr lang="pt-BR" sz="1200" b="0" i="0"/>
          </a:p>
          <a:p>
            <a:pPr algn="just">
              <a:defRPr/>
            </a:pPr>
            <a:endParaRPr sz="1200" b="0" i="0"/>
          </a:p>
          <a:p>
            <a:pPr algn="just">
              <a:defRPr/>
            </a:pPr>
            <a:r>
              <a:rPr lang="pt-BR" sz="1200" b="0" i="0"/>
              <a:t>Todas as estações abaixo com a estimativa original exatamente em 0 sofrem com esse problema:</a:t>
            </a:r>
            <a:endParaRPr sz="1200" b="0" i="0"/>
          </a:p>
        </p:txBody>
      </p:sp>
      <p:pic>
        <p:nvPicPr>
          <p:cNvPr id="156405069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15299" y="2706803"/>
            <a:ext cx="5384282" cy="3074871"/>
          </a:xfrm>
          <a:prstGeom prst="rect">
            <a:avLst/>
          </a:prstGeom>
        </p:spPr>
      </p:pic>
      <p:sp>
        <p:nvSpPr>
          <p:cNvPr id="2139511439" name=""/>
          <p:cNvSpPr txBox="1"/>
          <p:nvPr/>
        </p:nvSpPr>
        <p:spPr bwMode="auto">
          <a:xfrm rot="0" flipH="0" flipV="0">
            <a:off x="6537618" y="423333"/>
            <a:ext cx="4947514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BR" sz="1200"/>
              <a:t>A estação abaixo </a:t>
            </a:r>
            <a:r>
              <a:rPr lang="pt-BR" sz="1200"/>
              <a:t>é um exemplo. O perfil de verossimilhança resultante é o seguinte:</a:t>
            </a:r>
            <a:endParaRPr sz="1200"/>
          </a:p>
        </p:txBody>
      </p:sp>
      <p:pic>
        <p:nvPicPr>
          <p:cNvPr id="77131926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7197646" y="880893"/>
            <a:ext cx="3493180" cy="2161185"/>
          </a:xfrm>
          <a:prstGeom prst="rect">
            <a:avLst/>
          </a:prstGeom>
        </p:spPr>
      </p:pic>
      <p:sp>
        <p:nvSpPr>
          <p:cNvPr id="1519337721" name=""/>
          <p:cNvSpPr txBox="1"/>
          <p:nvPr/>
        </p:nvSpPr>
        <p:spPr bwMode="auto">
          <a:xfrm rot="0" flipH="0" flipV="0">
            <a:off x="6403339" y="2925900"/>
            <a:ext cx="5081794" cy="10062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BR" sz="1200"/>
              <a:t>A estimativa original de k é da ordem de 10^-17 (0, para o computador), mas o valor `max_ll` encontrado pela função `nll.dgev()` é -430. Na otimização do perfil, porém, um novo máximo é encontrado (mostrado acima), igual a -172, muito acima dos demais. Se removermos este valor, o perfil aparenta ser “normalizado”:</a:t>
            </a:r>
            <a:endParaRPr sz="1200"/>
          </a:p>
        </p:txBody>
      </p:sp>
      <p:pic>
        <p:nvPicPr>
          <p:cNvPr id="24601870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7197646" y="4029075"/>
            <a:ext cx="3493180" cy="2161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8071189" name=""/>
          <p:cNvSpPr txBox="1"/>
          <p:nvPr/>
        </p:nvSpPr>
        <p:spPr bwMode="auto">
          <a:xfrm rot="0" flipH="0" flipV="0">
            <a:off x="451144" y="423332"/>
            <a:ext cx="5136876" cy="15548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b="0" i="0"/>
              <a:t>Precisamos analisar se no perfil dos demais parâmetros este pico também está presente e por que o otimizador encontra um máximo tão próximo a zero, sendo que o restante do perfil (olhando para o perfil de verossimilhança) não indica que seria Gumbel?</a:t>
            </a:r>
            <a:endParaRPr lang="pt-BR" sz="1200" b="0" i="0"/>
          </a:p>
          <a:p>
            <a:pPr algn="just">
              <a:defRPr/>
            </a:pPr>
            <a:endParaRPr sz="1200" b="0" i="0"/>
          </a:p>
          <a:p>
            <a:pPr algn="just">
              <a:defRPr/>
            </a:pPr>
            <a:r>
              <a:rPr lang="pt-BR" sz="1200" b="0" i="0"/>
              <a:t>Analisando o perfil dos outros parâmetros, este pico não está presente e todos os demais aparentam. Todos apresentam um pico em volta de -433, que seria o pico do perfil problem</a:t>
            </a:r>
            <a:r>
              <a:rPr lang="pt-BR" sz="1200" b="0" i="0"/>
              <a:t>a.</a:t>
            </a:r>
            <a:endParaRPr sz="1200" b="0" i="0"/>
          </a:p>
        </p:txBody>
      </p:sp>
      <p:pic>
        <p:nvPicPr>
          <p:cNvPr id="175641907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53424" y="2041037"/>
            <a:ext cx="3382667" cy="2092811"/>
          </a:xfrm>
          <a:prstGeom prst="rect">
            <a:avLst/>
          </a:prstGeom>
        </p:spPr>
      </p:pic>
      <p:pic>
        <p:nvPicPr>
          <p:cNvPr id="157252868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53424" y="4155427"/>
            <a:ext cx="3382667" cy="2092811"/>
          </a:xfrm>
          <a:prstGeom prst="rect">
            <a:avLst/>
          </a:prstGeom>
        </p:spPr>
      </p:pic>
      <p:pic>
        <p:nvPicPr>
          <p:cNvPr id="146836794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201749" y="88214"/>
            <a:ext cx="3343275" cy="2068440"/>
          </a:xfrm>
          <a:prstGeom prst="rect">
            <a:avLst/>
          </a:prstGeom>
        </p:spPr>
      </p:pic>
      <p:pic>
        <p:nvPicPr>
          <p:cNvPr id="193261544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201749" y="2204279"/>
            <a:ext cx="3343275" cy="2068440"/>
          </a:xfrm>
          <a:prstGeom prst="rect">
            <a:avLst/>
          </a:prstGeom>
        </p:spPr>
      </p:pic>
      <p:pic>
        <p:nvPicPr>
          <p:cNvPr id="536644094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201749" y="4552949"/>
            <a:ext cx="3387012" cy="2095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48171" name=""/>
          <p:cNvSpPr txBox="1"/>
          <p:nvPr/>
        </p:nvSpPr>
        <p:spPr bwMode="auto">
          <a:xfrm rot="0" flipH="0" flipV="0">
            <a:off x="451144" y="423332"/>
            <a:ext cx="516819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b="0" i="0"/>
              <a:t>Olhando p/ data.frame resultante, percebe-se que `message == 1` p/ kappa:</a:t>
            </a:r>
            <a:endParaRPr sz="1200" b="0" i="0"/>
          </a:p>
        </p:txBody>
      </p:sp>
      <p:pic>
        <p:nvPicPr>
          <p:cNvPr id="966835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03543" y="930447"/>
            <a:ext cx="5076574" cy="1055345"/>
          </a:xfrm>
          <a:prstGeom prst="rect">
            <a:avLst/>
          </a:prstGeom>
        </p:spPr>
      </p:pic>
      <p:sp>
        <p:nvSpPr>
          <p:cNvPr id="1729187066" name=""/>
          <p:cNvSpPr txBox="1"/>
          <p:nvPr/>
        </p:nvSpPr>
        <p:spPr bwMode="auto">
          <a:xfrm rot="0" flipH="0" flipV="0">
            <a:off x="451144" y="2118781"/>
            <a:ext cx="5238395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b="0" i="0"/>
              <a:t>Quando isso ocorre, é um indicativo de que a função `ciprof.par()` internamente caiu no seguinte if:</a:t>
            </a:r>
            <a:endParaRPr sz="1200" b="0" i="0"/>
          </a:p>
        </p:txBody>
      </p:sp>
      <p:pic>
        <p:nvPicPr>
          <p:cNvPr id="154466501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51144" y="2632262"/>
            <a:ext cx="5473087" cy="3225612"/>
          </a:xfrm>
          <a:prstGeom prst="rect">
            <a:avLst/>
          </a:prstGeom>
        </p:spPr>
      </p:pic>
      <p:sp>
        <p:nvSpPr>
          <p:cNvPr id="1731536066" name=""/>
          <p:cNvSpPr txBox="1"/>
          <p:nvPr/>
        </p:nvSpPr>
        <p:spPr bwMode="auto">
          <a:xfrm rot="0" flipH="0" flipV="0">
            <a:off x="6095998" y="423331"/>
            <a:ext cx="5727994" cy="44809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b="0" i="0"/>
              <a:t>Ou seja, a função `roots.proflik()`, durante a otimização de par[-kappa] parâmetros (ou seja, a criação do perfil p/ kappa) testou um step em que kappa = 10^-17 (???) que resultou no pico observado com `loglik` == -172.</a:t>
            </a:r>
            <a:br>
              <a:rPr lang="pt-BR" sz="1200" b="0" i="0"/>
            </a:br>
            <a:br>
              <a:rPr lang="pt-BR" sz="1200" b="0" i="0"/>
            </a:br>
            <a:r>
              <a:rPr lang="pt-BR" sz="1200" b="0" i="0"/>
              <a:t>Isso pode ser visto tanto com `message == 1` como `max` == -172 (indicando que o máximo utilizado foi -172 e que o parâmetro que causou o novo máximo foi kappa, pois é o único com `message` == 1).</a:t>
            </a:r>
            <a:endParaRPr lang="pt-BR" sz="1200" b="0" i="0"/>
          </a:p>
          <a:p>
            <a:pPr algn="just">
              <a:defRPr/>
            </a:pPr>
            <a:endParaRPr sz="1200" b="0" i="0"/>
          </a:p>
          <a:p>
            <a:pPr algn="just">
              <a:defRPr/>
            </a:pPr>
            <a:r>
              <a:rPr lang="pt-BR" sz="1200" b="1" i="0"/>
              <a:t>Possíveis aterações em fitprof.dgev()</a:t>
            </a:r>
            <a:endParaRPr lang="pt-BR" sz="1200" b="1" i="0"/>
          </a:p>
          <a:p>
            <a:pPr marL="217793" indent="-217793" algn="just">
              <a:buAutoNum type="arabicPeriod"/>
              <a:defRPr/>
            </a:pPr>
            <a:r>
              <a:rPr lang="pt-BR" sz="1200" b="0" i="0"/>
              <a:t>Remover todas as observações associadas à `slopes` muito elevados dentro da função roots.proflik() após o `while` terminar de rodar;</a:t>
            </a:r>
            <a:endParaRPr lang="pt-BR" sz="1200" b="0" i="0"/>
          </a:p>
          <a:p>
            <a:pPr marL="217793" indent="-217793" algn="just">
              <a:buAutoNum type="arabicPeriod"/>
              <a:defRPr/>
            </a:pPr>
            <a:r>
              <a:rPr lang="pt-BR" sz="1200" b="0" i="0"/>
              <a:t>Avaliar cada valor de `val.i`. Se `i == 3`, val.i &gt; step</a:t>
            </a:r>
            <a:endParaRPr lang="pt-BR" sz="1200" b="0" i="0"/>
          </a:p>
          <a:p>
            <a:pPr marL="217793" indent="-217793" algn="just">
              <a:buAutoNum type="arabicPeriod"/>
              <a:defRPr/>
            </a:pPr>
            <a:endParaRPr sz="1200" b="0" i="0"/>
          </a:p>
          <a:p>
            <a:pPr algn="just">
              <a:defRPr/>
            </a:pPr>
            <a:r>
              <a:rPr lang="pt-BR" sz="1200" b="1" i="0"/>
              <a:t>Avaliar ainda se</a:t>
            </a:r>
            <a:endParaRPr lang="pt-BR" sz="1200" b="0" i="0"/>
          </a:p>
          <a:p>
            <a:pPr marL="217793" indent="-217793" algn="just">
              <a:buFont typeface="Arial"/>
              <a:buChar char="•"/>
              <a:defRPr/>
            </a:pPr>
            <a:r>
              <a:rPr lang="pt-BR" sz="1200" b="0" i="0"/>
              <a:t>Esse comportamento com o `message` se repete para todas as outras estações com este mesmo problema? </a:t>
            </a:r>
            <a:r>
              <a:rPr lang="pt-BR" sz="1200" b="0" i="1"/>
              <a:t>Algumas estações `message` em kappa é 0, mas found_max é diferente de max_ll, indicando que a avaliação de outro perfil que gerou o pico</a:t>
            </a:r>
            <a:r>
              <a:rPr lang="pt-BR" sz="1200" b="0" i="0"/>
              <a:t>.</a:t>
            </a:r>
            <a:endParaRPr sz="1200" b="0" i="0"/>
          </a:p>
          <a:p>
            <a:pPr algn="just">
              <a:defRPr/>
            </a:pPr>
            <a:endParaRPr lang="pt-BR" sz="1200" b="0" i="0"/>
          </a:p>
          <a:p>
            <a:pPr algn="just">
              <a:defRPr/>
            </a:pPr>
            <a:endParaRPr lang="pt-BR" sz="1200" b="0" i="0"/>
          </a:p>
          <a:p>
            <a:pPr algn="just">
              <a:defRPr/>
            </a:pPr>
            <a:endParaRPr lang="pt-BR" sz="1200" b="0" i="0"/>
          </a:p>
          <a:p>
            <a:pPr marL="217792" indent="-217792" algn="just">
              <a:buAutoNum type="arabicPeriod"/>
              <a:defRPr/>
            </a:pPr>
            <a:endParaRPr lang="pt-BR" sz="1200" b="0" i="0"/>
          </a:p>
          <a:p>
            <a:pPr marL="217793" indent="-217793" algn="just">
              <a:buFont typeface="Arial"/>
              <a:buChar char="•"/>
              <a:defRPr/>
            </a:pPr>
            <a:r>
              <a:rPr lang="pt-BR" sz="1200" b="0" i="0"/>
              <a:t>Ao rodar a função fdgev() para a série, construir um vetor de `val.i` usando o step calculado na função roots.proflik(), o valor de val.i = 10^-17 aparece?</a:t>
            </a:r>
            <a:endParaRPr lang="pt-BR" sz="1200" b="0" i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6424193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0892" y="36553"/>
            <a:ext cx="4149939" cy="2556362"/>
          </a:xfrm>
          <a:prstGeom prst="rect">
            <a:avLst/>
          </a:prstGeom>
        </p:spPr>
      </p:pic>
      <p:pic>
        <p:nvPicPr>
          <p:cNvPr id="195741494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16021" y="2557605"/>
            <a:ext cx="4656960" cy="871394"/>
          </a:xfrm>
          <a:prstGeom prst="rect">
            <a:avLst/>
          </a:prstGeom>
        </p:spPr>
      </p:pic>
      <p:pic>
        <p:nvPicPr>
          <p:cNvPr id="68543374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-13949" y="3429000"/>
            <a:ext cx="4259624" cy="2623928"/>
          </a:xfrm>
          <a:prstGeom prst="rect">
            <a:avLst/>
          </a:prstGeom>
        </p:spPr>
      </p:pic>
      <p:pic>
        <p:nvPicPr>
          <p:cNvPr id="1449294594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-13949" y="6052928"/>
            <a:ext cx="4656960" cy="823923"/>
          </a:xfrm>
          <a:prstGeom prst="rect">
            <a:avLst/>
          </a:prstGeom>
        </p:spPr>
      </p:pic>
      <p:sp>
        <p:nvSpPr>
          <p:cNvPr id="698108942" name=""/>
          <p:cNvSpPr txBox="1"/>
          <p:nvPr/>
        </p:nvSpPr>
        <p:spPr bwMode="auto">
          <a:xfrm rot="0" flipH="0" flipV="0">
            <a:off x="4843227" y="6236110"/>
            <a:ext cx="5218595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b="0" i="0"/>
              <a:t>No caso de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430700502A</a:t>
            </a:r>
            <a:r>
              <a:rPr lang="pt-BR" sz="1200" b="0" i="0"/>
              <a:t>, não foi kappa que resultou na substituição dos parâmetros, mas o único destoante e com pico é kappa.</a:t>
            </a:r>
            <a:endParaRPr sz="1200" b="0" i="0"/>
          </a:p>
        </p:txBody>
      </p:sp>
      <p:sp>
        <p:nvSpPr>
          <p:cNvPr id="1853240973" name=""/>
          <p:cNvSpPr txBox="1"/>
          <p:nvPr/>
        </p:nvSpPr>
        <p:spPr bwMode="auto">
          <a:xfrm rot="0" flipH="0" flipV="0">
            <a:off x="4995626" y="223718"/>
            <a:ext cx="5272234" cy="10062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b="0" i="0"/>
              <a:t>Valores de `slope` dos perfis das estações com k aprox 0:</a:t>
            </a:r>
            <a:endParaRPr lang="pt-BR" sz="1200" b="0" i="0"/>
          </a:p>
          <a:p>
            <a:pPr marL="217793" indent="-217793" algn="just">
              <a:buFont typeface="Arial"/>
              <a:buChar char="–"/>
              <a:defRPr/>
            </a:pP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430060402A</a:t>
            </a:r>
            <a:r>
              <a:rPr lang="pt-BR" sz="1200" b="0" i="0"/>
              <a:t>: max(slope) =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637361.2;</a:t>
            </a:r>
            <a:endParaRPr lang="pt-BR" sz="12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217793" indent="-217793" algn="just">
              <a:buFont typeface="Arial"/>
              <a:buChar char="–"/>
              <a:defRPr/>
            </a:pP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430350901A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max(slope) =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5623123;</a:t>
            </a:r>
            <a:endParaRPr lang="pt-BR" sz="12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217793" indent="-217793" algn="just">
              <a:buFont typeface="Arial"/>
              <a:buChar char="–"/>
              <a:defRPr/>
            </a:pP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430700502A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max(slope) =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121316.4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;</a:t>
            </a:r>
            <a:endParaRPr lang="pt-BR" sz="12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217793" indent="-217793" algn="just">
              <a:buFont typeface="Arial"/>
              <a:buChar char="–"/>
              <a:defRPr/>
            </a:pPr>
            <a:endParaRPr sz="1200" b="0" i="0"/>
          </a:p>
        </p:txBody>
      </p:sp>
      <p:pic>
        <p:nvPicPr>
          <p:cNvPr id="1217088939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438774" y="2793277"/>
            <a:ext cx="3933824" cy="4000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1238171" name=""/>
          <p:cNvSpPr txBox="1"/>
          <p:nvPr/>
        </p:nvSpPr>
        <p:spPr bwMode="auto">
          <a:xfrm rot="0" flipH="0" flipV="0">
            <a:off x="233127" y="223718"/>
            <a:ext cx="5308234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BR" sz="1200"/>
              <a:t>Analisando a série da estação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430060402A</a:t>
            </a:r>
            <a:r>
              <a:rPr lang="pt-BR" sz="1200"/>
              <a:t>, a estimativa original com a função `fdgev()` retorna estimativas aparentemente razoáveis:</a:t>
            </a:r>
            <a:endParaRPr sz="1200"/>
          </a:p>
        </p:txBody>
      </p:sp>
      <p:pic>
        <p:nvPicPr>
          <p:cNvPr id="22626811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27024" y="681278"/>
            <a:ext cx="5267324" cy="5924549"/>
          </a:xfrm>
          <a:prstGeom prst="rect">
            <a:avLst/>
          </a:prstGeom>
        </p:spPr>
      </p:pic>
      <p:sp>
        <p:nvSpPr>
          <p:cNvPr id="472796013" name=""/>
          <p:cNvSpPr txBox="1"/>
          <p:nvPr/>
        </p:nvSpPr>
        <p:spPr bwMode="auto">
          <a:xfrm rot="0" flipH="0" flipV="0">
            <a:off x="5888860" y="223718"/>
            <a:ext cx="5525313" cy="2438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BR" sz="1200"/>
              <a:t>O problema aparentemente ocorre em razão do próprio `while` em combinação com o step ajustado.</a:t>
            </a:r>
            <a:endParaRPr lang="pt-BR" sz="1200"/>
          </a:p>
          <a:p>
            <a:pPr>
              <a:defRPr/>
            </a:pPr>
            <a:r>
              <a:rPr lang="pt-BR" sz="1200"/>
              <a:t>Atualmente, o quando val.i != 0, step é recalculado como step*abs(val.i).</a:t>
            </a:r>
            <a:endParaRPr lang="pt-BR" sz="1200"/>
          </a:p>
          <a:p>
            <a:pPr>
              <a:defRPr/>
            </a:pPr>
            <a:r>
              <a:rPr lang="pt-BR" sz="1200"/>
              <a:t>Para esse caso em que kappa = 0.082 e step = </a:t>
            </a:r>
            <a:r>
              <a:rPr lang="pt-BR" sz="1200"/>
              <a:t>0.005, o step resultante é igual a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0.0004125329</a:t>
            </a:r>
            <a:r>
              <a:rPr lang="pt-BR" sz="1200"/>
              <a:t>.</a:t>
            </a:r>
            <a:br>
              <a:rPr lang="pt-BR" sz="1200"/>
            </a:br>
            <a:r>
              <a:rPr lang="pt-BR" sz="1200"/>
              <a:t>Avaliando uma sequencia que o while avaliaria:</a:t>
            </a:r>
            <a:endParaRPr lang="pt-BR" sz="1200"/>
          </a:p>
          <a:p>
            <a:pPr>
              <a:defRPr/>
            </a:pPr>
            <a:r>
              <a:rPr lang="pt-BR" sz="1200"/>
              <a:t>val.i &lt;-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seq(fit$par[[3]], -1, -step.adjusted)</a:t>
            </a:r>
            <a:br>
              <a:rPr lang="pt-BR" sz="1200"/>
            </a:br>
            <a:r>
              <a:rPr lang="pt-BR" sz="1200"/>
              <a:t>Em determinado momento, a seguinte sequência ocorre:</a:t>
            </a:r>
            <a:endParaRPr lang="pt-BR" sz="1200"/>
          </a:p>
          <a:p>
            <a:pPr>
              <a:defRPr/>
            </a:pPr>
            <a:endParaRPr sz="1200"/>
          </a:p>
          <a:p>
            <a:pPr>
              <a:defRPr/>
            </a:pPr>
            <a:endParaRPr lang="pt-BR" sz="1200"/>
          </a:p>
          <a:p>
            <a:pPr>
              <a:defRPr/>
            </a:pPr>
            <a:r>
              <a:rPr lang="pt-BR" sz="1200"/>
              <a:t>Nesse momento, ocorre o kappa = 10^-17 que retorna o erro.</a:t>
            </a:r>
            <a:endParaRPr lang="pt-BR" sz="1200"/>
          </a:p>
          <a:p>
            <a:pPr>
              <a:defRPr/>
            </a:pPr>
            <a:endParaRPr/>
          </a:p>
          <a:p>
            <a:pPr>
              <a:defRPr/>
            </a:pPr>
            <a:r>
              <a:rPr lang="pt-BR" sz="1200"/>
              <a:t>Isso também foi conferido com a estação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430920901A</a:t>
            </a:r>
            <a:r>
              <a:rPr lang="pt-BR" sz="1200"/>
              <a:t>:</a:t>
            </a:r>
            <a:endParaRPr/>
          </a:p>
        </p:txBody>
      </p:sp>
      <p:pic>
        <p:nvPicPr>
          <p:cNvPr id="18614919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888860" y="1714423"/>
            <a:ext cx="3971925" cy="352424"/>
          </a:xfrm>
          <a:prstGeom prst="rect">
            <a:avLst/>
          </a:prstGeom>
        </p:spPr>
      </p:pic>
      <p:pic>
        <p:nvPicPr>
          <p:cNvPr id="84546895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888860" y="2662478"/>
            <a:ext cx="3800819" cy="39433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357386" name=""/>
          <p:cNvSpPr/>
          <p:nvPr/>
        </p:nvSpPr>
        <p:spPr bwMode="auto">
          <a:xfrm flipH="0" flipV="0">
            <a:off x="258913" y="251565"/>
            <a:ext cx="4932687" cy="1036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pt-BR" sz="1200"/>
              <a:t>A solução que está sendo testada é simplesmente adaptar o passo de busca, adicionando um `jitter` de 1e-7 no passo, para que ele nunca teste um valor múltiplo do proprio parâmetro.</a:t>
            </a:r>
            <a:br>
              <a:rPr lang="pt-BR" sz="1200"/>
            </a:br>
            <a:br>
              <a:rPr sz="1400"/>
            </a:b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step.i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&lt;-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7AA2F7"/>
                </a:solidFill>
                <a:latin typeface="RobotoMono Nerd Font"/>
                <a:ea typeface="RobotoMono Nerd Font"/>
                <a:cs typeface="RobotoMono Nerd Font"/>
              </a:rPr>
              <a:t>max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(</a:t>
            </a:r>
            <a:r>
              <a:rPr sz="1200" b="0" i="0" u="none">
                <a:solidFill>
                  <a:srgbClr val="7AA2F7"/>
                </a:solidFill>
                <a:latin typeface="RobotoMono Nerd Font"/>
                <a:ea typeface="RobotoMono Nerd Font"/>
                <a:cs typeface="RobotoMono Nerd Font"/>
              </a:rPr>
              <a:t>abs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(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*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par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[[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i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]])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,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) 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+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FF9E64"/>
                </a:solidFill>
                <a:latin typeface="RobotoMono Nerd Font"/>
                <a:ea typeface="RobotoMono Nerd Font"/>
                <a:cs typeface="RobotoMono Nerd Font"/>
              </a:rPr>
              <a:t>1e-7</a:t>
            </a:r>
            <a:endParaRPr sz="1400"/>
          </a:p>
        </p:txBody>
      </p:sp>
      <p:pic>
        <p:nvPicPr>
          <p:cNvPr id="52890862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29099" y="1419753"/>
            <a:ext cx="4762499" cy="2933699"/>
          </a:xfrm>
          <a:prstGeom prst="rect">
            <a:avLst/>
          </a:prstGeom>
        </p:spPr>
      </p:pic>
      <p:pic>
        <p:nvPicPr>
          <p:cNvPr id="25183851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540374" y="1419753"/>
            <a:ext cx="4762499" cy="2933699"/>
          </a:xfrm>
          <a:prstGeom prst="rect">
            <a:avLst/>
          </a:prstGeom>
        </p:spPr>
      </p:pic>
      <p:sp>
        <p:nvSpPr>
          <p:cNvPr id="486720019" name=""/>
          <p:cNvSpPr txBox="1"/>
          <p:nvPr/>
        </p:nvSpPr>
        <p:spPr bwMode="auto">
          <a:xfrm rot="0" flipH="0" flipV="0">
            <a:off x="5818187" y="495224"/>
            <a:ext cx="5032435" cy="10062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pt-BR" sz="1200"/>
              <a:t>Porra é essa vei</a:t>
            </a:r>
            <a:br>
              <a:rPr lang="pt-BR" sz="1200"/>
            </a:br>
            <a:br>
              <a:rPr lang="pt-BR" sz="1200"/>
            </a:br>
            <a:r>
              <a:rPr lang="pt-BR" sz="1200"/>
              <a:t>O step definido nunca vai escolher um valor negativo, ele precisa ser definido fora da função `roots.proflik()` senão, se for negativo, vai sempre virar positivo por isso não tem perfil a esquerda. </a:t>
            </a:r>
            <a:endParaRPr sz="1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55430" name=""/>
          <p:cNvSpPr/>
          <p:nvPr/>
        </p:nvSpPr>
        <p:spPr bwMode="auto">
          <a:xfrm flipH="0" flipV="0">
            <a:off x="258912" y="251564"/>
            <a:ext cx="4932686" cy="1036678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pt-BR" sz="1200"/>
              <a:t>A solução que está sendo testada é simplesmente adaptar o passo de busca, adicionando um `jitter` de 1e-7 no passo, para que ele nunca teste um valor múltiplo do proprio parâmetro.</a:t>
            </a:r>
            <a:br>
              <a:rPr lang="pt-BR" sz="1200"/>
            </a:br>
            <a:br>
              <a:rPr sz="1400"/>
            </a:b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step.i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&lt;-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7AA2F7"/>
                </a:solidFill>
                <a:latin typeface="RobotoMono Nerd Font"/>
                <a:ea typeface="RobotoMono Nerd Font"/>
                <a:cs typeface="RobotoMono Nerd Font"/>
              </a:rPr>
              <a:t>max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(</a:t>
            </a:r>
            <a:r>
              <a:rPr sz="1200" b="0" i="0" u="none">
                <a:solidFill>
                  <a:srgbClr val="7AA2F7"/>
                </a:solidFill>
                <a:latin typeface="RobotoMono Nerd Font"/>
                <a:ea typeface="RobotoMono Nerd Font"/>
                <a:cs typeface="RobotoMono Nerd Font"/>
              </a:rPr>
              <a:t>abs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(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*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par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[[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i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]])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,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) 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+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FF9E64"/>
                </a:solidFill>
                <a:latin typeface="RobotoMono Nerd Font"/>
                <a:ea typeface="RobotoMono Nerd Font"/>
                <a:cs typeface="RobotoMono Nerd Font"/>
              </a:rPr>
              <a:t>1e-7</a:t>
            </a:r>
            <a:endParaRPr sz="1400"/>
          </a:p>
        </p:txBody>
      </p:sp>
      <p:pic>
        <p:nvPicPr>
          <p:cNvPr id="137629131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29098" y="1419752"/>
            <a:ext cx="4762498" cy="2933698"/>
          </a:xfrm>
          <a:prstGeom prst="rect">
            <a:avLst/>
          </a:prstGeom>
        </p:spPr>
      </p:pic>
      <p:pic>
        <p:nvPicPr>
          <p:cNvPr id="44447766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540373" y="611857"/>
            <a:ext cx="4762498" cy="2933698"/>
          </a:xfrm>
          <a:prstGeom prst="rect">
            <a:avLst/>
          </a:prstGeom>
        </p:spPr>
      </p:pic>
      <p:sp>
        <p:nvSpPr>
          <p:cNvPr id="173095275" name=""/>
          <p:cNvSpPr txBox="1"/>
          <p:nvPr/>
        </p:nvSpPr>
        <p:spPr bwMode="auto">
          <a:xfrm rot="0" flipH="0" flipV="0">
            <a:off x="5864878" y="251564"/>
            <a:ext cx="5034954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pt-BR" sz="1200"/>
              <a:t>O step definido nunca vai escolher um valor negativo, ele precisa ser definido fora da função `roots.proflik()` senão, se for negativo, vai sempre virar positivo por isso não tem perfil a esquerda. </a:t>
            </a:r>
            <a:endParaRPr sz="1800"/>
          </a:p>
        </p:txBody>
      </p:sp>
      <p:sp>
        <p:nvSpPr>
          <p:cNvPr id="1081331033" name=""/>
          <p:cNvSpPr txBox="1"/>
          <p:nvPr/>
        </p:nvSpPr>
        <p:spPr bwMode="auto">
          <a:xfrm rot="0" flipH="0" flipV="0">
            <a:off x="5864878" y="4033231"/>
            <a:ext cx="503567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 sz="1800"/>
          </a:p>
        </p:txBody>
      </p:sp>
      <p:sp>
        <p:nvSpPr>
          <p:cNvPr id="300295827" name=""/>
          <p:cNvSpPr/>
          <p:nvPr/>
        </p:nvSpPr>
        <p:spPr bwMode="auto">
          <a:xfrm flipH="0" flipV="0">
            <a:off x="5864878" y="3567111"/>
            <a:ext cx="5126394" cy="8080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pt-BR" sz="1200" b="0" i="0" u="none">
                <a:solidFill>
                  <a:schemeClr val="tx1"/>
                </a:solidFill>
                <a:latin typeface="Arial"/>
                <a:ea typeface="Arial"/>
                <a:cs typeface="Arial"/>
              </a:rPr>
              <a:t>A solução foi mover o mesmo ajuste do passo pra fora da função ciprof.par() e passar -step.par ou +step.par na função roots.proflik() a depender de qual lado se deseja procurar a raiz (esquerda ou direita)</a:t>
            </a:r>
            <a:endParaRPr sz="120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sz="11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step.par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1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&lt;-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100" b="0" i="0" u="none">
                <a:solidFill>
                  <a:srgbClr val="7AA2F7"/>
                </a:solidFill>
                <a:latin typeface="RobotoMono Nerd Font"/>
                <a:ea typeface="RobotoMono Nerd Font"/>
                <a:cs typeface="RobotoMono Nerd Font"/>
              </a:rPr>
              <a:t>max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(</a:t>
            </a:r>
            <a:r>
              <a:rPr sz="1100" b="0" i="0" u="none">
                <a:solidFill>
                  <a:srgbClr val="7AA2F7"/>
                </a:solidFill>
                <a:latin typeface="RobotoMono Nerd Font"/>
                <a:ea typeface="RobotoMono Nerd Font"/>
                <a:cs typeface="RobotoMono Nerd Font"/>
              </a:rPr>
              <a:t>abs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(</a:t>
            </a:r>
            <a:r>
              <a:rPr sz="11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</a:t>
            </a:r>
            <a:r>
              <a:rPr sz="11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*</a:t>
            </a:r>
            <a:r>
              <a:rPr sz="11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par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[[</a:t>
            </a:r>
            <a:r>
              <a:rPr sz="11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i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]])</a:t>
            </a:r>
            <a:r>
              <a:rPr sz="11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,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1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) </a:t>
            </a:r>
            <a:r>
              <a:rPr sz="11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+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100" b="0" i="0" u="none">
                <a:solidFill>
                  <a:srgbClr val="FF9E64"/>
                </a:solidFill>
                <a:latin typeface="RobotoMono Nerd Font"/>
                <a:ea typeface="RobotoMono Nerd Font"/>
                <a:cs typeface="RobotoMono Nerd Font"/>
              </a:rPr>
              <a:t>1e-7</a:t>
            </a:r>
            <a:endParaRPr sz="1100" b="0" i="0" u="none">
              <a:solidFill>
                <a:srgbClr val="FF9E64"/>
              </a:solidFill>
              <a:latin typeface="RobotoMono Nerd Font"/>
              <a:ea typeface="RobotoMono Nerd Font"/>
              <a:cs typeface="RobotoMono Nerd Font"/>
            </a:endParaRPr>
          </a:p>
        </p:txBody>
      </p:sp>
      <p:pic>
        <p:nvPicPr>
          <p:cNvPr id="1820111047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555232" y="4543279"/>
            <a:ext cx="3159476" cy="1954244"/>
          </a:xfrm>
          <a:prstGeom prst="rect">
            <a:avLst/>
          </a:prstGeom>
        </p:spPr>
      </p:pic>
      <p:pic>
        <p:nvPicPr>
          <p:cNvPr id="2050086959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633558" y="4399351"/>
            <a:ext cx="3589035" cy="22199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3387279" name=""/>
          <p:cNvSpPr/>
          <p:nvPr/>
        </p:nvSpPr>
        <p:spPr bwMode="auto">
          <a:xfrm flipH="0" flipV="0">
            <a:off x="258912" y="251564"/>
            <a:ext cx="5038166" cy="2594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pt-BR" sz="1100"/>
              <a:t>Avaliar perfis `A801` com e sem priori:</a:t>
            </a:r>
            <a:endParaRPr sz="1100"/>
          </a:p>
        </p:txBody>
      </p:sp>
      <p:pic>
        <p:nvPicPr>
          <p:cNvPr id="60557708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8912" y="820176"/>
            <a:ext cx="4707685" cy="2905777"/>
          </a:xfrm>
          <a:prstGeom prst="rect">
            <a:avLst/>
          </a:prstGeom>
        </p:spPr>
      </p:pic>
      <p:sp>
        <p:nvSpPr>
          <p:cNvPr id="1854179415" name=""/>
          <p:cNvSpPr/>
          <p:nvPr/>
        </p:nvSpPr>
        <p:spPr bwMode="auto">
          <a:xfrm flipH="0" flipV="0">
            <a:off x="258912" y="511003"/>
            <a:ext cx="5042485" cy="2594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pt-BR" sz="1100"/>
              <a:t>Sem priori:</a:t>
            </a:r>
            <a:endParaRPr sz="1100"/>
          </a:p>
        </p:txBody>
      </p:sp>
      <p:pic>
        <p:nvPicPr>
          <p:cNvPr id="84606735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58912" y="3909078"/>
            <a:ext cx="4707685" cy="2905778"/>
          </a:xfrm>
          <a:prstGeom prst="rect">
            <a:avLst/>
          </a:prstGeom>
        </p:spPr>
      </p:pic>
      <p:sp>
        <p:nvSpPr>
          <p:cNvPr id="726870777" name=""/>
          <p:cNvSpPr/>
          <p:nvPr/>
        </p:nvSpPr>
        <p:spPr bwMode="auto">
          <a:xfrm flipH="0" flipV="0">
            <a:off x="258912" y="3649638"/>
            <a:ext cx="5044284" cy="2594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pt-BR" sz="1100"/>
              <a:t>Com priori:</a:t>
            </a:r>
            <a:endParaRPr sz="1100"/>
          </a:p>
        </p:txBody>
      </p:sp>
      <p:pic>
        <p:nvPicPr>
          <p:cNvPr id="132357510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929779" y="796429"/>
            <a:ext cx="4664615" cy="2879193"/>
          </a:xfrm>
          <a:prstGeom prst="rect">
            <a:avLst/>
          </a:prstGeom>
        </p:spPr>
      </p:pic>
      <p:pic>
        <p:nvPicPr>
          <p:cNvPr id="92085050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5929779" y="3683531"/>
            <a:ext cx="4664615" cy="28791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880602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119035" y="122245"/>
            <a:ext cx="4429640" cy="307312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/>
            </a:pPr>
            <a:r>
              <a:rPr sz="1200" b="1">
                <a:latin typeface="Arial"/>
                <a:ea typeface="Arial"/>
                <a:cs typeface="Arial"/>
              </a:rPr>
              <a:t>Correlação com covariáveis</a:t>
            </a:r>
            <a:endParaRPr sz="1200" b="1">
              <a:latin typeface="Arial"/>
              <a:cs typeface="Arial"/>
            </a:endParaRPr>
          </a:p>
        </p:txBody>
      </p:sp>
      <p:sp>
        <p:nvSpPr>
          <p:cNvPr id="2028456231" name="PlaceHolder 1"/>
          <p:cNvSpPr>
            <a:spLocks noGrp="1"/>
          </p:cNvSpPr>
          <p:nvPr/>
        </p:nvSpPr>
        <p:spPr bwMode="auto">
          <a:xfrm flipH="0" flipV="0">
            <a:off x="119034" y="429556"/>
            <a:ext cx="1712214" cy="38286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r>
              <a:rPr sz="1200" b="0">
                <a:latin typeface="Arial"/>
                <a:cs typeface="Arial"/>
              </a:rPr>
              <a:t>Distância da costa</a:t>
            </a:r>
            <a:endParaRPr sz="1200" b="0">
              <a:latin typeface="Arial"/>
              <a:cs typeface="Arial"/>
            </a:endParaRPr>
          </a:p>
        </p:txBody>
      </p:sp>
      <p:pic>
        <p:nvPicPr>
          <p:cNvPr id="13316136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7897" y="812426"/>
            <a:ext cx="2609102" cy="2609102"/>
          </a:xfrm>
          <a:prstGeom prst="rect">
            <a:avLst/>
          </a:prstGeom>
        </p:spPr>
      </p:pic>
      <p:pic>
        <p:nvPicPr>
          <p:cNvPr id="152942532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964278" y="9336"/>
            <a:ext cx="4437206" cy="2217037"/>
          </a:xfrm>
          <a:prstGeom prst="rect">
            <a:avLst/>
          </a:prstGeom>
        </p:spPr>
      </p:pic>
      <p:pic>
        <p:nvPicPr>
          <p:cNvPr id="123097337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7401485" y="9336"/>
            <a:ext cx="4437206" cy="2217037"/>
          </a:xfrm>
          <a:prstGeom prst="rect">
            <a:avLst/>
          </a:prstGeom>
        </p:spPr>
      </p:pic>
      <p:pic>
        <p:nvPicPr>
          <p:cNvPr id="73748819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2955438" y="2226373"/>
            <a:ext cx="4446046" cy="2221454"/>
          </a:xfrm>
          <a:prstGeom prst="rect">
            <a:avLst/>
          </a:prstGeom>
        </p:spPr>
      </p:pic>
      <p:pic>
        <p:nvPicPr>
          <p:cNvPr id="713664570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7401485" y="2226373"/>
            <a:ext cx="4437206" cy="2217037"/>
          </a:xfrm>
          <a:prstGeom prst="rect">
            <a:avLst/>
          </a:prstGeom>
        </p:spPr>
      </p:pic>
      <p:pic>
        <p:nvPicPr>
          <p:cNvPr id="1010299224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2955438" y="4443411"/>
            <a:ext cx="4446046" cy="2221454"/>
          </a:xfrm>
          <a:prstGeom prst="rect">
            <a:avLst/>
          </a:prstGeom>
        </p:spPr>
      </p:pic>
      <p:pic>
        <p:nvPicPr>
          <p:cNvPr id="832218915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7401485" y="4445620"/>
            <a:ext cx="4437206" cy="22170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691676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119034" y="122244"/>
            <a:ext cx="4429639" cy="307311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/>
            </a:pPr>
            <a:r>
              <a:rPr sz="1200" b="1">
                <a:latin typeface="Arial"/>
                <a:ea typeface="Arial"/>
                <a:cs typeface="Arial"/>
              </a:rPr>
              <a:t>Correlação com covariáveis</a:t>
            </a:r>
            <a:endParaRPr sz="1200" b="1">
              <a:latin typeface="Arial"/>
              <a:cs typeface="Arial"/>
            </a:endParaRPr>
          </a:p>
        </p:txBody>
      </p:sp>
      <p:sp>
        <p:nvSpPr>
          <p:cNvPr id="1216596364" name="PlaceHolder 1"/>
          <p:cNvSpPr>
            <a:spLocks noGrp="1"/>
          </p:cNvSpPr>
          <p:nvPr/>
        </p:nvSpPr>
        <p:spPr bwMode="auto">
          <a:xfrm flipH="0" flipV="0">
            <a:off x="119034" y="429555"/>
            <a:ext cx="1712214" cy="38286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r>
              <a:rPr sz="1200" b="0">
                <a:latin typeface="Arial"/>
                <a:cs typeface="Arial"/>
              </a:rPr>
              <a:t>Distância da costa</a:t>
            </a:r>
            <a:endParaRPr sz="1200" b="0">
              <a:latin typeface="Arial"/>
              <a:cs typeface="Arial"/>
            </a:endParaRPr>
          </a:p>
        </p:txBody>
      </p:sp>
      <p:pic>
        <p:nvPicPr>
          <p:cNvPr id="101815674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57897" y="812425"/>
            <a:ext cx="2609101" cy="2609101"/>
          </a:xfrm>
          <a:prstGeom prst="rect">
            <a:avLst/>
          </a:prstGeom>
        </p:spPr>
      </p:pic>
      <p:pic>
        <p:nvPicPr>
          <p:cNvPr id="1793479558" name=""/>
          <p:cNvPicPr>
            <a:picLocks noChangeAspect="1"/>
          </p:cNvPicPr>
          <p:nvPr/>
        </p:nvPicPr>
        <p:blipFill rotWithShape="1">
          <a:blip r:embed="rId4"/>
        </p:blipFill>
        <p:spPr bwMode="auto">
          <a:xfrm flipH="0" flipV="0">
            <a:off x="2964277" y="9335"/>
            <a:ext cx="4437205" cy="2217036"/>
          </a:xfrm>
          <a:prstGeom prst="rect">
            <a:avLst/>
          </a:prstGeom>
        </p:spPr>
      </p:pic>
      <p:pic>
        <p:nvPicPr>
          <p:cNvPr id="1331928308" name=""/>
          <p:cNvPicPr>
            <a:picLocks noChangeAspect="1"/>
          </p:cNvPicPr>
          <p:nvPr/>
        </p:nvPicPr>
        <p:blipFill rotWithShape="1">
          <a:blip r:embed="rId5"/>
        </p:blipFill>
        <p:spPr bwMode="auto">
          <a:xfrm flipH="0" flipV="0">
            <a:off x="7401484" y="9335"/>
            <a:ext cx="4437205" cy="2217036"/>
          </a:xfrm>
          <a:prstGeom prst="rect">
            <a:avLst/>
          </a:prstGeom>
        </p:spPr>
      </p:pic>
      <p:pic>
        <p:nvPicPr>
          <p:cNvPr id="1621918604" name=""/>
          <p:cNvPicPr>
            <a:picLocks noChangeAspect="1"/>
          </p:cNvPicPr>
          <p:nvPr/>
        </p:nvPicPr>
        <p:blipFill rotWithShape="1">
          <a:blip r:embed="rId6"/>
        </p:blipFill>
        <p:spPr bwMode="auto">
          <a:xfrm flipH="0" flipV="0">
            <a:off x="2955438" y="2226372"/>
            <a:ext cx="4446045" cy="2221453"/>
          </a:xfrm>
          <a:prstGeom prst="rect">
            <a:avLst/>
          </a:prstGeom>
        </p:spPr>
      </p:pic>
      <p:pic>
        <p:nvPicPr>
          <p:cNvPr id="1891227327" name=""/>
          <p:cNvPicPr>
            <a:picLocks noChangeAspect="1"/>
          </p:cNvPicPr>
          <p:nvPr/>
        </p:nvPicPr>
        <p:blipFill rotWithShape="1">
          <a:blip r:embed="rId7"/>
        </p:blipFill>
        <p:spPr bwMode="auto">
          <a:xfrm flipH="0" flipV="0">
            <a:off x="7401484" y="2226372"/>
            <a:ext cx="4437205" cy="2217036"/>
          </a:xfrm>
          <a:prstGeom prst="rect">
            <a:avLst/>
          </a:prstGeom>
        </p:spPr>
      </p:pic>
      <p:pic>
        <p:nvPicPr>
          <p:cNvPr id="542738107" name=""/>
          <p:cNvPicPr>
            <a:picLocks noChangeAspect="1"/>
          </p:cNvPicPr>
          <p:nvPr/>
        </p:nvPicPr>
        <p:blipFill rotWithShape="1">
          <a:blip r:embed="rId8"/>
        </p:blipFill>
        <p:spPr bwMode="auto">
          <a:xfrm flipH="0" flipV="0">
            <a:off x="2955438" y="4443410"/>
            <a:ext cx="4446045" cy="2221453"/>
          </a:xfrm>
          <a:prstGeom prst="rect">
            <a:avLst/>
          </a:prstGeom>
        </p:spPr>
      </p:pic>
      <p:pic>
        <p:nvPicPr>
          <p:cNvPr id="190825464" name=""/>
          <p:cNvPicPr>
            <a:picLocks noChangeAspect="1"/>
          </p:cNvPicPr>
          <p:nvPr/>
        </p:nvPicPr>
        <p:blipFill rotWithShape="1">
          <a:blip r:embed="rId9"/>
        </p:blipFill>
        <p:spPr bwMode="auto">
          <a:xfrm flipH="0" flipV="0">
            <a:off x="7401484" y="4445619"/>
            <a:ext cx="4437205" cy="22170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649331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59868" y="0"/>
            <a:ext cx="3405187" cy="3405187"/>
          </a:xfrm>
          <a:prstGeom prst="rect">
            <a:avLst/>
          </a:prstGeom>
        </p:spPr>
      </p:pic>
      <p:pic>
        <p:nvPicPr>
          <p:cNvPr id="106684447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248701" y="0"/>
            <a:ext cx="3405187" cy="3405187"/>
          </a:xfrm>
          <a:prstGeom prst="rect">
            <a:avLst/>
          </a:prstGeom>
        </p:spPr>
      </p:pic>
      <p:pic>
        <p:nvPicPr>
          <p:cNvPr id="704205572" name=""/>
          <p:cNvPicPr>
            <a:picLocks noChangeAspect="1"/>
          </p:cNvPicPr>
          <p:nvPr/>
        </p:nvPicPr>
        <p:blipFill rotWithShape="1">
          <a:blip r:embed="rId5"/>
        </p:blipFill>
        <p:spPr bwMode="auto">
          <a:xfrm flipH="0" flipV="0">
            <a:off x="7837534" y="0"/>
            <a:ext cx="3405187" cy="3405187"/>
          </a:xfrm>
          <a:prstGeom prst="rect">
            <a:avLst/>
          </a:prstGeom>
        </p:spPr>
      </p:pic>
      <p:pic>
        <p:nvPicPr>
          <p:cNvPr id="839077339" name=""/>
          <p:cNvPicPr>
            <a:picLocks noChangeAspect="1"/>
          </p:cNvPicPr>
          <p:nvPr/>
        </p:nvPicPr>
        <p:blipFill rotWithShape="1">
          <a:blip r:embed="rId6"/>
        </p:blipFill>
        <p:spPr bwMode="auto">
          <a:xfrm flipH="0" flipV="0">
            <a:off x="659868" y="3286125"/>
            <a:ext cx="3405187" cy="3405187"/>
          </a:xfrm>
          <a:prstGeom prst="rect">
            <a:avLst/>
          </a:prstGeom>
        </p:spPr>
      </p:pic>
      <p:pic>
        <p:nvPicPr>
          <p:cNvPr id="1396481310" name=""/>
          <p:cNvPicPr>
            <a:picLocks noChangeAspect="1"/>
          </p:cNvPicPr>
          <p:nvPr/>
        </p:nvPicPr>
        <p:blipFill rotWithShape="1">
          <a:blip r:embed="rId7"/>
        </p:blipFill>
        <p:spPr bwMode="auto">
          <a:xfrm flipH="0" flipV="0">
            <a:off x="4245055" y="3286125"/>
            <a:ext cx="3405187" cy="3405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035144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119034" y="122244"/>
            <a:ext cx="4429639" cy="307311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/>
            </a:pPr>
            <a:r>
              <a:rPr sz="1200" b="1">
                <a:latin typeface="Arial"/>
                <a:ea typeface="Arial"/>
                <a:cs typeface="Arial"/>
              </a:rPr>
              <a:t>Resultados </a:t>
            </a:r>
            <a:r>
              <a:rPr sz="1200" b="1">
                <a:latin typeface="Arial"/>
                <a:cs typeface="Arial"/>
              </a:rPr>
              <a:t>ajustes por duração (forma)</a:t>
            </a:r>
            <a:endParaRPr sz="1200" b="1">
              <a:latin typeface="Arial"/>
              <a:cs typeface="Arial"/>
            </a:endParaRPr>
          </a:p>
        </p:txBody>
      </p:sp>
      <p:sp>
        <p:nvSpPr>
          <p:cNvPr id="1259356020" name="PlaceHolder 1"/>
          <p:cNvSpPr>
            <a:spLocks noGrp="1"/>
          </p:cNvSpPr>
          <p:nvPr/>
        </p:nvSpPr>
        <p:spPr bwMode="auto">
          <a:xfrm flipH="0" flipV="0">
            <a:off x="119034" y="429556"/>
            <a:ext cx="5372423" cy="45970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r>
              <a:rPr sz="1200" b="0">
                <a:latin typeface="Arial"/>
                <a:ea typeface="Arial"/>
                <a:cs typeface="Arial"/>
              </a:rPr>
              <a:t>L-momentos + IC bootstrap percentil</a:t>
            </a:r>
            <a:endParaRPr sz="1200" b="0">
              <a:latin typeface="Arial"/>
              <a:cs typeface="Arial"/>
            </a:endParaRPr>
          </a:p>
        </p:txBody>
      </p:sp>
      <p:pic>
        <p:nvPicPr>
          <p:cNvPr id="84945311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0" y="1054736"/>
            <a:ext cx="6916051" cy="2468523"/>
          </a:xfrm>
          <a:prstGeom prst="rect">
            <a:avLst/>
          </a:prstGeom>
        </p:spPr>
      </p:pic>
      <p:pic>
        <p:nvPicPr>
          <p:cNvPr id="96286467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0" y="4070986"/>
            <a:ext cx="6946666" cy="2479451"/>
          </a:xfrm>
          <a:prstGeom prst="rect">
            <a:avLst/>
          </a:prstGeom>
        </p:spPr>
      </p:pic>
      <p:sp>
        <p:nvSpPr>
          <p:cNvPr id="427722411" name="PlaceHolder 1"/>
          <p:cNvSpPr>
            <a:spLocks noGrp="1"/>
          </p:cNvSpPr>
          <p:nvPr/>
        </p:nvSpPr>
        <p:spPr bwMode="auto">
          <a:xfrm flipH="0" flipV="0">
            <a:off x="119034" y="3611277"/>
            <a:ext cx="5372422" cy="459707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r>
              <a:rPr sz="1200" b="0">
                <a:latin typeface="Arial"/>
                <a:ea typeface="Arial"/>
                <a:cs typeface="Arial"/>
              </a:rPr>
              <a:t>GMLE c/ Beta(0, 0.122²) + perfil verossimilhança</a:t>
            </a:r>
            <a:endParaRPr sz="1200" b="0">
              <a:latin typeface="Arial"/>
              <a:cs typeface="Arial"/>
            </a:endParaRPr>
          </a:p>
        </p:txBody>
      </p:sp>
      <p:pic>
        <p:nvPicPr>
          <p:cNvPr id="118465447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131874" y="0"/>
            <a:ext cx="498643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94580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119034" y="122244"/>
            <a:ext cx="4429639" cy="307311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/>
            </a:pPr>
            <a:r>
              <a:rPr sz="1200" b="1">
                <a:latin typeface="Arial"/>
                <a:ea typeface="Arial"/>
                <a:cs typeface="Arial"/>
              </a:rPr>
              <a:t>Resultados com as funções finalizadas</a:t>
            </a:r>
            <a:endParaRPr sz="1200" b="1">
              <a:latin typeface="Arial"/>
              <a:cs typeface="Arial"/>
            </a:endParaRPr>
          </a:p>
        </p:txBody>
      </p:sp>
      <p:sp>
        <p:nvSpPr>
          <p:cNvPr id="1088265626" name="PlaceHolder 1"/>
          <p:cNvSpPr>
            <a:spLocks noGrp="1"/>
          </p:cNvSpPr>
          <p:nvPr/>
        </p:nvSpPr>
        <p:spPr bwMode="auto">
          <a:xfrm flipH="0" flipV="0">
            <a:off x="119034" y="581955"/>
            <a:ext cx="5232727" cy="30731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r>
              <a:rPr sz="1200" b="0">
                <a:latin typeface="Arial"/>
                <a:ea typeface="Arial"/>
                <a:cs typeface="Arial"/>
              </a:rPr>
              <a:t>Resultados de `parname == “kappa”` (posteriormente seria bom plotar a mesma figura pra todos os parâmetros)</a:t>
            </a:r>
            <a:endParaRPr sz="1200" b="0">
              <a:latin typeface="Arial"/>
              <a:cs typeface="Arial"/>
            </a:endParaRPr>
          </a:p>
        </p:txBody>
      </p:sp>
      <p:pic>
        <p:nvPicPr>
          <p:cNvPr id="132642498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19034" y="1101911"/>
            <a:ext cx="5558970" cy="3174632"/>
          </a:xfrm>
          <a:prstGeom prst="rect">
            <a:avLst/>
          </a:prstGeom>
        </p:spPr>
      </p:pic>
      <p:pic>
        <p:nvPicPr>
          <p:cNvPr id="107379961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029914" y="0"/>
            <a:ext cx="498643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7587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66311" y="0"/>
            <a:ext cx="4986436" cy="6858000"/>
          </a:xfrm>
          <a:prstGeom prst="rect">
            <a:avLst/>
          </a:prstGeom>
        </p:spPr>
      </p:pic>
      <p:pic>
        <p:nvPicPr>
          <p:cNvPr id="18822505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067176" y="0"/>
            <a:ext cx="498643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25349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66717" y="1590247"/>
            <a:ext cx="5601370" cy="3731611"/>
          </a:xfrm>
          <a:prstGeom prst="rect">
            <a:avLst/>
          </a:prstGeom>
        </p:spPr>
      </p:pic>
      <p:pic>
        <p:nvPicPr>
          <p:cNvPr id="127470503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320117" y="1595615"/>
            <a:ext cx="5624440" cy="37469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6369747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119034" y="122244"/>
            <a:ext cx="4429639" cy="307311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/>
            </a:pPr>
            <a:r>
              <a:rPr sz="1200" b="1">
                <a:latin typeface="Arial"/>
                <a:ea typeface="Arial"/>
                <a:cs typeface="Arial"/>
              </a:rPr>
              <a:t>Resultados com as funções finalizadas</a:t>
            </a:r>
            <a:endParaRPr sz="1200" b="1">
              <a:latin typeface="Arial"/>
              <a:cs typeface="Arial"/>
            </a:endParaRPr>
          </a:p>
        </p:txBody>
      </p:sp>
      <p:sp>
        <p:nvSpPr>
          <p:cNvPr id="1249982254" name="PlaceHolder 1"/>
          <p:cNvSpPr>
            <a:spLocks noGrp="1"/>
          </p:cNvSpPr>
          <p:nvPr/>
        </p:nvSpPr>
        <p:spPr bwMode="auto">
          <a:xfrm rot="0" flipH="0" flipV="0">
            <a:off x="118800" y="374400"/>
            <a:ext cx="5440428" cy="914760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r>
              <a:rPr sz="1200" b="0">
                <a:latin typeface="Arial"/>
                <a:ea typeface="Arial"/>
                <a:cs typeface="Arial"/>
              </a:rPr>
              <a:t>Análises das curvas Y, ou a(T) e comparações com as observações de y. Y_p foi gerado multiplicando as estimativas dos quantis I_d,p*(d + theta)^H</a:t>
            </a:r>
            <a:r>
              <a:rPr sz="1200" b="0">
                <a:latin typeface="Arial"/>
                <a:cs typeface="Arial"/>
              </a:rPr>
              <a:t>.</a:t>
            </a:r>
            <a:br>
              <a:rPr sz="1200" b="0">
                <a:latin typeface="Arial"/>
                <a:cs typeface="Arial"/>
              </a:rPr>
            </a:br>
            <a:r>
              <a:rPr sz="1200" b="0">
                <a:latin typeface="Arial"/>
                <a:cs typeface="Arial"/>
              </a:rPr>
              <a:t>Os pontos y_p foram gerados fazendo o mesmo, mas utilizando as frequência observadas com posições de plotagem de Weibull, multiplicando-as por (d + theta)^H:</a:t>
            </a:r>
            <a:endParaRPr sz="1200" b="0">
              <a:latin typeface="Arial"/>
              <a:cs typeface="Arial"/>
            </a:endParaRPr>
          </a:p>
        </p:txBody>
      </p:sp>
      <p:pic>
        <p:nvPicPr>
          <p:cNvPr id="30562460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18799" y="1600728"/>
            <a:ext cx="5440428" cy="3624392"/>
          </a:xfrm>
          <a:prstGeom prst="rect">
            <a:avLst/>
          </a:prstGeom>
        </p:spPr>
      </p:pic>
      <p:sp>
        <p:nvSpPr>
          <p:cNvPr id="832411082" name="PlaceHolder 1"/>
          <p:cNvSpPr>
            <a:spLocks noGrp="1"/>
          </p:cNvSpPr>
          <p:nvPr/>
        </p:nvSpPr>
        <p:spPr bwMode="auto">
          <a:xfrm rot="0" flipH="0" flipV="0">
            <a:off x="271199" y="5289300"/>
            <a:ext cx="5474268" cy="420984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r>
              <a:rPr sz="1200" b="0">
                <a:latin typeface="Arial"/>
                <a:ea typeface="Arial"/>
                <a:cs typeface="Arial"/>
              </a:rPr>
              <a:t>A estação A805 possui maior valor de theta, isso significa a maior distância entre Y e I_d,p.</a:t>
            </a:r>
            <a:endParaRPr sz="1200" b="0">
              <a:latin typeface="Arial"/>
              <a:cs typeface="Arial"/>
            </a:endParaRPr>
          </a:p>
        </p:txBody>
      </p:sp>
      <p:sp>
        <p:nvSpPr>
          <p:cNvPr id="738704500" name="PlaceHolder 1"/>
          <p:cNvSpPr>
            <a:spLocks noGrp="1"/>
          </p:cNvSpPr>
          <p:nvPr/>
        </p:nvSpPr>
        <p:spPr bwMode="auto">
          <a:xfrm rot="0" flipH="0" flipV="0">
            <a:off x="6095998" y="374400"/>
            <a:ext cx="5556346" cy="750168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r>
              <a:rPr sz="1200" b="1">
                <a:latin typeface="Arial"/>
                <a:ea typeface="Arial"/>
                <a:cs typeface="Arial"/>
              </a:rPr>
              <a:t>Interpretação</a:t>
            </a:r>
            <a:endParaRPr sz="1200" b="0"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1200" b="0">
                <a:latin typeface="Arial"/>
                <a:ea typeface="Arial"/>
                <a:cs typeface="Arial"/>
              </a:rPr>
              <a:t>A avaliação destes postos pode indicar que, apesar da redução na incerteza observada com as curvas de frequência, tempos de retorno intermediários não são tão bem representados.</a:t>
            </a:r>
            <a:endParaRPr sz="1200" b="0">
              <a:latin typeface="Arial"/>
              <a:cs typeface="Arial"/>
            </a:endParaRPr>
          </a:p>
        </p:txBody>
      </p:sp>
      <p:pic>
        <p:nvPicPr>
          <p:cNvPr id="205195596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745467" y="1600728"/>
            <a:ext cx="5444398" cy="36270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083624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119034" y="122243"/>
            <a:ext cx="4429638" cy="30731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/>
            </a:pPr>
            <a:r>
              <a:rPr sz="1200" b="1">
                <a:latin typeface="Arial"/>
                <a:ea typeface="Arial"/>
                <a:cs typeface="Arial"/>
              </a:rPr>
              <a:t>Avaliações com dados </a:t>
            </a:r>
            <a:r>
              <a:rPr sz="1200" b="1">
                <a:highlight>
                  <a:srgbClr val="FFFF00"/>
                </a:highlight>
                <a:latin typeface="Arial"/>
                <a:ea typeface="Arial"/>
                <a:cs typeface="Arial"/>
              </a:rPr>
              <a:t>diários</a:t>
            </a:r>
            <a:endParaRPr sz="1200" b="1">
              <a:latin typeface="Arial"/>
              <a:cs typeface="Arial"/>
            </a:endParaRPr>
          </a:p>
        </p:txBody>
      </p:sp>
      <p:sp>
        <p:nvSpPr>
          <p:cNvPr id="2133141179" name="PlaceHolder 1"/>
          <p:cNvSpPr>
            <a:spLocks noGrp="1"/>
          </p:cNvSpPr>
          <p:nvPr/>
        </p:nvSpPr>
        <p:spPr bwMode="auto">
          <a:xfrm rot="0" flipH="0" flipV="0">
            <a:off x="118800" y="374400"/>
            <a:ext cx="5539787" cy="750168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 marL="217793" indent="-217793">
              <a:buFont typeface="Arial"/>
              <a:buChar char="•"/>
              <a:defRPr/>
            </a:pPr>
            <a:r>
              <a:rPr sz="1200" b="0">
                <a:latin typeface="Arial"/>
                <a:ea typeface="Arial"/>
                <a:cs typeface="Arial"/>
              </a:rPr>
              <a:t>Comparação das estimativas de kappa com L-momentos ao longo de diferentes faixas de duração;</a:t>
            </a:r>
            <a:endParaRPr sz="1200" b="0">
              <a:latin typeface="Arial"/>
              <a:ea typeface="Arial"/>
              <a:cs typeface="Aria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1200" b="0">
                <a:latin typeface="Arial"/>
                <a:ea typeface="Arial"/>
                <a:cs typeface="Arial"/>
              </a:rPr>
              <a:t>As faixas foram determinadas para conter aproximadamente o mesmo número de postos pluviométricos;</a:t>
            </a:r>
            <a:endParaRPr sz="1200" b="0">
              <a:latin typeface="Arial"/>
              <a:cs typeface="Arial"/>
            </a:endParaRPr>
          </a:p>
        </p:txBody>
      </p:sp>
      <p:pic>
        <p:nvPicPr>
          <p:cNvPr id="339447706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91617" y="1178209"/>
            <a:ext cx="4682548" cy="2674122"/>
          </a:xfrm>
          <a:prstGeom prst="rect">
            <a:avLst/>
          </a:prstGeom>
        </p:spPr>
      </p:pic>
      <p:sp>
        <p:nvSpPr>
          <p:cNvPr id="1955422642" name="PlaceHolder 1"/>
          <p:cNvSpPr>
            <a:spLocks noGrp="1"/>
          </p:cNvSpPr>
          <p:nvPr/>
        </p:nvSpPr>
        <p:spPr bwMode="auto">
          <a:xfrm rot="0" flipH="0" flipV="0">
            <a:off x="298800" y="3962233"/>
            <a:ext cx="5806907" cy="1737720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 marL="217793" indent="-217793">
              <a:buFont typeface="Arial"/>
              <a:buChar char="•"/>
              <a:defRPr/>
            </a:pPr>
            <a:r>
              <a:rPr sz="1200" b="0">
                <a:latin typeface="Arial"/>
                <a:ea typeface="Arial"/>
                <a:cs typeface="Arial"/>
              </a:rPr>
              <a:t>Séries mais curtas apresentam mediana pouco acima de kappa = 0;</a:t>
            </a:r>
            <a:endParaRPr sz="1200" b="0">
              <a:latin typeface="Arial"/>
              <a:ea typeface="Arial"/>
              <a:cs typeface="Aria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1200" b="0">
                <a:latin typeface="Arial"/>
                <a:ea typeface="Arial"/>
                <a:cs typeface="Arial"/>
              </a:rPr>
              <a:t>[39,44) grande variabilidade e mediana salta para caudas ainda mais leves;</a:t>
            </a:r>
            <a:endParaRPr sz="1200" b="0">
              <a:latin typeface="Arial"/>
              <a:ea typeface="Arial"/>
              <a:cs typeface="Aria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1200" b="0">
                <a:latin typeface="Arial"/>
                <a:ea typeface="Arial"/>
                <a:cs typeface="Arial"/>
              </a:rPr>
              <a:t>A partir [44,55) há uma tendência de redução, até que o último grupo [64,105] já apre</a:t>
            </a:r>
            <a:r>
              <a:rPr sz="1200" b="0">
                <a:latin typeface="Arial"/>
                <a:ea typeface="Arial"/>
                <a:cs typeface="Arial"/>
              </a:rPr>
              <a:t>senta mediana negativa e a menor variabilidade</a:t>
            </a:r>
            <a:endParaRPr sz="1200" b="0">
              <a:latin typeface="Arial"/>
              <a:ea typeface="Arial"/>
              <a:cs typeface="Arial"/>
            </a:endParaRPr>
          </a:p>
          <a:p>
            <a:pPr marL="217793" indent="-217793">
              <a:buFont typeface="Arial"/>
              <a:buChar char="•"/>
              <a:defRPr/>
            </a:pPr>
            <a:endParaRPr sz="1200" b="0">
              <a:latin typeface="Arial"/>
              <a:cs typeface="Aria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1200" b="0">
                <a:latin typeface="Arial"/>
                <a:ea typeface="Arial"/>
                <a:cs typeface="Arial"/>
              </a:rPr>
              <a:t>Espacialmente, onde estão estas estações? Pode haver algum comportamento regional mascarando este comportamento?</a:t>
            </a:r>
            <a:br>
              <a:rPr sz="1200" b="0">
                <a:latin typeface="Arial"/>
                <a:ea typeface="Arial"/>
                <a:cs typeface="Arial"/>
              </a:rPr>
            </a:br>
            <a:r>
              <a:rPr sz="1200" b="0">
                <a:highlight>
                  <a:srgbClr val="FFFF00"/>
                </a:highlight>
                <a:latin typeface="Arial"/>
                <a:ea typeface="Arial"/>
                <a:cs typeface="Arial"/>
              </a:rPr>
              <a:t>As estações com séries longas aparentam estar bem distribuídas</a:t>
            </a:r>
            <a:r>
              <a:rPr sz="1200" b="0">
                <a:latin typeface="Arial"/>
                <a:ea typeface="Arial"/>
                <a:cs typeface="Arial"/>
              </a:rPr>
              <a:t> na região e não concentradas em um único local, o que poderia enviesar a avaliação dos boxplots</a:t>
            </a:r>
            <a:endParaRPr sz="1200" b="0">
              <a:latin typeface="Arial"/>
              <a:ea typeface="Arial"/>
              <a:cs typeface="Arial"/>
            </a:endParaRPr>
          </a:p>
        </p:txBody>
      </p:sp>
      <p:pic>
        <p:nvPicPr>
          <p:cNvPr id="181144487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018587" y="480316"/>
            <a:ext cx="6007266" cy="60072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329000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119034" y="122243"/>
            <a:ext cx="4429638" cy="30731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/>
            </a:pPr>
            <a:r>
              <a:rPr sz="1200" b="1">
                <a:latin typeface="Arial"/>
                <a:ea typeface="Arial"/>
                <a:cs typeface="Arial"/>
              </a:rPr>
              <a:t>Avaliações com dados </a:t>
            </a:r>
            <a:r>
              <a:rPr sz="1200" b="1">
                <a:highlight>
                  <a:srgbClr val="FFFF00"/>
                </a:highlight>
                <a:latin typeface="Arial"/>
                <a:ea typeface="Arial"/>
                <a:cs typeface="Arial"/>
              </a:rPr>
              <a:t>diários</a:t>
            </a:r>
            <a:r>
              <a:rPr sz="1200" b="0">
                <a:latin typeface="Arial"/>
                <a:cs typeface="Arial"/>
              </a:rPr>
              <a:t>: viés</a:t>
            </a:r>
            <a:endParaRPr sz="1200" b="0">
              <a:latin typeface="Arial"/>
              <a:cs typeface="Arial"/>
            </a:endParaRPr>
          </a:p>
        </p:txBody>
      </p:sp>
      <p:sp>
        <p:nvSpPr>
          <p:cNvPr id="1961818769" name="PlaceHolder 1"/>
          <p:cNvSpPr>
            <a:spLocks noGrp="1"/>
          </p:cNvSpPr>
          <p:nvPr/>
        </p:nvSpPr>
        <p:spPr bwMode="auto">
          <a:xfrm rot="0" flipH="0" flipV="0">
            <a:off x="118800" y="374400"/>
            <a:ext cx="5794304" cy="2066903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 marL="217793" indent="-217793">
              <a:buFont typeface="Arial"/>
              <a:buChar char="•"/>
              <a:defRPr/>
            </a:pPr>
            <a:r>
              <a:rPr sz="1200" b="0">
                <a:latin typeface="Arial"/>
                <a:ea typeface="Arial"/>
                <a:cs typeface="Arial"/>
              </a:rPr>
              <a:t>Escolher séries longas (N &gt; n anos) e simular amostras menores;</a:t>
            </a:r>
            <a:endParaRPr sz="1200" b="0">
              <a:latin typeface="Arial"/>
              <a:ea typeface="Arial"/>
              <a:cs typeface="Aria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1200" b="0">
                <a:latin typeface="Arial"/>
                <a:ea typeface="Arial"/>
                <a:cs typeface="Arial"/>
              </a:rPr>
              <a:t>Patel (2026): N &gt; 50 p/ estimativas não enviesadas de kappa;</a:t>
            </a:r>
            <a:endParaRPr sz="1200" b="0">
              <a:latin typeface="Arial"/>
              <a:ea typeface="Arial"/>
              <a:cs typeface="Aria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1200" b="0">
                <a:latin typeface="Arial"/>
                <a:ea typeface="Arial"/>
                <a:cs typeface="Arial"/>
              </a:rPr>
              <a:t>Papalexiou (2013): N &gt;= 80 anos</a:t>
            </a:r>
            <a:endParaRPr sz="1200" b="0">
              <a:latin typeface="Arial"/>
              <a:ea typeface="Arial"/>
              <a:cs typeface="Arial"/>
            </a:endParaRPr>
          </a:p>
          <a:p>
            <a:pPr marL="217793" indent="-217793">
              <a:buFont typeface="Arial"/>
              <a:buChar char="•"/>
              <a:defRPr/>
            </a:pPr>
            <a:endParaRPr sz="1200" b="0">
              <a:latin typeface="Arial"/>
              <a:cs typeface="Aria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1200" b="0">
                <a:latin typeface="Arial"/>
                <a:ea typeface="Arial"/>
                <a:cs typeface="Arial"/>
              </a:rPr>
              <a:t>O único padrão perceptível é o de redução na variabilidade com subamostras maiores;</a:t>
            </a:r>
            <a:endParaRPr sz="1200" b="0">
              <a:latin typeface="Arial"/>
              <a:ea typeface="Arial"/>
              <a:cs typeface="Aria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1200" b="0">
                <a:latin typeface="Arial"/>
                <a:ea typeface="Arial"/>
                <a:cs typeface="Arial"/>
              </a:rPr>
              <a:t>Em muitos casos a mediana representa bem a estimativa original de kappa;</a:t>
            </a:r>
            <a:endParaRPr sz="1200" b="0">
              <a:latin typeface="Arial"/>
              <a:ea typeface="Arial"/>
              <a:cs typeface="Aria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1200" b="0">
                <a:latin typeface="Arial"/>
                <a:ea typeface="Arial"/>
                <a:cs typeface="Arial"/>
              </a:rPr>
              <a:t>Existem tendências de kappas mais pesados com séries mais longas, mas também kappas mais leves, no geral, todos muito próximos de 0;</a:t>
            </a:r>
            <a:endParaRPr sz="1200" b="0">
              <a:latin typeface="Arial"/>
              <a:ea typeface="Arial"/>
              <a:cs typeface="Arial"/>
            </a:endParaRPr>
          </a:p>
          <a:p>
            <a:pPr marL="217792" indent="-217792">
              <a:buFont typeface="Arial"/>
              <a:buChar char="•"/>
              <a:defRPr/>
            </a:pPr>
            <a:endParaRPr sz="1200" b="0">
              <a:latin typeface="Arial"/>
              <a:ea typeface="Arial"/>
              <a:cs typeface="Arial"/>
            </a:endParaRPr>
          </a:p>
          <a:p>
            <a:pPr marL="217792" indent="-217792">
              <a:buFont typeface="Arial"/>
              <a:buChar char="•"/>
              <a:defRPr/>
            </a:pPr>
            <a:r>
              <a:rPr sz="1200" b="0">
                <a:latin typeface="Arial"/>
                <a:ea typeface="Arial"/>
                <a:cs typeface="Arial"/>
              </a:rPr>
              <a:t>E se juntar todas as simulações no mesmo bolo?</a:t>
            </a:r>
            <a:endParaRPr sz="1200" b="0">
              <a:latin typeface="Arial"/>
              <a:ea typeface="Arial"/>
              <a:cs typeface="Arial"/>
            </a:endParaRPr>
          </a:p>
          <a:p>
            <a:pPr marL="217793" indent="-217793">
              <a:buFont typeface="Arial"/>
              <a:buChar char="•"/>
              <a:defRPr/>
            </a:pPr>
            <a:endParaRPr sz="1200" b="0">
              <a:latin typeface="Arial"/>
              <a:cs typeface="Arial"/>
            </a:endParaRPr>
          </a:p>
        </p:txBody>
      </p:sp>
      <p:pic>
        <p:nvPicPr>
          <p:cNvPr id="213459906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347530" y="0"/>
            <a:ext cx="4799438" cy="6858000"/>
          </a:xfrm>
          <a:prstGeom prst="rect">
            <a:avLst/>
          </a:prstGeom>
        </p:spPr>
      </p:pic>
      <p:pic>
        <p:nvPicPr>
          <p:cNvPr id="72997266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18799" y="2282553"/>
            <a:ext cx="4803533" cy="2743215"/>
          </a:xfrm>
          <a:prstGeom prst="rect">
            <a:avLst/>
          </a:prstGeom>
        </p:spPr>
      </p:pic>
      <p:sp>
        <p:nvSpPr>
          <p:cNvPr id="864498232" name="PlaceHolder 1"/>
          <p:cNvSpPr>
            <a:spLocks noGrp="1"/>
          </p:cNvSpPr>
          <p:nvPr/>
        </p:nvSpPr>
        <p:spPr bwMode="auto">
          <a:xfrm rot="0" flipH="0" flipV="0">
            <a:off x="119034" y="5094649"/>
            <a:ext cx="5931105" cy="914760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 marL="217792" indent="-217792">
              <a:buFont typeface="Arial"/>
              <a:buChar char="•"/>
              <a:defRPr/>
            </a:pPr>
            <a:r>
              <a:rPr sz="1200" b="0">
                <a:latin typeface="Arial"/>
                <a:cs typeface="Arial"/>
              </a:rPr>
              <a:t>Agrupar as estações mostra a mesma tendência de diminuição de variabilidade, mas não de kappas mais negativos;</a:t>
            </a:r>
            <a:endParaRPr sz="1200" b="0">
              <a:latin typeface="Arial"/>
              <a:cs typeface="Arial"/>
            </a:endParaRPr>
          </a:p>
          <a:p>
            <a:pPr marL="217792" indent="-217792">
              <a:buFont typeface="Arial"/>
              <a:buChar char="•"/>
              <a:defRPr/>
            </a:pPr>
            <a:r>
              <a:rPr sz="1200" b="0">
                <a:latin typeface="Arial"/>
                <a:cs typeface="Arial"/>
              </a:rPr>
              <a:t>É importante notar que há somente 3 estações no grupo que atendem a N &gt; 90;</a:t>
            </a:r>
            <a:endParaRPr sz="1200" b="0">
              <a:latin typeface="Arial"/>
              <a:cs typeface="Arial"/>
            </a:endParaRPr>
          </a:p>
          <a:p>
            <a:pPr marL="217792" indent="-217792">
              <a:buFont typeface="Arial"/>
              <a:buChar char="•"/>
              <a:defRPr/>
            </a:pPr>
            <a:r>
              <a:rPr sz="1200" b="0">
                <a:latin typeface="Arial"/>
                <a:cs typeface="Arial"/>
              </a:rPr>
              <a:t>Observa-se uma pequena elevação nas caixas principais dos boxplots;</a:t>
            </a:r>
            <a:endParaRPr sz="1200" b="0">
              <a:latin typeface="Arial"/>
              <a:cs typeface="Arial"/>
            </a:endParaRPr>
          </a:p>
          <a:p>
            <a:pPr marL="217792" indent="-217792">
              <a:buFont typeface="Arial"/>
              <a:buChar char="•"/>
              <a:defRPr/>
            </a:pPr>
            <a:r>
              <a:rPr sz="1200" b="0">
                <a:latin typeface="Arial"/>
                <a:cs typeface="Arial"/>
              </a:rPr>
              <a:t>A mediana das estimativas de kappa original é igual a </a:t>
            </a:r>
            <a:r>
              <a:rPr lang="pt-BR" sz="12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</a:rPr>
              <a:t>-0.02758928</a:t>
            </a:r>
            <a:endParaRPr sz="1200" b="0"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324155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880368" y="2023885"/>
            <a:ext cx="6931714" cy="4622447"/>
          </a:xfrm>
          <a:prstGeom prst="rect">
            <a:avLst/>
          </a:prstGeom>
        </p:spPr>
      </p:pic>
      <p:sp>
        <p:nvSpPr>
          <p:cNvPr id="1586242274" name=""/>
          <p:cNvSpPr txBox="1"/>
          <p:nvPr/>
        </p:nvSpPr>
        <p:spPr bwMode="auto">
          <a:xfrm rot="0" flipH="0" flipV="0">
            <a:off x="403249" y="359833"/>
            <a:ext cx="5442569" cy="2652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BR" sz="1200"/>
              <a:t>Comparação entre modelos: rRMSE dos quantis: </a:t>
            </a:r>
            <a:br>
              <a:rPr lang="pt-BR" sz="1200"/>
            </a:br>
            <a:r>
              <a:rPr lang="pt-BR" sz="1200"/>
              <a:t>f</a:t>
            </a:r>
            <a:r>
              <a:rPr lang="pt-BR" sz="1200"/>
              <a:t>requência “observada” (Weibull) vs. estimada.</a:t>
            </a:r>
            <a:endParaRPr lang="pt-BR" sz="1200"/>
          </a:p>
          <a:p>
            <a:pPr>
              <a:defRPr/>
            </a:pPr>
            <a:endParaRPr lang="pt-BR" sz="1200"/>
          </a:p>
          <a:p>
            <a:pPr marL="195764" indent="-195764">
              <a:buFont typeface="Arial"/>
              <a:buChar char="•"/>
              <a:defRPr/>
            </a:pPr>
            <a:r>
              <a:rPr lang="pt-BR" sz="1200"/>
              <a:t>Ajuste da GEV por durações: “GEV” — </a:t>
            </a:r>
            <a:r>
              <a:rPr lang="pt-BR" sz="1200">
                <a:highlight>
                  <a:srgbClr val="FFFF00"/>
                </a:highlight>
              </a:rPr>
              <a:t>cores </a:t>
            </a:r>
            <a:r>
              <a:rPr lang="pt-BR" sz="1200"/>
              <a:t>mais </a:t>
            </a:r>
            <a:r>
              <a:rPr lang="pt-BR" sz="1200">
                <a:highlight>
                  <a:srgbClr val="FFFF00"/>
                </a:highlight>
              </a:rPr>
              <a:t>claras</a:t>
            </a:r>
            <a:endParaRPr lang="pt-BR" sz="1200"/>
          </a:p>
          <a:p>
            <a:pPr marL="595814" lvl="1" indent="-195764">
              <a:buFont typeface="Arial"/>
              <a:buChar char="•"/>
              <a:defRPr/>
            </a:pPr>
            <a:r>
              <a:rPr lang="pt-BR" sz="1200"/>
              <a:t>Sem informação </a:t>
            </a:r>
            <a:r>
              <a:rPr lang="pt-BR" sz="1200" i="1"/>
              <a:t>a priori</a:t>
            </a:r>
            <a:r>
              <a:rPr lang="pt-BR" sz="1200"/>
              <a:t>: MLE</a:t>
            </a:r>
            <a:endParaRPr lang="pt-BR" sz="1200"/>
          </a:p>
          <a:p>
            <a:pPr marL="595814" lvl="1" indent="-195764">
              <a:buFont typeface="Arial"/>
              <a:buChar char="•"/>
              <a:defRPr/>
            </a:pPr>
            <a:r>
              <a:rPr lang="pt-BR" sz="1200"/>
              <a:t>Com informação </a:t>
            </a:r>
            <a:r>
              <a:rPr lang="pt-BR" sz="1200" i="1"/>
              <a:t>a priori</a:t>
            </a:r>
            <a:r>
              <a:rPr lang="pt-BR" sz="1200" i="0"/>
              <a:t> regional: RGMLE</a:t>
            </a:r>
            <a:endParaRPr lang="pt-BR" sz="1200" i="0"/>
          </a:p>
          <a:p>
            <a:pPr marL="595814" lvl="1" indent="-195764">
              <a:buFont typeface="Arial"/>
              <a:buChar char="•"/>
              <a:defRPr/>
            </a:pPr>
            <a:endParaRPr lang="pt-BR" sz="1200" i="0"/>
          </a:p>
          <a:p>
            <a:pPr marL="195764" lvl="0" indent="-195764">
              <a:buFont typeface="Arial"/>
              <a:buChar char="•"/>
              <a:defRPr/>
            </a:pPr>
            <a:r>
              <a:rPr lang="pt-BR" sz="1200" i="0"/>
              <a:t>Ajuste da GEV com invariância de escala:</a:t>
            </a:r>
            <a:r>
              <a:rPr lang="pt-BR" sz="1200" i="0"/>
              <a:t> “d-GEV” — </a:t>
            </a:r>
            <a:r>
              <a:rPr lang="pt-BR" sz="1200" i="0">
                <a:highlight>
                  <a:srgbClr val="FFFF00"/>
                </a:highlight>
              </a:rPr>
              <a:t>cores </a:t>
            </a:r>
            <a:r>
              <a:rPr lang="pt-BR" sz="1200" i="0"/>
              <a:t>mais </a:t>
            </a:r>
            <a:r>
              <a:rPr lang="pt-BR" sz="1200" i="0">
                <a:highlight>
                  <a:srgbClr val="FFFF00"/>
                </a:highlight>
              </a:rPr>
              <a:t>escuras</a:t>
            </a:r>
            <a:endParaRPr lang="pt-BR" sz="1200" i="0"/>
          </a:p>
          <a:p>
            <a:pPr marL="595814" lvl="1" indent="-195764">
              <a:buFont typeface="Arial"/>
              <a:buChar char="•"/>
              <a:defRPr/>
            </a:pPr>
            <a:r>
              <a:rPr lang="pt-BR" sz="1200" i="0"/>
              <a:t>Sem informação</a:t>
            </a:r>
            <a:r>
              <a:rPr lang="pt-BR" sz="1200" i="0"/>
              <a:t> </a:t>
            </a:r>
            <a:r>
              <a:rPr lang="pt-BR" sz="1200" i="1"/>
              <a:t>a priori</a:t>
            </a:r>
            <a:r>
              <a:rPr lang="pt-BR" sz="1200" i="0"/>
              <a:t>: MLE</a:t>
            </a:r>
            <a:endParaRPr lang="pt-BR" sz="1200" i="0"/>
          </a:p>
          <a:p>
            <a:pPr marL="595814" lvl="1" indent="-195764">
              <a:buFont typeface="Arial"/>
              <a:buChar char="•"/>
              <a:defRPr/>
            </a:pPr>
            <a:r>
              <a:rPr lang="pt-BR" sz="1200" i="0"/>
              <a:t>Com informação </a:t>
            </a:r>
            <a:r>
              <a:rPr lang="pt-BR" sz="1200" i="1"/>
              <a:t>a priori </a:t>
            </a:r>
            <a:r>
              <a:rPr lang="pt-BR" sz="1200" i="0"/>
              <a:t>regional: RGMLE</a:t>
            </a:r>
            <a:endParaRPr lang="pt-BR" sz="1200" i="0"/>
          </a:p>
          <a:p>
            <a:pPr marL="595814" lvl="1" indent="-195764">
              <a:buFont typeface="Arial"/>
              <a:buChar char="•"/>
              <a:defRPr/>
            </a:pPr>
            <a:endParaRPr sz="1200" i="0"/>
          </a:p>
          <a:p>
            <a:pPr lvl="1">
              <a:defRPr/>
            </a:pPr>
            <a:r>
              <a:rPr lang="pt-BR" sz="1200" i="0"/>
              <a:t>Primeiras impressões:</a:t>
            </a:r>
            <a:endParaRPr lang="pt-BR" sz="1200" i="0"/>
          </a:p>
          <a:p>
            <a:pPr marL="217793" lvl="1" indent="-217793">
              <a:buFont typeface="Arial"/>
              <a:buChar char="•"/>
              <a:defRPr/>
            </a:pPr>
            <a:r>
              <a:rPr lang="pt-BR" sz="1200" i="0"/>
              <a:t>Modelo c/ menor rRMSE geral: GEV + RGMLE</a:t>
            </a:r>
            <a:endParaRPr lang="pt-BR" sz="1200" i="0"/>
          </a:p>
          <a:p>
            <a:pPr marL="217793" lvl="1" indent="-217793">
              <a:buFont typeface="Arial"/>
              <a:buChar char="•"/>
              <a:defRPr/>
            </a:pPr>
            <a:endParaRPr sz="1200" i="0"/>
          </a:p>
        </p:txBody>
      </p:sp>
      <p:sp>
        <p:nvSpPr>
          <p:cNvPr id="123263331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119034" y="122242"/>
            <a:ext cx="4429638" cy="307309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/>
            </a:pPr>
            <a:r>
              <a:rPr sz="1200" b="1">
                <a:latin typeface="Arial"/>
                <a:ea typeface="Arial"/>
                <a:cs typeface="Arial"/>
              </a:rPr>
              <a:t>Avaliações com dados </a:t>
            </a:r>
            <a:r>
              <a:rPr sz="1200" b="1">
                <a:highlight>
                  <a:srgbClr val="FFFF00"/>
                </a:highlight>
                <a:latin typeface="Arial"/>
                <a:ea typeface="Arial"/>
                <a:cs typeface="Arial"/>
              </a:rPr>
              <a:t>subdiários</a:t>
            </a:r>
            <a:endParaRPr sz="1200" b="1">
              <a:latin typeface="Arial"/>
              <a:cs typeface="Arial"/>
            </a:endParaRPr>
          </a:p>
        </p:txBody>
      </p:sp>
      <p:pic>
        <p:nvPicPr>
          <p:cNvPr id="6067565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850870" y="211666"/>
            <a:ext cx="2828925" cy="876299"/>
          </a:xfrm>
          <a:prstGeom prst="rect">
            <a:avLst/>
          </a:prstGeom>
        </p:spPr>
      </p:pic>
      <p:pic>
        <p:nvPicPr>
          <p:cNvPr id="1611231457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8116358" y="359833"/>
            <a:ext cx="2901974" cy="6523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25</Slides>
  <Notes>25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dc:language>pt-BR</dc:language>
  <cp:lastModifiedBy/>
  <cp:revision>23</cp:revision>
  <dcterms:created xsi:type="dcterms:W3CDTF">2012-12-03T06:56:55Z</dcterms:created>
  <dcterms:modified xsi:type="dcterms:W3CDTF">2026-07-28T20:29:54Z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4</vt:i4>
  </property>
  <property fmtid="{D5CDD505-2E9C-101B-9397-08002B2CF9AE}" pid="4" name="PresentationFormat">
    <vt:lpwstr>On-screen Show (4:3)</vt:lpwstr>
  </property>
  <property fmtid="{D5CDD505-2E9C-101B-9397-08002B2CF9AE}" pid="5" name="Slides">
    <vt:i4>4</vt:i4>
  </property>
</Properties>
</file>