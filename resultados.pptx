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340124" d="6488165"/>
          <a:sy n="0" d="6750318"/>
        </p:scale>
        <p:origin x="6029381" y="3342387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5905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</a:rPr>
              <a:t>Clique para mover o slide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994095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pt-BR" sz="2000" b="0" u="none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681871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833267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031892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8992455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004777B0-DAC2-411D-ADFD-808D198D1209}" type="slidenum"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0846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80595038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689673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CAC8895-A497-4113-AA15-4A3EE2E537AD}" type="slidenum">
              <a:rPr lang="pt-BR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76440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09495559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527037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55850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9625844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833820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88548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1725821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970327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  <a:defRPr/>
            </a:pPr>
            <a:endParaRPr lang="pt-BR" sz="1200" b="0" u="none" strike="noStrike">
              <a:solidFill>
                <a:schemeClr val="dk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854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27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98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F03B5-DAF6-903B-ED1F-8FAA077F3E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519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809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768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821983-05AB-F7C6-EF69-69EFE3F9CF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372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225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485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8051D-DC67-F740-534A-27A3C64BF1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664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999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30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2A5A16-74AB-7808-36CA-922CADF165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6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444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164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411F9-A4A4-FC81-673B-AA4CD8679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558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585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115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5B7E21-7D7D-DF90-DBA7-73257D5450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897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003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937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35431-DB28-6382-7A44-7A2D7C523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103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710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04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34738E-1728-D436-A257-8C78F7D225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63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62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795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8543F0-E80D-CF50-8DD8-4594DC4F0C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24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074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442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D9171-18E3-9597-6761-CD17260A0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813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0375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2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B492FB-7BD6-7466-6903-CD9B020B3F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055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498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31363-2D82-92D4-6F2F-5F272EF4BB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835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546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955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53960D-ACA6-7C91-0E24-3DD3B74950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7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328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023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2C0126-AB3E-7592-621A-F5F0454FBB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930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220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583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FF8A8E-0608-8A47-CF11-6D21ABD60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41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520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296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352293-2CBB-1AB7-7BD1-421F5D1095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892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468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387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C14268-5834-893B-EEAD-4A6A8F1C6F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003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761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1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5C6A7-AEE4-C883-DEA2-3985C4FA82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580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6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28A1A-06DE-D90A-6AB7-A7F4A988C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31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1215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62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412C6-3AAC-34CF-202E-B672962C36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40758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1392157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101307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18820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52D9B73-794C-4426-A138-B5AB627A546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71457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2400" b="0" u="none" strike="noStrike">
                <a:solidFill>
                  <a:schemeClr val="dk1"/>
                </a:solidFill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lang="pt-BR" sz="1800" b="0" u="none" strike="noStrike">
                <a:solidFill>
                  <a:schemeClr val="dk1"/>
                </a:solidFill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1800" b="0" u="none" strike="noStrike">
                <a:solidFill>
                  <a:schemeClr val="dk1"/>
                </a:solidFill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pt-BR" sz="2000" b="0" u="none" strike="noStrike">
                <a:solidFill>
                  <a:schemeClr val="dk1"/>
                </a:solidFill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</a:rPr>
              <a:t>5.º nível de tópicos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15596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334229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7579536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07875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85827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4A6E6AD-6A23-4A00-9862-7005AF7FFA8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92750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858143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3530848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818783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928849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0776A56-DD25-490D-9483-2C3F2B59FA2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62074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Cliqasdasdue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85449336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45455107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393230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078741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E901782-9E46-4ABF-B691-3FAB25E6530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beçalho da Sec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804451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6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636145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>
                  <a:tint val="75000"/>
                </a:schemeClr>
              </a:solidFill>
              <a:latin typeface="Arial"/>
            </a:endParaRPr>
          </a:p>
        </p:txBody>
      </p:sp>
      <p:sp>
        <p:nvSpPr>
          <p:cNvPr id="2094477108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046891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102649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7638DD0-3A94-4F33-BC1D-A0D22819007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2237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00723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6199113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9423291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552733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22054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7F597EC-3617-438D-B5DB-3A111EB6203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652651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0933555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6037624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9305108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9568211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9203891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932823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427547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A7DDD8-99CC-494B-89CD-657EB54FAB4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9066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4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8331818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814963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997514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BBE4307-3055-4912-9177-EA7E3C69B32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166583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478574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201323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9646893-D917-4210-8256-4E51AB9AF3A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údo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17365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647806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latin typeface="Arial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latin typeface="Arial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latin typeface="Arial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Arial"/>
                <a:ea typeface="Arial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Arial"/>
                <a:ea typeface="Arial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Arial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2481019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4319017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951153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303000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246CB51-DBFB-4016-9ABF-976A861A7A2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m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90186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 estilo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1901649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Arial"/>
                <a:ea typeface="Arial"/>
              </a:rPr>
              <a:t>Clique no ícone para adicionar imagem</a:t>
            </a:r>
            <a:endParaRPr lang="pt-BR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322034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Arial"/>
                <a:ea typeface="Arial"/>
              </a:rPr>
              <a:t>Clique para editar os estilos</a:t>
            </a:r>
            <a:endParaRPr lang="pt-BR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6951956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185892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089262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ABC76D8-5264-4616-BFC1-67054919A42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2469641" name=""/>
          <p:cNvPicPr/>
          <p:nvPr/>
        </p:nvPicPr>
        <p:blipFill rotWithShape="1">
          <a:blip r:embed="rId3"/>
          <a:stretch/>
        </p:blipFill>
        <p:spPr bwMode="auto">
          <a:xfrm>
            <a:off x="14760" y="0"/>
            <a:ext cx="4674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205758" name=""/>
          <p:cNvSpPr/>
          <p:nvPr/>
        </p:nvSpPr>
        <p:spPr bwMode="auto">
          <a:xfrm>
            <a:off x="3559320" y="52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784199" name=""/>
          <p:cNvSpPr/>
          <p:nvPr/>
        </p:nvSpPr>
        <p:spPr bwMode="auto">
          <a:xfrm>
            <a:off x="3559320" y="754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007249" name=""/>
          <p:cNvSpPr/>
          <p:nvPr/>
        </p:nvSpPr>
        <p:spPr bwMode="auto">
          <a:xfrm>
            <a:off x="2446920" y="7545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716766" name=""/>
          <p:cNvSpPr/>
          <p:nvPr/>
        </p:nvSpPr>
        <p:spPr bwMode="auto">
          <a:xfrm>
            <a:off x="3559320" y="217512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438526" name=""/>
          <p:cNvSpPr/>
          <p:nvPr/>
        </p:nvSpPr>
        <p:spPr bwMode="auto">
          <a:xfrm>
            <a:off x="3559320" y="287712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4659" name=""/>
          <p:cNvSpPr/>
          <p:nvPr/>
        </p:nvSpPr>
        <p:spPr bwMode="auto">
          <a:xfrm>
            <a:off x="1334880" y="4287960"/>
            <a:ext cx="1111680" cy="701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162574" name=""/>
          <p:cNvSpPr/>
          <p:nvPr/>
        </p:nvSpPr>
        <p:spPr bwMode="auto">
          <a:xfrm>
            <a:off x="5081760" y="259560"/>
            <a:ext cx="686448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d-GEV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 (Koutsoyiannis et al. 1998 + Ulrich et al. 2020):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Posição 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e </a:t>
            </a: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escala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: invariância de escala simples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pt-BR" sz="1400" b="1" u="none" strike="noStrike">
                <a:solidFill>
                  <a:schemeClr val="dk1"/>
                </a:solidFill>
                <a:latin typeface="Consolas"/>
                <a:ea typeface="Consolas"/>
              </a:rPr>
              <a:t>Forma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: constante ao longo das durações (1—24 h, mais informação)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Alguns postos: extremos não capturados pela cauda ajustada (1 h).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065860" name=""/>
          <p:cNvSpPr/>
          <p:nvPr/>
        </p:nvSpPr>
        <p:spPr bwMode="auto">
          <a:xfrm>
            <a:off x="5081760" y="6182640"/>
            <a:ext cx="6856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κ</a:t>
            </a:r>
            <a:r>
              <a:rPr lang="pt-BR" sz="1400" b="0" u="none" strike="noStrike" baseline="-25000">
                <a:solidFill>
                  <a:schemeClr val="dk1"/>
                </a:solidFill>
                <a:latin typeface="Consolas"/>
                <a:ea typeface="Consolas"/>
              </a:rPr>
              <a:t>d</a:t>
            </a:r>
            <a:r>
              <a:rPr lang="pt-BR" sz="1400" b="0" u="none" strike="noStrike">
                <a:solidFill>
                  <a:schemeClr val="dk1"/>
                </a:solidFill>
                <a:latin typeface="Consolas"/>
                <a:ea typeface="Consolas"/>
              </a:rPr>
              <a:t> = κ é razoável?</a:t>
            </a:r>
            <a:endParaRPr lang="pt-BR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787456" name=""/>
          <p:cNvPicPr/>
          <p:nvPr/>
        </p:nvPicPr>
        <p:blipFill rotWithShape="1">
          <a:blip r:embed="rId3"/>
          <a:stretch/>
        </p:blipFill>
        <p:spPr bwMode="auto">
          <a:xfrm>
            <a:off x="5092920" y="677520"/>
            <a:ext cx="6506640" cy="5205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642648" name=""/>
          <p:cNvPicPr/>
          <p:nvPr/>
        </p:nvPicPr>
        <p:blipFill rotWithShape="1">
          <a:blip r:embed="rId3"/>
          <a:stretch/>
        </p:blipFill>
        <p:spPr bwMode="auto">
          <a:xfrm>
            <a:off x="781920" y="1641240"/>
            <a:ext cx="5476680" cy="421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331188" name=""/>
          <p:cNvSpPr/>
          <p:nvPr/>
        </p:nvSpPr>
        <p:spPr bwMode="auto">
          <a:xfrm>
            <a:off x="1112760" y="1190520"/>
            <a:ext cx="4093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A812; d = 20 h; 12 anos; sem priori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4664094" name=""/>
          <p:cNvPicPr/>
          <p:nvPr/>
        </p:nvPicPr>
        <p:blipFill rotWithShape="1">
          <a:blip r:embed="rId4"/>
          <a:stretch/>
        </p:blipFill>
        <p:spPr bwMode="auto">
          <a:xfrm>
            <a:off x="6258600" y="1641240"/>
            <a:ext cx="5475240" cy="421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5824975" name=""/>
          <p:cNvSpPr/>
          <p:nvPr/>
        </p:nvSpPr>
        <p:spPr bwMode="auto">
          <a:xfrm>
            <a:off x="6609600" y="1190520"/>
            <a:ext cx="4093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A801; d = 20 h; 18 anos; sem priori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824981" name=""/>
          <p:cNvSpPr/>
          <p:nvPr/>
        </p:nvSpPr>
        <p:spPr bwMode="auto">
          <a:xfrm>
            <a:off x="1112760" y="824400"/>
            <a:ext cx="65512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onsolas"/>
                <a:ea typeface="Consolas"/>
              </a:rPr>
              <a:t>Instabilidades em durações maiores (pouca variabilidade?)</a:t>
            </a:r>
            <a:endParaRPr lang="pt-BR" sz="1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969362" name=""/>
          <p:cNvPicPr/>
          <p:nvPr/>
        </p:nvPicPr>
        <p:blipFill rotWithShape="1">
          <a:blip r:embed="rId3"/>
          <a:stretch/>
        </p:blipFill>
        <p:spPr bwMode="auto">
          <a:xfrm>
            <a:off x="6226560" y="1830240"/>
            <a:ext cx="5270400" cy="356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7581292" name=""/>
          <p:cNvPicPr/>
          <p:nvPr/>
        </p:nvPicPr>
        <p:blipFill rotWithShape="1">
          <a:blip r:embed="rId4"/>
          <a:stretch/>
        </p:blipFill>
        <p:spPr bwMode="auto">
          <a:xfrm>
            <a:off x="336960" y="1830240"/>
            <a:ext cx="5270400" cy="3563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50837" name=""/>
          <p:cNvSpPr txBox="1"/>
          <p:nvPr/>
        </p:nvSpPr>
        <p:spPr bwMode="auto">
          <a:xfrm>
            <a:off x="135360" y="121680"/>
            <a:ext cx="501264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>
              <a:defRPr/>
            </a:pPr>
            <a:r>
              <a:rPr lang="pt-BR" sz="1800" b="0" u="none" strike="noStrike">
                <a:solidFill>
                  <a:srgbClr val="000000"/>
                </a:solidFill>
                <a:latin typeface="Arial"/>
              </a:rPr>
              <a:t>Testes com ‘perfil de verossimilhança’ p/ d-GEV</a:t>
            </a:r>
            <a:br>
              <a:rPr sz="1800"/>
            </a:br>
            <a:r>
              <a:rPr lang="pt-BR" sz="1800" b="0" u="none" strike="noStrike">
                <a:solidFill>
                  <a:srgbClr val="000000"/>
                </a:solidFill>
                <a:latin typeface="Arial"/>
              </a:rPr>
              <a:t>Estação ‘430060402A’ sem informação </a:t>
            </a:r>
            <a:r>
              <a:rPr lang="pt-BR" sz="1800" b="0" i="1" u="none" strike="noStrike">
                <a:solidFill>
                  <a:srgbClr val="000000"/>
                </a:solidFill>
                <a:latin typeface="Arial"/>
              </a:rPr>
              <a:t>a priori</a:t>
            </a:r>
            <a:endParaRPr lang="pt-BR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6018584" name=""/>
          <p:cNvPicPr/>
          <p:nvPr/>
        </p:nvPicPr>
        <p:blipFill rotWithShape="1">
          <a:blip r:embed="rId3"/>
          <a:stretch/>
        </p:blipFill>
        <p:spPr bwMode="auto">
          <a:xfrm>
            <a:off x="18000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6991893" name=""/>
          <p:cNvPicPr/>
          <p:nvPr/>
        </p:nvPicPr>
        <p:blipFill rotWithShape="1">
          <a:blip r:embed="rId4"/>
          <a:stretch/>
        </p:blipFill>
        <p:spPr bwMode="auto">
          <a:xfrm>
            <a:off x="396000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1742803" name=""/>
          <p:cNvPicPr/>
          <p:nvPr/>
        </p:nvPicPr>
        <p:blipFill rotWithShape="1">
          <a:blip r:embed="rId5"/>
          <a:stretch/>
        </p:blipFill>
        <p:spPr bwMode="auto">
          <a:xfrm>
            <a:off x="7702560" y="878040"/>
            <a:ext cx="3817440" cy="23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2434670" name=""/>
          <p:cNvPicPr/>
          <p:nvPr/>
        </p:nvPicPr>
        <p:blipFill rotWithShape="1">
          <a:blip r:embed="rId6"/>
          <a:stretch/>
        </p:blipFill>
        <p:spPr bwMode="auto">
          <a:xfrm>
            <a:off x="212760" y="3240000"/>
            <a:ext cx="3784680" cy="23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9676547" name=""/>
          <p:cNvPicPr/>
          <p:nvPr/>
        </p:nvPicPr>
        <p:blipFill rotWithShape="1">
          <a:blip r:embed="rId7"/>
          <a:stretch/>
        </p:blipFill>
        <p:spPr bwMode="auto">
          <a:xfrm>
            <a:off x="3955320" y="3240000"/>
            <a:ext cx="3784680" cy="2340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758180" name=""/>
          <p:cNvSpPr txBox="1"/>
          <p:nvPr/>
        </p:nvSpPr>
        <p:spPr bwMode="auto">
          <a:xfrm rot="0" flipH="0" flipV="0">
            <a:off x="451144" y="423332"/>
            <a:ext cx="4912596" cy="2103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i="0"/>
              <a:t>Perfis de verossimilhança da d-GEV com e sem distribuição a priori estão com picos que ocorrem quando a maximização da função de log-verossimilhança encontra um máximo com k = 0</a:t>
            </a:r>
            <a:endParaRPr lang="pt-BR" sz="1200" i="0"/>
          </a:p>
          <a:p>
            <a:pPr algn="just">
              <a:defRPr/>
            </a:pPr>
            <a:endParaRPr sz="1200" i="0"/>
          </a:p>
          <a:p>
            <a:pPr algn="just">
              <a:defRPr/>
            </a:pPr>
            <a:r>
              <a:rPr lang="pt-BR" sz="1200" i="0"/>
              <a:t>Essas estimativas são entre 10^-16 e 10^-17. Valores com essa precisão o R (e o próprio computador) entendem como sendo iguais a zero. No momento da maximização de l_p para criação do perfil, o algoritmo cria um </a:t>
            </a:r>
            <a:r>
              <a:rPr lang="pt-BR" sz="1200" b="1" i="0"/>
              <a:t>pico</a:t>
            </a:r>
            <a:r>
              <a:rPr lang="pt-BR" sz="1200" b="0" i="0"/>
              <a:t> exatamente nesse ponto, que logo normaliza.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Todas as estações abaixo com a estimativa original exatamente em 0 sofrem com esse problema:</a:t>
            </a:r>
            <a:endParaRPr sz="1200" b="0" i="0"/>
          </a:p>
        </p:txBody>
      </p:sp>
      <p:pic>
        <p:nvPicPr>
          <p:cNvPr id="19946226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299" y="2706803"/>
            <a:ext cx="5384282" cy="3074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162366" name=""/>
          <p:cNvSpPr txBox="1"/>
          <p:nvPr/>
        </p:nvSpPr>
        <p:spPr bwMode="auto">
          <a:xfrm rot="0" flipH="0" flipV="0">
            <a:off x="451144" y="423332"/>
            <a:ext cx="4912596" cy="2103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i="0"/>
              <a:t>Perfis de verossimilhança da d-GEV com e sem distribuição a priori estão com picos que ocorrem quando a maximização da função de log-verossimilhança encontra um máximo com k = 0</a:t>
            </a:r>
            <a:endParaRPr lang="pt-BR" sz="1200" i="0"/>
          </a:p>
          <a:p>
            <a:pPr algn="just">
              <a:defRPr/>
            </a:pPr>
            <a:endParaRPr sz="1200" i="0"/>
          </a:p>
          <a:p>
            <a:pPr algn="just">
              <a:defRPr/>
            </a:pPr>
            <a:r>
              <a:rPr lang="pt-BR" sz="1200" i="0"/>
              <a:t>Essas estimativas são entre 10^-16 e 10^-17. Valores com essa precisão o R (e o próprio computador) entendem como sendo iguais a zero. No momento da maximização de l_p para criação do perfil, o algoritmo cria um </a:t>
            </a:r>
            <a:r>
              <a:rPr lang="pt-BR" sz="1200" b="1" i="0"/>
              <a:t>pico</a:t>
            </a:r>
            <a:r>
              <a:rPr lang="pt-BR" sz="1200" b="0" i="0"/>
              <a:t> exatamente nesse ponto, que logo normaliza.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Todas as estações abaixo com a estimativa original exatamente em 0 sofrem com esse problema:</a:t>
            </a:r>
            <a:endParaRPr sz="1200" b="0" i="0"/>
          </a:p>
        </p:txBody>
      </p:sp>
      <p:pic>
        <p:nvPicPr>
          <p:cNvPr id="9902109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299" y="2706803"/>
            <a:ext cx="5384282" cy="3074871"/>
          </a:xfrm>
          <a:prstGeom prst="rect">
            <a:avLst/>
          </a:prstGeom>
        </p:spPr>
      </p:pic>
      <p:sp>
        <p:nvSpPr>
          <p:cNvPr id="1560419214" name=""/>
          <p:cNvSpPr txBox="1"/>
          <p:nvPr/>
        </p:nvSpPr>
        <p:spPr bwMode="auto">
          <a:xfrm rot="0" flipH="0" flipV="0">
            <a:off x="6537618" y="423333"/>
            <a:ext cx="494751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 estação abaixo </a:t>
            </a:r>
            <a:r>
              <a:rPr lang="pt-BR" sz="1200"/>
              <a:t>é um exemplo. O perfil de verossimilhança resultante é o seguinte:</a:t>
            </a:r>
            <a:endParaRPr sz="1200"/>
          </a:p>
        </p:txBody>
      </p:sp>
      <p:pic>
        <p:nvPicPr>
          <p:cNvPr id="42324845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7646" y="880893"/>
            <a:ext cx="3493180" cy="2161185"/>
          </a:xfrm>
          <a:prstGeom prst="rect">
            <a:avLst/>
          </a:prstGeom>
        </p:spPr>
      </p:pic>
      <p:sp>
        <p:nvSpPr>
          <p:cNvPr id="647507785" name=""/>
          <p:cNvSpPr txBox="1"/>
          <p:nvPr/>
        </p:nvSpPr>
        <p:spPr bwMode="auto">
          <a:xfrm rot="0" flipH="0" flipV="0">
            <a:off x="6403339" y="2925900"/>
            <a:ext cx="508179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 estimativa original de k é da ordem de 10^-17 (0, para o computador), mas o valor `max_ll` encontrado pela função `nll.dgev()` é -430. Na otimização do perfil, porém, um novo máximo é encontrado (mostrado acima), igual a -172, muito acima dos demais. Se removermos este valor, o perfil aparenta ser “normalizado”:</a:t>
            </a:r>
            <a:endParaRPr sz="1200"/>
          </a:p>
        </p:txBody>
      </p:sp>
      <p:pic>
        <p:nvPicPr>
          <p:cNvPr id="6675141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97646" y="4029075"/>
            <a:ext cx="3493180" cy="2161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487609" name=""/>
          <p:cNvSpPr txBox="1"/>
          <p:nvPr/>
        </p:nvSpPr>
        <p:spPr bwMode="auto">
          <a:xfrm rot="0" flipH="0" flipV="0">
            <a:off x="451144" y="423332"/>
            <a:ext cx="5136876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Precisamos analisar se no perfil dos demais parâmetros este pico também está presente e por que o otimizador encontra um máximo tão próximo a zero, sendo que o restante do perfil (olhando para o perfil de verossimilhança) não indica que seria Gumbel?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0" i="0"/>
              <a:t>Analisando o perfil dos outros parâmetros, este pico não está presente e todos os demais aparentam. Todos apresentam um pico em volta de -433, que seria o pico do perfil problem</a:t>
            </a:r>
            <a:r>
              <a:rPr lang="pt-BR" sz="1200" b="0" i="0"/>
              <a:t>a.</a:t>
            </a:r>
            <a:endParaRPr sz="1200" b="0" i="0"/>
          </a:p>
        </p:txBody>
      </p:sp>
      <p:pic>
        <p:nvPicPr>
          <p:cNvPr id="18228448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3424" y="2041037"/>
            <a:ext cx="3382667" cy="2092811"/>
          </a:xfrm>
          <a:prstGeom prst="rect">
            <a:avLst/>
          </a:prstGeom>
        </p:spPr>
      </p:pic>
      <p:pic>
        <p:nvPicPr>
          <p:cNvPr id="19663698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53424" y="4155427"/>
            <a:ext cx="3382667" cy="2092811"/>
          </a:xfrm>
          <a:prstGeom prst="rect">
            <a:avLst/>
          </a:prstGeom>
        </p:spPr>
      </p:pic>
      <p:pic>
        <p:nvPicPr>
          <p:cNvPr id="194882790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201749" y="88214"/>
            <a:ext cx="3343275" cy="2068440"/>
          </a:xfrm>
          <a:prstGeom prst="rect">
            <a:avLst/>
          </a:prstGeom>
        </p:spPr>
      </p:pic>
      <p:pic>
        <p:nvPicPr>
          <p:cNvPr id="192103732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01749" y="2204279"/>
            <a:ext cx="3343275" cy="2068440"/>
          </a:xfrm>
          <a:prstGeom prst="rect">
            <a:avLst/>
          </a:prstGeom>
        </p:spPr>
      </p:pic>
      <p:pic>
        <p:nvPicPr>
          <p:cNvPr id="83693316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201749" y="4552949"/>
            <a:ext cx="3387012" cy="209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688998" name=""/>
          <p:cNvSpPr txBox="1"/>
          <p:nvPr/>
        </p:nvSpPr>
        <p:spPr bwMode="auto">
          <a:xfrm rot="0" flipH="0" flipV="0">
            <a:off x="451144" y="423332"/>
            <a:ext cx="516819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Olhando p/ data.frame resultante, percebe-se que `message == 1` p/ kappa:</a:t>
            </a:r>
            <a:endParaRPr sz="1200" b="0" i="0"/>
          </a:p>
        </p:txBody>
      </p:sp>
      <p:pic>
        <p:nvPicPr>
          <p:cNvPr id="8374756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3543" y="930447"/>
            <a:ext cx="5076574" cy="1055345"/>
          </a:xfrm>
          <a:prstGeom prst="rect">
            <a:avLst/>
          </a:prstGeom>
        </p:spPr>
      </p:pic>
      <p:sp>
        <p:nvSpPr>
          <p:cNvPr id="1650786470" name=""/>
          <p:cNvSpPr txBox="1"/>
          <p:nvPr/>
        </p:nvSpPr>
        <p:spPr bwMode="auto">
          <a:xfrm rot="0" flipH="0" flipV="0">
            <a:off x="451144" y="2118781"/>
            <a:ext cx="523839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Quando isso ocorre, é um indicativo de que a função `ciprof.par()` internamente caiu no seguinte if:</a:t>
            </a:r>
            <a:endParaRPr sz="1200" b="0" i="0"/>
          </a:p>
        </p:txBody>
      </p:sp>
      <p:pic>
        <p:nvPicPr>
          <p:cNvPr id="5328815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1144" y="2632262"/>
            <a:ext cx="5473087" cy="3225612"/>
          </a:xfrm>
          <a:prstGeom prst="rect">
            <a:avLst/>
          </a:prstGeom>
        </p:spPr>
      </p:pic>
      <p:sp>
        <p:nvSpPr>
          <p:cNvPr id="1446672412" name=""/>
          <p:cNvSpPr txBox="1"/>
          <p:nvPr/>
        </p:nvSpPr>
        <p:spPr bwMode="auto">
          <a:xfrm rot="0" flipH="0" flipV="0">
            <a:off x="6095998" y="423331"/>
            <a:ext cx="5727994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Ou seja, a função `roots.proflik()`, durante a otimização de par[-kappa] parâmetros (ou seja, a criação do perfil p/ kappa) testou um step em que kappa = 10^-17 (???) que resultou no pico observado com `loglik` == -172.</a:t>
            </a:r>
            <a:br>
              <a:rPr lang="pt-BR" sz="1200" b="0" i="0"/>
            </a:br>
            <a:br>
              <a:rPr lang="pt-BR" sz="1200" b="0" i="0"/>
            </a:br>
            <a:r>
              <a:rPr lang="pt-BR" sz="1200" b="0" i="0"/>
              <a:t>Isso pode ser visto tanto com `message == 1` como `max` == -172 (indicando que o máximo utilizado foi -172 e que o parâmetro que causou o novo máximo foi kappa, pois é o único com `message` == 1).</a:t>
            </a:r>
            <a:endParaRPr lang="pt-BR" sz="1200" b="0" i="0"/>
          </a:p>
          <a:p>
            <a:pPr algn="just">
              <a:defRPr/>
            </a:pPr>
            <a:endParaRPr sz="1200" b="0" i="0"/>
          </a:p>
          <a:p>
            <a:pPr algn="just">
              <a:defRPr/>
            </a:pPr>
            <a:r>
              <a:rPr lang="pt-BR" sz="1200" b="1" i="0"/>
              <a:t>Possíveis aterações em fitprof.dgev()</a:t>
            </a:r>
            <a:endParaRPr lang="pt-BR" sz="1200" b="1" i="0"/>
          </a:p>
          <a:p>
            <a:pPr marL="217793" indent="-217793" algn="just">
              <a:buAutoNum type="arabicPeriod"/>
              <a:defRPr/>
            </a:pPr>
            <a:r>
              <a:rPr lang="pt-BR" sz="1200" b="0" i="0"/>
              <a:t>Remover todas as observações associadas à `slopes` muito elevados dentro da função roots.proflik() após o `while` terminar de rodar;</a:t>
            </a:r>
            <a:endParaRPr lang="pt-BR" sz="1200" b="0" i="0"/>
          </a:p>
          <a:p>
            <a:pPr marL="217793" indent="-217793" algn="just">
              <a:buAutoNum type="arabicPeriod"/>
              <a:defRPr/>
            </a:pPr>
            <a:r>
              <a:rPr lang="pt-BR" sz="1200" b="0" i="0"/>
              <a:t>Avaliar cada valor de `val.i`. Se `i == 3`, val.i &gt; step</a:t>
            </a:r>
            <a:endParaRPr lang="pt-BR" sz="1200" b="0" i="0"/>
          </a:p>
          <a:p>
            <a:pPr marL="217793" indent="-217793" algn="just">
              <a:buAutoNum type="arabicPeriod"/>
              <a:defRPr/>
            </a:pPr>
            <a:endParaRPr sz="1200" b="0" i="0"/>
          </a:p>
          <a:p>
            <a:pPr algn="just">
              <a:defRPr/>
            </a:pPr>
            <a:r>
              <a:rPr lang="pt-BR" sz="1200" b="1" i="0"/>
              <a:t>Avaliar ainda se</a:t>
            </a:r>
            <a:endParaRPr lang="pt-BR" sz="1200" b="0" i="0"/>
          </a:p>
          <a:p>
            <a:pPr marL="217793" indent="-217793" algn="just">
              <a:buFont typeface="Arial"/>
              <a:buChar char="•"/>
              <a:defRPr/>
            </a:pPr>
            <a:r>
              <a:rPr lang="pt-BR" sz="1200" b="0" i="0"/>
              <a:t>Esse comportamento com o `message` se repete para todas as outras estações com este mesmo problema? </a:t>
            </a:r>
            <a:r>
              <a:rPr lang="pt-BR" sz="1200" b="0" i="1"/>
              <a:t>Algumas estações `message` em kappa é 0, mas found_max é diferente de max_ll, indicando que a avaliação de outro perfil que gerou o pico</a:t>
            </a:r>
            <a:r>
              <a:rPr lang="pt-BR" sz="1200" b="0" i="0"/>
              <a:t>.</a:t>
            </a:r>
            <a:endParaRPr sz="1200" b="0" i="0"/>
          </a:p>
          <a:p>
            <a:pPr algn="just">
              <a:defRPr/>
            </a:pPr>
            <a:endParaRPr lang="pt-BR" sz="1200" b="0" i="0"/>
          </a:p>
          <a:p>
            <a:pPr algn="just">
              <a:defRPr/>
            </a:pPr>
            <a:endParaRPr lang="pt-BR" sz="1200" b="0" i="0"/>
          </a:p>
          <a:p>
            <a:pPr algn="just">
              <a:defRPr/>
            </a:pPr>
            <a:endParaRPr lang="pt-BR" sz="1200" b="0" i="0"/>
          </a:p>
          <a:p>
            <a:pPr marL="217792" indent="-217792" algn="just">
              <a:buAutoNum type="arabicPeriod"/>
              <a:defRPr/>
            </a:pPr>
            <a:endParaRPr lang="pt-BR" sz="1200" b="0" i="0"/>
          </a:p>
          <a:p>
            <a:pPr marL="217793" indent="-217793" algn="just">
              <a:buFont typeface="Arial"/>
              <a:buChar char="•"/>
              <a:defRPr/>
            </a:pPr>
            <a:r>
              <a:rPr lang="pt-BR" sz="1200" b="0" i="0"/>
              <a:t>Ao rodar a função fdgev() para a série, construir um vetor de `val.i` usando o step calculado na função roots.proflik(), o valor de val.i = 10^-17 aparece?</a:t>
            </a:r>
            <a:endParaRPr lang="pt-BR" sz="1200" b="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94365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892" y="36553"/>
            <a:ext cx="4149939" cy="2556362"/>
          </a:xfrm>
          <a:prstGeom prst="rect">
            <a:avLst/>
          </a:prstGeom>
        </p:spPr>
      </p:pic>
      <p:pic>
        <p:nvPicPr>
          <p:cNvPr id="19534617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16021" y="2557605"/>
            <a:ext cx="4656960" cy="871394"/>
          </a:xfrm>
          <a:prstGeom prst="rect">
            <a:avLst/>
          </a:prstGeom>
        </p:spPr>
      </p:pic>
      <p:pic>
        <p:nvPicPr>
          <p:cNvPr id="153351901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-13949" y="3429000"/>
            <a:ext cx="4259624" cy="2623928"/>
          </a:xfrm>
          <a:prstGeom prst="rect">
            <a:avLst/>
          </a:prstGeom>
        </p:spPr>
      </p:pic>
      <p:pic>
        <p:nvPicPr>
          <p:cNvPr id="153634812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-13949" y="6052928"/>
            <a:ext cx="4656960" cy="823923"/>
          </a:xfrm>
          <a:prstGeom prst="rect">
            <a:avLst/>
          </a:prstGeom>
        </p:spPr>
      </p:pic>
      <p:sp>
        <p:nvSpPr>
          <p:cNvPr id="206446526" name=""/>
          <p:cNvSpPr txBox="1"/>
          <p:nvPr/>
        </p:nvSpPr>
        <p:spPr bwMode="auto">
          <a:xfrm rot="0" flipH="0" flipV="0">
            <a:off x="4843227" y="6236110"/>
            <a:ext cx="521859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No caso de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430700502A</a:t>
            </a:r>
            <a:r>
              <a:rPr lang="pt-BR" sz="1200" b="0" i="0"/>
              <a:t>, não foi kappa que resultou na substituição dos parâmetros, mas o único destoante e com pico é kappa.</a:t>
            </a:r>
            <a:endParaRPr sz="1200" b="0" i="0"/>
          </a:p>
        </p:txBody>
      </p:sp>
      <p:sp>
        <p:nvSpPr>
          <p:cNvPr id="1626156011" name=""/>
          <p:cNvSpPr txBox="1"/>
          <p:nvPr/>
        </p:nvSpPr>
        <p:spPr bwMode="auto">
          <a:xfrm rot="0" flipH="0" flipV="0">
            <a:off x="4995626" y="223718"/>
            <a:ext cx="527223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/>
              <a:t>Valores de `slope` dos perfis das estações com k aprox 0:</a:t>
            </a:r>
            <a:endParaRPr lang="pt-BR" sz="1200" b="0" i="0"/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430060402A</a:t>
            </a:r>
            <a:r>
              <a:rPr lang="pt-BR" sz="1200" b="0" i="0"/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637361.2;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430350901A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5623123;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430700502A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max(slope) =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121316.4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  <a:endParaRPr lang="pt-BR" sz="1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 algn="just">
              <a:buFont typeface="Arial"/>
              <a:buChar char="–"/>
              <a:defRPr/>
            </a:pPr>
            <a:endParaRPr sz="1200" b="0" i="0"/>
          </a:p>
        </p:txBody>
      </p:sp>
      <p:pic>
        <p:nvPicPr>
          <p:cNvPr id="1598552177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38774" y="2793277"/>
            <a:ext cx="3933824" cy="40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382915" name=""/>
          <p:cNvSpPr txBox="1"/>
          <p:nvPr/>
        </p:nvSpPr>
        <p:spPr bwMode="auto">
          <a:xfrm rot="0" flipH="0" flipV="0">
            <a:off x="233127" y="223718"/>
            <a:ext cx="530823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Analisando a série da estação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430060402A</a:t>
            </a:r>
            <a:r>
              <a:rPr lang="pt-BR" sz="1200"/>
              <a:t>, a estimativa original com a função `fdgev()` retorna estimativas aparentemente razoáveis:</a:t>
            </a:r>
            <a:endParaRPr sz="1200"/>
          </a:p>
        </p:txBody>
      </p:sp>
      <p:pic>
        <p:nvPicPr>
          <p:cNvPr id="10482310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024" y="681278"/>
            <a:ext cx="5267324" cy="5924549"/>
          </a:xfrm>
          <a:prstGeom prst="rect">
            <a:avLst/>
          </a:prstGeom>
        </p:spPr>
      </p:pic>
      <p:sp>
        <p:nvSpPr>
          <p:cNvPr id="1325458677" name=""/>
          <p:cNvSpPr txBox="1"/>
          <p:nvPr/>
        </p:nvSpPr>
        <p:spPr bwMode="auto">
          <a:xfrm rot="0" flipH="0" flipV="0">
            <a:off x="5888860" y="223718"/>
            <a:ext cx="5525313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/>
              <a:t>O problema aparentemente ocorre em razão do próprio `while` em combinação com o step ajustado.</a:t>
            </a:r>
            <a:endParaRPr lang="pt-BR" sz="1200"/>
          </a:p>
          <a:p>
            <a:pPr>
              <a:defRPr/>
            </a:pPr>
            <a:r>
              <a:rPr lang="pt-BR" sz="1200"/>
              <a:t>Atualmente, o quando val.i != 0, step é recalculado como step*abs(val.i).</a:t>
            </a:r>
            <a:endParaRPr lang="pt-BR" sz="1200"/>
          </a:p>
          <a:p>
            <a:pPr>
              <a:defRPr/>
            </a:pPr>
            <a:r>
              <a:rPr lang="pt-BR" sz="1200"/>
              <a:t>Para esse caso em que kappa = 0.082 e step = </a:t>
            </a:r>
            <a:r>
              <a:rPr lang="pt-BR" sz="1200"/>
              <a:t>0.005, o step resultante é igual a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0.0004125329</a:t>
            </a:r>
            <a:r>
              <a:rPr lang="pt-BR" sz="1200"/>
              <a:t>.</a:t>
            </a:r>
            <a:br>
              <a:rPr lang="pt-BR" sz="1200"/>
            </a:br>
            <a:r>
              <a:rPr lang="pt-BR" sz="1200"/>
              <a:t>Avaliando uma sequencia que o while avaliaria:</a:t>
            </a:r>
            <a:endParaRPr lang="pt-BR" sz="1200"/>
          </a:p>
          <a:p>
            <a:pPr>
              <a:defRPr/>
            </a:pPr>
            <a:r>
              <a:rPr lang="pt-BR" sz="1200"/>
              <a:t>val.i &lt;-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seq(fit$par[[3]], -1, -step.adjusted)</a:t>
            </a:r>
            <a:br>
              <a:rPr lang="pt-BR" sz="1200"/>
            </a:br>
            <a:r>
              <a:rPr lang="pt-BR" sz="1200"/>
              <a:t>Em determinado momento, a seguinte sequência ocorre:</a:t>
            </a:r>
            <a:endParaRPr lang="pt-BR" sz="1200"/>
          </a:p>
          <a:p>
            <a:pPr>
              <a:defRPr/>
            </a:pPr>
            <a:endParaRPr sz="1200"/>
          </a:p>
          <a:p>
            <a:pPr>
              <a:defRPr/>
            </a:pPr>
            <a:endParaRPr lang="pt-BR" sz="1200"/>
          </a:p>
          <a:p>
            <a:pPr>
              <a:defRPr/>
            </a:pPr>
            <a:r>
              <a:rPr lang="pt-BR" sz="1200"/>
              <a:t>Nesse momento, ocorre o kappa = 10^-17 que retorna o erro.</a:t>
            </a:r>
            <a:endParaRPr lang="pt-BR" sz="1200"/>
          </a:p>
          <a:p>
            <a:pPr>
              <a:defRPr/>
            </a:pPr>
            <a:endParaRPr/>
          </a:p>
          <a:p>
            <a:pPr>
              <a:defRPr/>
            </a:pPr>
            <a:r>
              <a:rPr lang="pt-BR" sz="1200"/>
              <a:t>Isso também foi conferido com a estação </a:t>
            </a:r>
            <a:r>
              <a:rPr lang="pt-BR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430920901A</a:t>
            </a:r>
            <a:r>
              <a:rPr lang="pt-BR" sz="1200"/>
              <a:t>:</a:t>
            </a:r>
            <a:endParaRPr/>
          </a:p>
        </p:txBody>
      </p:sp>
      <p:pic>
        <p:nvPicPr>
          <p:cNvPr id="121311993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88860" y="1714423"/>
            <a:ext cx="3971925" cy="352424"/>
          </a:xfrm>
          <a:prstGeom prst="rect">
            <a:avLst/>
          </a:prstGeom>
        </p:spPr>
      </p:pic>
      <p:pic>
        <p:nvPicPr>
          <p:cNvPr id="52870518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888860" y="2662478"/>
            <a:ext cx="3800819" cy="394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010152" name=""/>
          <p:cNvSpPr/>
          <p:nvPr/>
        </p:nvSpPr>
        <p:spPr bwMode="auto">
          <a:xfrm flipH="0" flipV="0">
            <a:off x="258913" y="251565"/>
            <a:ext cx="4932687" cy="1036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/>
              <a:t>A solução que está sendo testada é simplesmente adaptar o passo de busca, adicionando um `jitter` de 1e-7 no passo, para que ele nunca teste um valor múltiplo do proprio parâmetro.</a:t>
            </a:r>
            <a:br>
              <a:rPr lang="pt-BR" sz="1200"/>
            </a:br>
            <a:br>
              <a:rPr sz="1400"/>
            </a:b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400"/>
          </a:p>
        </p:txBody>
      </p:sp>
      <p:pic>
        <p:nvPicPr>
          <p:cNvPr id="17704147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099" y="1419753"/>
            <a:ext cx="4762499" cy="2933699"/>
          </a:xfrm>
          <a:prstGeom prst="rect">
            <a:avLst/>
          </a:prstGeom>
        </p:spPr>
      </p:pic>
      <p:pic>
        <p:nvPicPr>
          <p:cNvPr id="640258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40374" y="1419753"/>
            <a:ext cx="4762499" cy="2933699"/>
          </a:xfrm>
          <a:prstGeom prst="rect">
            <a:avLst/>
          </a:prstGeom>
        </p:spPr>
      </p:pic>
      <p:sp>
        <p:nvSpPr>
          <p:cNvPr id="6042960" name=""/>
          <p:cNvSpPr txBox="1"/>
          <p:nvPr/>
        </p:nvSpPr>
        <p:spPr bwMode="auto">
          <a:xfrm rot="0" flipH="0" flipV="0">
            <a:off x="5818187" y="495224"/>
            <a:ext cx="5032435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BR" sz="1200"/>
              <a:t>Porra é essa vei</a:t>
            </a:r>
            <a:br>
              <a:rPr lang="pt-BR" sz="1200"/>
            </a:br>
            <a:br>
              <a:rPr lang="pt-BR" sz="1200"/>
            </a:br>
            <a:r>
              <a:rPr lang="pt-BR" sz="1200"/>
              <a:t>O step definido nunca vai escolher um valor negativo, ele precisa ser definido fora da função `roots.proflik()` senão, se for negativo, vai sempre virar positivo por isso não tem perfil a esquerda.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10009" name=""/>
          <p:cNvSpPr/>
          <p:nvPr/>
        </p:nvSpPr>
        <p:spPr bwMode="auto">
          <a:xfrm flipH="0" flipV="0">
            <a:off x="258912" y="251564"/>
            <a:ext cx="4932686" cy="103667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/>
              <a:t>A solução que está sendo testada é simplesmente adaptar o passo de busca, adicionando um `jitter` de 1e-7 no passo, para que ele nunca teste um valor múltiplo do proprio parâmetro.</a:t>
            </a:r>
            <a:br>
              <a:rPr lang="pt-BR" sz="1200"/>
            </a:br>
            <a:br>
              <a:rPr sz="1400"/>
            </a:b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2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2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2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400"/>
          </a:p>
        </p:txBody>
      </p:sp>
      <p:pic>
        <p:nvPicPr>
          <p:cNvPr id="13712824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29098" y="1419752"/>
            <a:ext cx="4762498" cy="2933698"/>
          </a:xfrm>
          <a:prstGeom prst="rect">
            <a:avLst/>
          </a:prstGeom>
        </p:spPr>
      </p:pic>
      <p:pic>
        <p:nvPicPr>
          <p:cNvPr id="12341294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540373" y="611857"/>
            <a:ext cx="4762498" cy="2933698"/>
          </a:xfrm>
          <a:prstGeom prst="rect">
            <a:avLst/>
          </a:prstGeom>
        </p:spPr>
      </p:pic>
      <p:sp>
        <p:nvSpPr>
          <p:cNvPr id="242192752" name=""/>
          <p:cNvSpPr txBox="1"/>
          <p:nvPr/>
        </p:nvSpPr>
        <p:spPr bwMode="auto">
          <a:xfrm rot="0" flipH="0" flipV="0">
            <a:off x="5864878" y="251564"/>
            <a:ext cx="50349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pt-BR" sz="1200"/>
              <a:t>O step definido nunca vai escolher um valor negativo, ele precisa ser definido fora da função `roots.proflik()` senão, se for negativo, vai sempre virar positivo por isso não tem perfil a esquerda. </a:t>
            </a:r>
            <a:endParaRPr sz="1800"/>
          </a:p>
        </p:txBody>
      </p:sp>
      <p:sp>
        <p:nvSpPr>
          <p:cNvPr id="791985728" name=""/>
          <p:cNvSpPr txBox="1"/>
          <p:nvPr/>
        </p:nvSpPr>
        <p:spPr bwMode="auto">
          <a:xfrm rot="0" flipH="0" flipV="0">
            <a:off x="5864878" y="4033231"/>
            <a:ext cx="503567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 sz="1800"/>
          </a:p>
        </p:txBody>
      </p:sp>
      <p:sp>
        <p:nvSpPr>
          <p:cNvPr id="1865832091" name=""/>
          <p:cNvSpPr/>
          <p:nvPr/>
        </p:nvSpPr>
        <p:spPr bwMode="auto">
          <a:xfrm flipH="0" flipV="0">
            <a:off x="5864878" y="3567111"/>
            <a:ext cx="5126394" cy="808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 solução foi mover o mesmo ajuste do passo pra fora da função ciprof.par() e passar -step.par ou +step.par na função roots.proflik() a depender de qual lado se deseja procurar a raiz (esquerda ou direita)</a:t>
            </a:r>
            <a:endParaRPr sz="12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step.par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&lt;-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max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100" b="0" i="0" u="none">
                <a:solidFill>
                  <a:srgbClr val="7AA2F7"/>
                </a:solidFill>
                <a:latin typeface="RobotoMono Nerd Font"/>
                <a:ea typeface="RobotoMono Nerd Font"/>
                <a:cs typeface="RobotoMono Nerd Font"/>
              </a:rPr>
              <a:t>abs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(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*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par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[[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i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]])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,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C0CAF5"/>
                </a:solidFill>
                <a:latin typeface="RobotoMono Nerd Font"/>
                <a:ea typeface="RobotoMono Nerd Font"/>
                <a:cs typeface="RobotoMono Nerd Font"/>
              </a:rPr>
              <a:t>step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) </a:t>
            </a:r>
            <a:r>
              <a:rPr sz="1100" b="0" i="0" u="none">
                <a:solidFill>
                  <a:srgbClr val="89DDFF"/>
                </a:solidFill>
                <a:latin typeface="RobotoMono Nerd Font"/>
                <a:ea typeface="RobotoMono Nerd Font"/>
                <a:cs typeface="RobotoMono Nerd Font"/>
              </a:rPr>
              <a:t>+</a:t>
            </a:r>
            <a:r>
              <a:rPr sz="1100" b="0" i="0" u="none">
                <a:solidFill>
                  <a:srgbClr val="A9B1D6"/>
                </a:solidFill>
                <a:latin typeface="RobotoMono Nerd Font"/>
                <a:ea typeface="RobotoMono Nerd Font"/>
                <a:cs typeface="RobotoMono Nerd Font"/>
              </a:rPr>
              <a:t> </a:t>
            </a:r>
            <a:r>
              <a:rPr sz="1100" b="0" i="0" u="none">
                <a:solidFill>
                  <a:srgbClr val="FF9E64"/>
                </a:solidFill>
                <a:latin typeface="RobotoMono Nerd Font"/>
                <a:ea typeface="RobotoMono Nerd Font"/>
                <a:cs typeface="RobotoMono Nerd Font"/>
              </a:rPr>
              <a:t>1e-7</a:t>
            </a:r>
            <a:endParaRPr sz="1100" b="0" i="0" u="none">
              <a:solidFill>
                <a:srgbClr val="FF9E64"/>
              </a:solidFill>
              <a:latin typeface="RobotoMono Nerd Font"/>
              <a:ea typeface="RobotoMono Nerd Font"/>
              <a:cs typeface="RobotoMono Nerd Font"/>
            </a:endParaRPr>
          </a:p>
        </p:txBody>
      </p:sp>
      <p:pic>
        <p:nvPicPr>
          <p:cNvPr id="160074555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555232" y="4543279"/>
            <a:ext cx="3159476" cy="1954244"/>
          </a:xfrm>
          <a:prstGeom prst="rect">
            <a:avLst/>
          </a:prstGeom>
        </p:spPr>
      </p:pic>
      <p:pic>
        <p:nvPicPr>
          <p:cNvPr id="40070267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633558" y="4399351"/>
            <a:ext cx="3589035" cy="2219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377386" name=""/>
          <p:cNvSpPr/>
          <p:nvPr/>
        </p:nvSpPr>
        <p:spPr bwMode="auto">
          <a:xfrm flipH="0" flipV="0">
            <a:off x="258912" y="251564"/>
            <a:ext cx="5038166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Avaliar perfis `A801` com e sem priori:</a:t>
            </a:r>
            <a:endParaRPr sz="1100"/>
          </a:p>
        </p:txBody>
      </p:sp>
      <p:pic>
        <p:nvPicPr>
          <p:cNvPr id="6071743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8912" y="820176"/>
            <a:ext cx="4707685" cy="2905777"/>
          </a:xfrm>
          <a:prstGeom prst="rect">
            <a:avLst/>
          </a:prstGeom>
        </p:spPr>
      </p:pic>
      <p:sp>
        <p:nvSpPr>
          <p:cNvPr id="1778709649" name=""/>
          <p:cNvSpPr/>
          <p:nvPr/>
        </p:nvSpPr>
        <p:spPr bwMode="auto">
          <a:xfrm flipH="0" flipV="0">
            <a:off x="258912" y="511003"/>
            <a:ext cx="5042485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Sem priori:</a:t>
            </a:r>
            <a:endParaRPr sz="1100"/>
          </a:p>
        </p:txBody>
      </p:sp>
      <p:pic>
        <p:nvPicPr>
          <p:cNvPr id="20460440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8912" y="3909078"/>
            <a:ext cx="4707685" cy="2905778"/>
          </a:xfrm>
          <a:prstGeom prst="rect">
            <a:avLst/>
          </a:prstGeom>
        </p:spPr>
      </p:pic>
      <p:sp>
        <p:nvSpPr>
          <p:cNvPr id="1269726996" name=""/>
          <p:cNvSpPr/>
          <p:nvPr/>
        </p:nvSpPr>
        <p:spPr bwMode="auto">
          <a:xfrm flipH="0" flipV="0">
            <a:off x="258912" y="3649638"/>
            <a:ext cx="5044284" cy="259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pt-BR" sz="1100"/>
              <a:t>Com priori:</a:t>
            </a:r>
            <a:endParaRPr sz="1100"/>
          </a:p>
        </p:txBody>
      </p:sp>
      <p:pic>
        <p:nvPicPr>
          <p:cNvPr id="180660892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929779" y="796429"/>
            <a:ext cx="4664615" cy="2879193"/>
          </a:xfrm>
          <a:prstGeom prst="rect">
            <a:avLst/>
          </a:prstGeom>
        </p:spPr>
      </p:pic>
      <p:pic>
        <p:nvPicPr>
          <p:cNvPr id="30780371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929779" y="3683531"/>
            <a:ext cx="4664615" cy="2879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41914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5" y="122245"/>
            <a:ext cx="4429640" cy="307312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Correlação com covariáveis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12036937" name="PlaceHolder 1"/>
          <p:cNvSpPr>
            <a:spLocks noGrp="1"/>
          </p:cNvSpPr>
          <p:nvPr/>
        </p:nvSpPr>
        <p:spPr bwMode="auto">
          <a:xfrm flipH="0" flipV="0">
            <a:off x="119034" y="429556"/>
            <a:ext cx="1712214" cy="38286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cs typeface="Arial"/>
              </a:rPr>
              <a:t>Distância da costa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8519058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897" y="812426"/>
            <a:ext cx="2609102" cy="2609102"/>
          </a:xfrm>
          <a:prstGeom prst="rect">
            <a:avLst/>
          </a:prstGeom>
        </p:spPr>
      </p:pic>
      <p:pic>
        <p:nvPicPr>
          <p:cNvPr id="13886727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964278" y="9336"/>
            <a:ext cx="4437206" cy="2217037"/>
          </a:xfrm>
          <a:prstGeom prst="rect">
            <a:avLst/>
          </a:prstGeom>
        </p:spPr>
      </p:pic>
      <p:pic>
        <p:nvPicPr>
          <p:cNvPr id="22804810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401485" y="9336"/>
            <a:ext cx="4437206" cy="2217037"/>
          </a:xfrm>
          <a:prstGeom prst="rect">
            <a:avLst/>
          </a:prstGeom>
        </p:spPr>
      </p:pic>
      <p:pic>
        <p:nvPicPr>
          <p:cNvPr id="68866415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955438" y="2226373"/>
            <a:ext cx="4446046" cy="2221454"/>
          </a:xfrm>
          <a:prstGeom prst="rect">
            <a:avLst/>
          </a:prstGeom>
        </p:spPr>
      </p:pic>
      <p:pic>
        <p:nvPicPr>
          <p:cNvPr id="697125492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401485" y="2226373"/>
            <a:ext cx="4437206" cy="2217037"/>
          </a:xfrm>
          <a:prstGeom prst="rect">
            <a:avLst/>
          </a:prstGeom>
        </p:spPr>
      </p:pic>
      <p:pic>
        <p:nvPicPr>
          <p:cNvPr id="96773055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2955438" y="4443411"/>
            <a:ext cx="4446046" cy="2221454"/>
          </a:xfrm>
          <a:prstGeom prst="rect">
            <a:avLst/>
          </a:prstGeom>
        </p:spPr>
      </p:pic>
      <p:pic>
        <p:nvPicPr>
          <p:cNvPr id="1672529674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401485" y="4445620"/>
            <a:ext cx="4437206" cy="2217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86867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Correlação com covariáveis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33238112" name="PlaceHolder 1"/>
          <p:cNvSpPr>
            <a:spLocks noGrp="1"/>
          </p:cNvSpPr>
          <p:nvPr/>
        </p:nvSpPr>
        <p:spPr bwMode="auto">
          <a:xfrm flipH="0" flipV="0">
            <a:off x="119034" y="429555"/>
            <a:ext cx="1712214" cy="38286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cs typeface="Arial"/>
              </a:rPr>
              <a:t>Distância da costa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2086460461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7897" y="812425"/>
            <a:ext cx="2609101" cy="2609101"/>
          </a:xfrm>
          <a:prstGeom prst="rect">
            <a:avLst/>
          </a:prstGeom>
        </p:spPr>
      </p:pic>
      <p:pic>
        <p:nvPicPr>
          <p:cNvPr id="92449404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2964277" y="9335"/>
            <a:ext cx="4437205" cy="2217036"/>
          </a:xfrm>
          <a:prstGeom prst="rect">
            <a:avLst/>
          </a:prstGeom>
        </p:spPr>
      </p:pic>
      <p:pic>
        <p:nvPicPr>
          <p:cNvPr id="54768448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7401484" y="9335"/>
            <a:ext cx="4437205" cy="2217036"/>
          </a:xfrm>
          <a:prstGeom prst="rect">
            <a:avLst/>
          </a:prstGeom>
        </p:spPr>
      </p:pic>
      <p:pic>
        <p:nvPicPr>
          <p:cNvPr id="1875072503" name="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2955438" y="2226372"/>
            <a:ext cx="4446045" cy="2221453"/>
          </a:xfrm>
          <a:prstGeom prst="rect">
            <a:avLst/>
          </a:prstGeom>
        </p:spPr>
      </p:pic>
      <p:pic>
        <p:nvPicPr>
          <p:cNvPr id="617026142" name=""/>
          <p:cNvPicPr>
            <a:picLocks noChangeAspect="1"/>
          </p:cNvPicPr>
          <p:nvPr/>
        </p:nvPicPr>
        <p:blipFill rotWithShape="1">
          <a:blip r:embed="rId7"/>
        </p:blipFill>
        <p:spPr bwMode="auto">
          <a:xfrm flipH="0" flipV="0">
            <a:off x="7401484" y="2226372"/>
            <a:ext cx="4437205" cy="2217036"/>
          </a:xfrm>
          <a:prstGeom prst="rect">
            <a:avLst/>
          </a:prstGeom>
        </p:spPr>
      </p:pic>
      <p:pic>
        <p:nvPicPr>
          <p:cNvPr id="1200195133" name=""/>
          <p:cNvPicPr>
            <a:picLocks noChangeAspect="1"/>
          </p:cNvPicPr>
          <p:nvPr/>
        </p:nvPicPr>
        <p:blipFill rotWithShape="1">
          <a:blip r:embed="rId8"/>
        </p:blipFill>
        <p:spPr bwMode="auto">
          <a:xfrm flipH="0" flipV="0">
            <a:off x="2955438" y="4443410"/>
            <a:ext cx="4446045" cy="2221453"/>
          </a:xfrm>
          <a:prstGeom prst="rect">
            <a:avLst/>
          </a:prstGeom>
        </p:spPr>
      </p:pic>
      <p:pic>
        <p:nvPicPr>
          <p:cNvPr id="268577332" name=""/>
          <p:cNvPicPr>
            <a:picLocks noChangeAspect="1"/>
          </p:cNvPicPr>
          <p:nvPr/>
        </p:nvPicPr>
        <p:blipFill rotWithShape="1">
          <a:blip r:embed="rId9"/>
        </p:blipFill>
        <p:spPr bwMode="auto">
          <a:xfrm flipH="0" flipV="0">
            <a:off x="7401484" y="4445619"/>
            <a:ext cx="4437205" cy="2217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68539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9868" y="0"/>
            <a:ext cx="3405187" cy="3405187"/>
          </a:xfrm>
          <a:prstGeom prst="rect">
            <a:avLst/>
          </a:prstGeom>
        </p:spPr>
      </p:pic>
      <p:pic>
        <p:nvPicPr>
          <p:cNvPr id="10985802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248701" y="0"/>
            <a:ext cx="3405187" cy="3405187"/>
          </a:xfrm>
          <a:prstGeom prst="rect">
            <a:avLst/>
          </a:prstGeom>
        </p:spPr>
      </p:pic>
      <p:pic>
        <p:nvPicPr>
          <p:cNvPr id="1762895107" name="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 flipH="0" flipV="0">
            <a:off x="7837534" y="0"/>
            <a:ext cx="3405187" cy="3405187"/>
          </a:xfrm>
          <a:prstGeom prst="rect">
            <a:avLst/>
          </a:prstGeom>
        </p:spPr>
      </p:pic>
      <p:pic>
        <p:nvPicPr>
          <p:cNvPr id="334890727" name="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659868" y="3286125"/>
            <a:ext cx="3405187" cy="3405187"/>
          </a:xfrm>
          <a:prstGeom prst="rect">
            <a:avLst/>
          </a:prstGeom>
        </p:spPr>
      </p:pic>
      <p:pic>
        <p:nvPicPr>
          <p:cNvPr id="1121909335" name=""/>
          <p:cNvPicPr>
            <a:picLocks noChangeAspect="1"/>
          </p:cNvPicPr>
          <p:nvPr/>
        </p:nvPicPr>
        <p:blipFill rotWithShape="1">
          <a:blip r:embed="rId7"/>
        </p:blipFill>
        <p:spPr bwMode="auto">
          <a:xfrm flipH="0" flipV="0">
            <a:off x="4245055" y="3286125"/>
            <a:ext cx="3405187" cy="3405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03338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</a:t>
            </a:r>
            <a:r>
              <a:rPr sz="1200" b="1">
                <a:latin typeface="Arial"/>
                <a:cs typeface="Arial"/>
              </a:rPr>
              <a:t>ajustes por duração (forma)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689511558" name="PlaceHolder 1"/>
          <p:cNvSpPr>
            <a:spLocks noGrp="1"/>
          </p:cNvSpPr>
          <p:nvPr/>
        </p:nvSpPr>
        <p:spPr bwMode="auto">
          <a:xfrm flipH="0" flipV="0">
            <a:off x="119034" y="429556"/>
            <a:ext cx="5372423" cy="45970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L-momentos + IC bootstrap percentil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7912607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054736"/>
            <a:ext cx="6916051" cy="2468523"/>
          </a:xfrm>
          <a:prstGeom prst="rect">
            <a:avLst/>
          </a:prstGeom>
        </p:spPr>
      </p:pic>
      <p:pic>
        <p:nvPicPr>
          <p:cNvPr id="78798881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0" y="4070986"/>
            <a:ext cx="6946666" cy="2479451"/>
          </a:xfrm>
          <a:prstGeom prst="rect">
            <a:avLst/>
          </a:prstGeom>
        </p:spPr>
      </p:pic>
      <p:sp>
        <p:nvSpPr>
          <p:cNvPr id="970176059" name="PlaceHolder 1"/>
          <p:cNvSpPr>
            <a:spLocks noGrp="1"/>
          </p:cNvSpPr>
          <p:nvPr/>
        </p:nvSpPr>
        <p:spPr bwMode="auto">
          <a:xfrm flipH="0" flipV="0">
            <a:off x="119034" y="3611277"/>
            <a:ext cx="5372422" cy="45970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GMLE c/ Beta(0, 0.122²) + perfil verossimilhança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5923294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131874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30954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com as funções finalizadas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466717746" name="PlaceHolder 1"/>
          <p:cNvSpPr>
            <a:spLocks noGrp="1"/>
          </p:cNvSpPr>
          <p:nvPr/>
        </p:nvSpPr>
        <p:spPr bwMode="auto">
          <a:xfrm flipH="0" flipV="0">
            <a:off x="119034" y="581955"/>
            <a:ext cx="5232727" cy="30731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Resultados de `parname == “kappa”` (posteriormente seria bom plotar a mesma figura pra todos os parâmetros)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6571115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9034" y="1101911"/>
            <a:ext cx="5558970" cy="3174632"/>
          </a:xfrm>
          <a:prstGeom prst="rect">
            <a:avLst/>
          </a:prstGeom>
        </p:spPr>
      </p:pic>
      <p:pic>
        <p:nvPicPr>
          <p:cNvPr id="162711873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29914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08699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6311" y="0"/>
            <a:ext cx="4986436" cy="6858000"/>
          </a:xfrm>
          <a:prstGeom prst="rect">
            <a:avLst/>
          </a:prstGeom>
        </p:spPr>
      </p:pic>
      <p:pic>
        <p:nvPicPr>
          <p:cNvPr id="18877304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67176" y="0"/>
            <a:ext cx="49864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31213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6717" y="1590247"/>
            <a:ext cx="5601370" cy="3731611"/>
          </a:xfrm>
          <a:prstGeom prst="rect">
            <a:avLst/>
          </a:prstGeom>
        </p:spPr>
      </p:pic>
      <p:pic>
        <p:nvPicPr>
          <p:cNvPr id="201464004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20117" y="1595615"/>
            <a:ext cx="5624440" cy="3746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3484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4"/>
            <a:ext cx="4429639" cy="307311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Resultados com as funções finalizadas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975585501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440428" cy="91476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Análises das curvas Y, ou a(T) e comparações com as observações de y. Y_p foi gerado multiplicando as estimativas dos quantis I_d,p*(d + theta)^H</a:t>
            </a:r>
            <a:r>
              <a:rPr sz="1200" b="0">
                <a:latin typeface="Arial"/>
                <a:cs typeface="Arial"/>
              </a:rPr>
              <a:t>.</a:t>
            </a:r>
            <a:br>
              <a:rPr sz="1200" b="0">
                <a:latin typeface="Arial"/>
                <a:cs typeface="Arial"/>
              </a:rPr>
            </a:br>
            <a:r>
              <a:rPr sz="1200" b="0">
                <a:latin typeface="Arial"/>
                <a:cs typeface="Arial"/>
              </a:rPr>
              <a:t>Os pontos y_p foram gerados fazendo o mesmo, mas utilizando as frequência observadas com posições de plotagem de Weibull, multiplicando-as por (d + theta)^H: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15706603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8799" y="1600728"/>
            <a:ext cx="5440428" cy="3624392"/>
          </a:xfrm>
          <a:prstGeom prst="rect">
            <a:avLst/>
          </a:prstGeom>
        </p:spPr>
      </p:pic>
      <p:sp>
        <p:nvSpPr>
          <p:cNvPr id="541999560" name="PlaceHolder 1"/>
          <p:cNvSpPr>
            <a:spLocks noGrp="1"/>
          </p:cNvSpPr>
          <p:nvPr/>
        </p:nvSpPr>
        <p:spPr bwMode="auto">
          <a:xfrm rot="0" flipH="0" flipV="0">
            <a:off x="271199" y="5289300"/>
            <a:ext cx="5474268" cy="420984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 estação A805 possui maior valor de theta, isso significa a maior distância entre Y e I_d,p.</a:t>
            </a:r>
            <a:endParaRPr sz="1200" b="0">
              <a:latin typeface="Arial"/>
              <a:cs typeface="Arial"/>
            </a:endParaRPr>
          </a:p>
        </p:txBody>
      </p:sp>
      <p:sp>
        <p:nvSpPr>
          <p:cNvPr id="473502935" name="PlaceHolder 1"/>
          <p:cNvSpPr>
            <a:spLocks noGrp="1"/>
          </p:cNvSpPr>
          <p:nvPr/>
        </p:nvSpPr>
        <p:spPr bwMode="auto">
          <a:xfrm rot="0" flipH="0" flipV="0">
            <a:off x="6095998" y="374400"/>
            <a:ext cx="5556346" cy="750168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Interpretação</a:t>
            </a:r>
            <a:endParaRPr sz="1200" b="0"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200" b="0">
                <a:latin typeface="Arial"/>
                <a:ea typeface="Arial"/>
                <a:cs typeface="Arial"/>
              </a:rPr>
              <a:t>A avaliação destes postos pode indicar que, apesar da redução na incerteza observada com as curvas de frequência, tempos de retorno intermediários não são tão bem representados.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9793685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745467" y="1600728"/>
            <a:ext cx="5444398" cy="3627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22272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3"/>
            <a:ext cx="4429638" cy="30731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diários</a:t>
            </a:r>
            <a:endParaRPr sz="1200" b="1">
              <a:latin typeface="Arial"/>
              <a:cs typeface="Arial"/>
            </a:endParaRPr>
          </a:p>
        </p:txBody>
      </p:sp>
      <p:sp>
        <p:nvSpPr>
          <p:cNvPr id="1279223221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539787" cy="750168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Comparação das estimativas de kappa com L-momentos ao longo de diferentes faixas de duração;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As faixas foram determinadas para conter aproximadamente o mesmo número de postos pluviométricos;</a:t>
            </a:r>
            <a:endParaRPr sz="1200" b="0">
              <a:latin typeface="Arial"/>
              <a:cs typeface="Arial"/>
            </a:endParaRPr>
          </a:p>
        </p:txBody>
      </p:sp>
      <p:pic>
        <p:nvPicPr>
          <p:cNvPr id="542153047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91617" y="1178209"/>
            <a:ext cx="4682548" cy="2674122"/>
          </a:xfrm>
          <a:prstGeom prst="rect">
            <a:avLst/>
          </a:prstGeom>
        </p:spPr>
      </p:pic>
      <p:sp>
        <p:nvSpPr>
          <p:cNvPr id="2032775138" name="PlaceHolder 1"/>
          <p:cNvSpPr>
            <a:spLocks noGrp="1"/>
          </p:cNvSpPr>
          <p:nvPr/>
        </p:nvSpPr>
        <p:spPr bwMode="auto">
          <a:xfrm rot="0" flipH="0" flipV="0">
            <a:off x="298800" y="3962233"/>
            <a:ext cx="5806907" cy="173772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Séries mais curtas apresentam mediana pouco acima de kappa = 0;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[39,44) grande variabilidade e mediana salta para caudas ainda mais leves;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A partir [44,55) há uma tendência de redução, até que o último grupo [64,105] já apre</a:t>
            </a:r>
            <a:r>
              <a:rPr sz="1200" b="0">
                <a:latin typeface="Arial"/>
                <a:ea typeface="Arial"/>
                <a:cs typeface="Arial"/>
              </a:rPr>
              <a:t>senta mediana negativa e a menor variabilidade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Espacialmente, onde estão estas estações? Pode haver algum comportamento regional mascarando este comportamento?</a:t>
            </a:r>
            <a:br>
              <a:rPr sz="1200" b="0">
                <a:latin typeface="Arial"/>
                <a:ea typeface="Arial"/>
                <a:cs typeface="Arial"/>
              </a:rPr>
            </a:br>
            <a:r>
              <a:rPr sz="1200" b="0">
                <a:highlight>
                  <a:srgbClr val="FFFF00"/>
                </a:highlight>
                <a:latin typeface="Arial"/>
                <a:ea typeface="Arial"/>
                <a:cs typeface="Arial"/>
              </a:rPr>
              <a:t>As estações com séries longas aparentam estar bem distribuídas</a:t>
            </a:r>
            <a:r>
              <a:rPr sz="1200" b="0">
                <a:latin typeface="Arial"/>
                <a:ea typeface="Arial"/>
                <a:cs typeface="Arial"/>
              </a:rPr>
              <a:t> na região e não concentradas em um único local, o que poderia enviesar a avaliação dos boxplots</a:t>
            </a:r>
            <a:endParaRPr sz="1200" b="0">
              <a:latin typeface="Arial"/>
              <a:ea typeface="Arial"/>
              <a:cs typeface="Arial"/>
            </a:endParaRPr>
          </a:p>
        </p:txBody>
      </p:sp>
      <p:pic>
        <p:nvPicPr>
          <p:cNvPr id="923588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18587" y="480316"/>
            <a:ext cx="6007266" cy="6007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7453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19034" y="122243"/>
            <a:ext cx="4429638" cy="30731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/>
            </a:pPr>
            <a:r>
              <a:rPr sz="1200" b="1">
                <a:latin typeface="Arial"/>
                <a:ea typeface="Arial"/>
                <a:cs typeface="Arial"/>
              </a:rPr>
              <a:t>Avaliações com dados </a:t>
            </a:r>
            <a:r>
              <a:rPr sz="1200" b="1">
                <a:highlight>
                  <a:srgbClr val="FFFF00"/>
                </a:highlight>
                <a:latin typeface="Arial"/>
                <a:ea typeface="Arial"/>
                <a:cs typeface="Arial"/>
              </a:rPr>
              <a:t>diários</a:t>
            </a:r>
            <a:r>
              <a:rPr sz="1200" b="0">
                <a:latin typeface="Arial"/>
                <a:cs typeface="Arial"/>
              </a:rPr>
              <a:t>: viés</a:t>
            </a:r>
            <a:endParaRPr sz="1200" b="0">
              <a:latin typeface="Arial"/>
              <a:cs typeface="Arial"/>
            </a:endParaRPr>
          </a:p>
        </p:txBody>
      </p:sp>
      <p:sp>
        <p:nvSpPr>
          <p:cNvPr id="159991415" name="PlaceHolder 1"/>
          <p:cNvSpPr>
            <a:spLocks noGrp="1"/>
          </p:cNvSpPr>
          <p:nvPr/>
        </p:nvSpPr>
        <p:spPr bwMode="auto">
          <a:xfrm rot="0" flipH="0" flipV="0">
            <a:off x="118800" y="374400"/>
            <a:ext cx="5794304" cy="206690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Escolher séries longas (N &gt; n anos) e simular amostras menores;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Patel (2026): N &gt; 50 p/ estimativas não enviesadas de kappa;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Papalexiou (2013): N &gt;= 80 anos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O único padrão perceptível é o de redução na variabilidade com subamostras maiores;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Em muitos casos a mediana representa bem a estimativa original de kappa;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Existem tendências de kappas mais pesados com séries mais longas, mas também kappas mais leves, no geral, todos muito próximos de 0;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endParaRPr sz="1200" b="0">
              <a:latin typeface="Arial"/>
              <a:ea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ea typeface="Arial"/>
                <a:cs typeface="Arial"/>
              </a:rPr>
              <a:t>E se juntar todas as simulações no mesmo bolo?</a:t>
            </a:r>
            <a:endParaRPr sz="1200" b="0"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endParaRPr sz="1200" b="0">
              <a:latin typeface="Arial"/>
              <a:cs typeface="Arial"/>
            </a:endParaRPr>
          </a:p>
        </p:txBody>
      </p:sp>
      <p:pic>
        <p:nvPicPr>
          <p:cNvPr id="4999547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47530" y="0"/>
            <a:ext cx="4799438" cy="6858000"/>
          </a:xfrm>
          <a:prstGeom prst="rect">
            <a:avLst/>
          </a:prstGeom>
        </p:spPr>
      </p:pic>
      <p:pic>
        <p:nvPicPr>
          <p:cNvPr id="7393455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8799" y="2282553"/>
            <a:ext cx="4803533" cy="2743215"/>
          </a:xfrm>
          <a:prstGeom prst="rect">
            <a:avLst/>
          </a:prstGeom>
        </p:spPr>
      </p:pic>
      <p:sp>
        <p:nvSpPr>
          <p:cNvPr id="1627181659" name="PlaceHolder 1"/>
          <p:cNvSpPr>
            <a:spLocks noGrp="1"/>
          </p:cNvSpPr>
          <p:nvPr/>
        </p:nvSpPr>
        <p:spPr bwMode="auto">
          <a:xfrm rot="0" flipH="0" flipV="0">
            <a:off x="119034" y="5094649"/>
            <a:ext cx="5931105" cy="91476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t-BR" sz="100" b="1" u="none" strike="noStrik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Agrupar as estações mostra a mesma tendência de diminuição de variabilidade, mas não de kappas mais negativos;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É importante notar que há somente 3 estações no grupo que atendem a N &gt; 90;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Observa-se uma pequena elevação nas caixas principais dos boxplots;</a:t>
            </a:r>
            <a:endParaRPr sz="1200" b="0">
              <a:latin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1200" b="0">
                <a:latin typeface="Arial"/>
                <a:cs typeface="Arial"/>
              </a:rPr>
              <a:t>A mediana das estimativas de kappa original é igual a </a:t>
            </a:r>
            <a:r>
              <a:rPr lang="pt-BR" sz="12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-0.02758928</a:t>
            </a:r>
            <a:endParaRPr sz="1200" b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pt-BR</dc:language>
  <cp:lastModifiedBy/>
  <cp:revision>22</cp:revision>
  <dcterms:created xsi:type="dcterms:W3CDTF">2012-12-03T06:56:55Z</dcterms:created>
  <dcterms:modified xsi:type="dcterms:W3CDTF">2026-07-25T21:40:27Z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4</vt:i4>
  </property>
  <property fmtid="{D5CDD505-2E9C-101B-9397-08002B2CF9AE}" pid="4" name="PresentationFormat">
    <vt:lpwstr>On-screen Show (4:3)</vt:lpwstr>
  </property>
  <property fmtid="{D5CDD505-2E9C-101B-9397-08002B2CF9AE}" pid="5" name="Slides">
    <vt:i4>4</vt:i4>
  </property>
</Properties>
</file>